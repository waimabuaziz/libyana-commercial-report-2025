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9" r:id="rId3"/>
    <p:sldId id="257" r:id="rId4"/>
    <p:sldId id="258" r:id="rId5"/>
  </p:sldIdLst>
  <p:sldSz cx="12192000" cy="6858000"/>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08"/>
  </p:normalViewPr>
  <p:slideViewPr>
    <p:cSldViewPr snapToGrid="0">
      <p:cViewPr>
        <p:scale>
          <a:sx n="149" d="100"/>
          <a:sy n="149" d="100"/>
        </p:scale>
        <p:origin x="96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tags" Target="tags/tag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6C724-7A47-409C-B0FB-2E6E925A0723}" type="datetimeFigureOut">
              <a:rPr lang="en-US" smtClean="0"/>
              <a:t>1/13/26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74BA4D-CBBC-4E29-9746-60B19E073FD3}" type="slidenum">
              <a:rPr lang="en-US" smtClean="0"/>
              <a:t>‹#›</a:t>
            </a:fld>
            <a:endParaRPr lang="en-US"/>
          </a:p>
        </p:txBody>
      </p:sp>
    </p:spTree>
    <p:extLst>
      <p:ext uri="{BB962C8B-B14F-4D97-AF65-F5344CB8AC3E}">
        <p14:creationId xmlns:p14="http://schemas.microsoft.com/office/powerpoint/2010/main" val="172079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74BA4D-CBBC-4E29-9746-60B19E073FD3}" type="slidenum">
              <a:rPr lang="en-US" smtClean="0"/>
              <a:t>1</a:t>
            </a:fld>
            <a:endParaRPr lang="en-US"/>
          </a:p>
        </p:txBody>
      </p:sp>
    </p:spTree>
    <p:extLst>
      <p:ext uri="{BB962C8B-B14F-4D97-AF65-F5344CB8AC3E}">
        <p14:creationId xmlns:p14="http://schemas.microsoft.com/office/powerpoint/2010/main" val="1270496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74BA4D-CBBC-4E29-9746-60B19E073FD3}" type="slidenum">
              <a:rPr lang="en-US" smtClean="0"/>
              <a:t>2</a:t>
            </a:fld>
            <a:endParaRPr lang="en-US"/>
          </a:p>
        </p:txBody>
      </p:sp>
    </p:spTree>
    <p:extLst>
      <p:ext uri="{BB962C8B-B14F-4D97-AF65-F5344CB8AC3E}">
        <p14:creationId xmlns:p14="http://schemas.microsoft.com/office/powerpoint/2010/main" val="181461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74BA4D-CBBC-4E29-9746-60B19E073FD3}" type="slidenum">
              <a:rPr lang="en-US" smtClean="0"/>
              <a:t>3</a:t>
            </a:fld>
            <a:endParaRPr lang="en-US"/>
          </a:p>
        </p:txBody>
      </p:sp>
    </p:spTree>
    <p:extLst>
      <p:ext uri="{BB962C8B-B14F-4D97-AF65-F5344CB8AC3E}">
        <p14:creationId xmlns:p14="http://schemas.microsoft.com/office/powerpoint/2010/main" val="358828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EDC7-90D7-062D-B5A9-F67B2F0C99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795A9F-3BB4-63BB-0D45-7C7F7662B8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2D929C-1CB2-0845-709A-7A064B2431B6}"/>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5" name="Footer Placeholder 4">
            <a:extLst>
              <a:ext uri="{FF2B5EF4-FFF2-40B4-BE49-F238E27FC236}">
                <a16:creationId xmlns:a16="http://schemas.microsoft.com/office/drawing/2014/main" id="{C7739BB1-A033-112B-A2B3-87D7FBE486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4E099-4110-F682-01D8-60871D06DA27}"/>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25753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2356-C5A6-6D13-D107-2B644740A9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09D163-4562-279B-1ADA-7F98C04BBC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B38BA-94FE-FA34-EF7A-188D7B69E7B8}"/>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5" name="Footer Placeholder 4">
            <a:extLst>
              <a:ext uri="{FF2B5EF4-FFF2-40B4-BE49-F238E27FC236}">
                <a16:creationId xmlns:a16="http://schemas.microsoft.com/office/drawing/2014/main" id="{066B474E-D722-F5FE-733D-5951E648E2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046CB-6FAA-D2E7-900C-AF03FE41FE44}"/>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1853199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ED296-9FA3-FDDF-A9D8-EA7C30F23C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8CA3D-A9BD-100C-EC62-1019E3B3D8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C4F34-78E6-3FDF-BF41-1970D437A977}"/>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5" name="Footer Placeholder 4">
            <a:extLst>
              <a:ext uri="{FF2B5EF4-FFF2-40B4-BE49-F238E27FC236}">
                <a16:creationId xmlns:a16="http://schemas.microsoft.com/office/drawing/2014/main" id="{AB804E35-9CE6-4018-16C0-9218D6A224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A121F7-CA57-0131-6EE2-D4B863CF4EFB}"/>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45719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97A9C-438A-FD04-113B-1AA3A910E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48AF1E-6053-F93D-7108-EE1549D29D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3EF92B-0D96-B093-2C52-672662EC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FE2E1E-8782-00A9-569E-36F31E06EEC0}"/>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6" name="Footer Placeholder 5">
            <a:extLst>
              <a:ext uri="{FF2B5EF4-FFF2-40B4-BE49-F238E27FC236}">
                <a16:creationId xmlns:a16="http://schemas.microsoft.com/office/drawing/2014/main" id="{7D79E297-B227-6DB3-7F0B-A50C16AA5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17B0F3-9FCF-6B26-B875-830FFE8838CE}"/>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3761686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268BB-1783-E9A5-2C53-7A5C3CB12E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7092F-089E-1CA5-882A-4B92DAAF26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2C8D01-9C42-AB71-F2F9-D896572FA0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534D39-677D-B36C-F3B1-6CD84BCEF9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3B4530-51D3-E286-9F3F-0D759C857F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0E5D5C-6A13-30F9-BD69-A5D5C6D08D03}"/>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8" name="Footer Placeholder 7">
            <a:extLst>
              <a:ext uri="{FF2B5EF4-FFF2-40B4-BE49-F238E27FC236}">
                <a16:creationId xmlns:a16="http://schemas.microsoft.com/office/drawing/2014/main" id="{AD399730-4A89-C407-78FC-7363A80C0F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55AFF7-15E8-15AC-0AFA-DC9D81A78381}"/>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3551216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A61E0-E004-119F-25C8-3F1A0D072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A92DD3-D57E-BEFC-9645-968C804C7DD6}"/>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4" name="Footer Placeholder 3">
            <a:extLst>
              <a:ext uri="{FF2B5EF4-FFF2-40B4-BE49-F238E27FC236}">
                <a16:creationId xmlns:a16="http://schemas.microsoft.com/office/drawing/2014/main" id="{4E8F90CA-BB9C-DED4-BA9A-7DF1E2375D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1445CE-0494-DCAE-D7F2-FD0482ABFDBC}"/>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2999260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119DFE-F972-51D3-3912-391C7EE03AAF}"/>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3" name="Footer Placeholder 2">
            <a:extLst>
              <a:ext uri="{FF2B5EF4-FFF2-40B4-BE49-F238E27FC236}">
                <a16:creationId xmlns:a16="http://schemas.microsoft.com/office/drawing/2014/main" id="{CEE7CB8B-5BEC-B61E-8F19-1BEFB42221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AC46EE-0ACD-AD6E-E55A-F5F894765145}"/>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3835674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3A2A-1931-C974-A280-1741415C51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611B14-8158-11BC-5768-BA218B8B6C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AE1B9C-B3BE-F382-84B6-A59C0DE02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FA3BD1-88D1-6817-AD8D-574A5A56D14B}"/>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6" name="Footer Placeholder 5">
            <a:extLst>
              <a:ext uri="{FF2B5EF4-FFF2-40B4-BE49-F238E27FC236}">
                <a16:creationId xmlns:a16="http://schemas.microsoft.com/office/drawing/2014/main" id="{1AA1C69A-F08B-A09E-52CA-17CBD703E1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F15D89-6961-840F-016A-3E6F5353BED7}"/>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1792870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25B55-C055-F2CE-9B92-E04F2B43E4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88753F-4DEA-DA15-FC0A-65A5A685BF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E7FF8F-3DC4-2631-66C9-AFF6BE26DF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E79CA0-20B5-EBBE-1AC5-1F00C6477EFC}"/>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6" name="Footer Placeholder 5">
            <a:extLst>
              <a:ext uri="{FF2B5EF4-FFF2-40B4-BE49-F238E27FC236}">
                <a16:creationId xmlns:a16="http://schemas.microsoft.com/office/drawing/2014/main" id="{EAFF0A92-77CB-468E-1CCB-71252AB7BF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2A3C49-8612-2810-EA85-9BC1EE3FBEF6}"/>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267721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A427C-6A9F-54A8-FC4D-EDDEE4E5FD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037BBC-FDD8-A36D-EB80-CC69F53657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0AB4AE-BBC9-6C4C-0C78-B5934B6F76E8}"/>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5" name="Footer Placeholder 4">
            <a:extLst>
              <a:ext uri="{FF2B5EF4-FFF2-40B4-BE49-F238E27FC236}">
                <a16:creationId xmlns:a16="http://schemas.microsoft.com/office/drawing/2014/main" id="{CC7D14EE-1DE1-FC3A-DCFB-7A9254FB6F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B215E8-6399-6C8D-EED2-54A3C4325969}"/>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2222489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55040-72B5-DDF5-CF54-9D8410E85D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F6A2F5-5821-D49A-35CF-114E120DDE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6DBAEF-8BC7-7C3E-726A-4D1AFD705F04}"/>
              </a:ext>
            </a:extLst>
          </p:cNvPr>
          <p:cNvSpPr>
            <a:spLocks noGrp="1"/>
          </p:cNvSpPr>
          <p:nvPr>
            <p:ph type="dt" sz="half" idx="10"/>
          </p:nvPr>
        </p:nvSpPr>
        <p:spPr/>
        <p:txBody>
          <a:bodyPr/>
          <a:lstStyle/>
          <a:p>
            <a:fld id="{0C282F72-6687-4B90-BA9C-D246116DB00F}" type="datetimeFigureOut">
              <a:rPr lang="en-US" smtClean="0"/>
              <a:t>1/13/26</a:t>
            </a:fld>
            <a:endParaRPr lang="en-US"/>
          </a:p>
        </p:txBody>
      </p:sp>
      <p:sp>
        <p:nvSpPr>
          <p:cNvPr id="5" name="Footer Placeholder 4">
            <a:extLst>
              <a:ext uri="{FF2B5EF4-FFF2-40B4-BE49-F238E27FC236}">
                <a16:creationId xmlns:a16="http://schemas.microsoft.com/office/drawing/2014/main" id="{342BD965-3A94-89C4-0E3B-29838FE93B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FDDFC-E903-CAC8-824A-B9963C1538CB}"/>
              </a:ext>
            </a:extLst>
          </p:cNvPr>
          <p:cNvSpPr>
            <a:spLocks noGrp="1"/>
          </p:cNvSpPr>
          <p:nvPr>
            <p:ph type="sldNum" sz="quarter" idx="12"/>
          </p:nvPr>
        </p:nvSpPr>
        <p:spPr/>
        <p:txBody>
          <a:bodyPr/>
          <a:lstStyle/>
          <a:p>
            <a:fld id="{1561AFE3-2C34-4A79-A0EB-3BCC03182575}" type="slidenum">
              <a:rPr lang="en-US" smtClean="0"/>
              <a:t>‹#›</a:t>
            </a:fld>
            <a:endParaRPr lang="en-US"/>
          </a:p>
        </p:txBody>
      </p:sp>
    </p:spTree>
    <p:extLst>
      <p:ext uri="{BB962C8B-B14F-4D97-AF65-F5344CB8AC3E}">
        <p14:creationId xmlns:p14="http://schemas.microsoft.com/office/powerpoint/2010/main" val="2858263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Master Slide">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1482802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55333-E4B8-EC24-A445-B4730D312B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6E7A1B-BF78-6EED-6B1D-E7F2CE2261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A0FE2C-6DC1-9716-BFB8-53B88775FB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282F72-6687-4B90-BA9C-D246116DB00F}" type="datetimeFigureOut">
              <a:rPr lang="en-US" smtClean="0"/>
              <a:t>1/13/26</a:t>
            </a:fld>
            <a:endParaRPr lang="en-US"/>
          </a:p>
        </p:txBody>
      </p:sp>
      <p:sp>
        <p:nvSpPr>
          <p:cNvPr id="5" name="Footer Placeholder 4">
            <a:extLst>
              <a:ext uri="{FF2B5EF4-FFF2-40B4-BE49-F238E27FC236}">
                <a16:creationId xmlns:a16="http://schemas.microsoft.com/office/drawing/2014/main" id="{B64ADE70-0793-9FD0-E88F-5BF6E70BB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396E89-ECA8-9D85-76FE-6F4F1CB7EA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61AFE3-2C34-4A79-A0EB-3BCC03182575}" type="slidenum">
              <a:rPr lang="en-US" smtClean="0"/>
              <a:t>‹#›</a:t>
            </a:fld>
            <a:endParaRPr lang="en-US"/>
          </a:p>
        </p:txBody>
      </p:sp>
    </p:spTree>
    <p:extLst>
      <p:ext uri="{BB962C8B-B14F-4D97-AF65-F5344CB8AC3E}">
        <p14:creationId xmlns:p14="http://schemas.microsoft.com/office/powerpoint/2010/main" val="407459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id="{9F6CBDA7-CA79-B1B6-C51A-762B041B0881}"/>
              </a:ext>
            </a:extLst>
          </p:cNvPr>
          <p:cNvSpPr/>
          <p:nvPr/>
        </p:nvSpPr>
        <p:spPr>
          <a:xfrm rot="10800000">
            <a:off x="304799" y="1284588"/>
            <a:ext cx="8655748" cy="2199116"/>
          </a:xfrm>
          <a:prstGeom prst="homePlate">
            <a:avLst>
              <a:gd name="adj" fmla="val 1934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24" name="Arrow: Pentagon 23">
            <a:extLst>
              <a:ext uri="{FF2B5EF4-FFF2-40B4-BE49-F238E27FC236}">
                <a16:creationId xmlns:a16="http://schemas.microsoft.com/office/drawing/2014/main" id="{19C72DBE-3A0C-E92E-C601-37A2EBA98081}"/>
              </a:ext>
            </a:extLst>
          </p:cNvPr>
          <p:cNvSpPr/>
          <p:nvPr/>
        </p:nvSpPr>
        <p:spPr>
          <a:xfrm rot="10800000">
            <a:off x="9069947" y="1284586"/>
            <a:ext cx="2904354" cy="4511027"/>
          </a:xfrm>
          <a:prstGeom prst="homePlate">
            <a:avLst>
              <a:gd name="adj" fmla="val 1934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grpSp>
        <p:nvGrpSpPr>
          <p:cNvPr id="8" name="Group 7">
            <a:extLst>
              <a:ext uri="{FF2B5EF4-FFF2-40B4-BE49-F238E27FC236}">
                <a16:creationId xmlns:a16="http://schemas.microsoft.com/office/drawing/2014/main" id="{7D5063F8-E54E-9ECD-99FE-9229255845C2}"/>
              </a:ext>
            </a:extLst>
          </p:cNvPr>
          <p:cNvGrpSpPr/>
          <p:nvPr/>
        </p:nvGrpSpPr>
        <p:grpSpPr>
          <a:xfrm>
            <a:off x="9728743" y="2978052"/>
            <a:ext cx="2073649" cy="1339433"/>
            <a:chOff x="119401" y="2389005"/>
            <a:chExt cx="1027751" cy="1266864"/>
          </a:xfrm>
        </p:grpSpPr>
        <p:grpSp>
          <p:nvGrpSpPr>
            <p:cNvPr id="9" name="Group 8">
              <a:extLst>
                <a:ext uri="{FF2B5EF4-FFF2-40B4-BE49-F238E27FC236}">
                  <a16:creationId xmlns:a16="http://schemas.microsoft.com/office/drawing/2014/main" id="{898EE132-CDB6-8055-642F-54315F281DEE}"/>
                </a:ext>
              </a:extLst>
            </p:cNvPr>
            <p:cNvGrpSpPr/>
            <p:nvPr/>
          </p:nvGrpSpPr>
          <p:grpSpPr>
            <a:xfrm>
              <a:off x="119401" y="2389005"/>
              <a:ext cx="1027751" cy="1266864"/>
              <a:chOff x="104828" y="2334405"/>
              <a:chExt cx="1027751" cy="1455800"/>
            </a:xfrm>
          </p:grpSpPr>
          <p:sp>
            <p:nvSpPr>
              <p:cNvPr id="13" name="Rounded Rectangle 103">
                <a:extLst>
                  <a:ext uri="{FF2B5EF4-FFF2-40B4-BE49-F238E27FC236}">
                    <a16:creationId xmlns:a16="http://schemas.microsoft.com/office/drawing/2014/main" id="{75640BDF-DCDE-7045-8564-B6653F1B4C18}"/>
                  </a:ext>
                </a:extLst>
              </p:cNvPr>
              <p:cNvSpPr/>
              <p:nvPr/>
            </p:nvSpPr>
            <p:spPr>
              <a:xfrm>
                <a:off x="104828" y="2334405"/>
                <a:ext cx="1003090" cy="1455800"/>
              </a:xfrm>
              <a:prstGeom prst="roundRect">
                <a:avLst/>
              </a:prstGeom>
              <a:solidFill>
                <a:srgbClr val="50BEC6"/>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14" name="Rounded Rectangle 104">
                <a:extLst>
                  <a:ext uri="{FF2B5EF4-FFF2-40B4-BE49-F238E27FC236}">
                    <a16:creationId xmlns:a16="http://schemas.microsoft.com/office/drawing/2014/main" id="{E0771342-CFF4-3BFF-A025-22BC4E0E0BBD}"/>
                  </a:ext>
                </a:extLst>
              </p:cNvPr>
              <p:cNvSpPr/>
              <p:nvPr/>
            </p:nvSpPr>
            <p:spPr>
              <a:xfrm>
                <a:off x="129493" y="2361147"/>
                <a:ext cx="1003086" cy="372064"/>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grpSp>
        <p:grpSp>
          <p:nvGrpSpPr>
            <p:cNvPr id="10" name="Group 9">
              <a:extLst>
                <a:ext uri="{FF2B5EF4-FFF2-40B4-BE49-F238E27FC236}">
                  <a16:creationId xmlns:a16="http://schemas.microsoft.com/office/drawing/2014/main" id="{ED15F943-5372-6D72-4580-A09B95D6CF7C}"/>
                </a:ext>
              </a:extLst>
            </p:cNvPr>
            <p:cNvGrpSpPr/>
            <p:nvPr/>
          </p:nvGrpSpPr>
          <p:grpSpPr>
            <a:xfrm>
              <a:off x="137116" y="2466777"/>
              <a:ext cx="967961" cy="1049578"/>
              <a:chOff x="137116" y="2466777"/>
              <a:chExt cx="967961" cy="1049578"/>
            </a:xfrm>
          </p:grpSpPr>
          <p:sp>
            <p:nvSpPr>
              <p:cNvPr id="11" name="TextBox 10">
                <a:extLst>
                  <a:ext uri="{FF2B5EF4-FFF2-40B4-BE49-F238E27FC236}">
                    <a16:creationId xmlns:a16="http://schemas.microsoft.com/office/drawing/2014/main" id="{AA57A935-2317-392C-645E-FBD6051920D9}"/>
                  </a:ext>
                </a:extLst>
              </p:cNvPr>
              <p:cNvSpPr txBox="1"/>
              <p:nvPr/>
            </p:nvSpPr>
            <p:spPr>
              <a:xfrm>
                <a:off x="191007" y="2788601"/>
                <a:ext cx="895007" cy="727754"/>
              </a:xfrm>
              <a:prstGeom prst="rect">
                <a:avLst/>
              </a:prstGeom>
              <a:noFill/>
            </p:spPr>
            <p:txBody>
              <a:bodyPr wrap="square" rtlCol="0">
                <a:spAutoFit/>
              </a:bodyPr>
              <a:lstStyle/>
              <a:p>
                <a:pPr algn="ctr"/>
                <a:r>
                  <a:rPr lang="ar-LY" sz="1100" dirty="0">
                    <a:solidFill>
                      <a:schemeClr val="bg1"/>
                    </a:solidFill>
                    <a:latin typeface="Tajawal Light" panose="00000400000000000000" pitchFamily="2" charset="-78"/>
                    <a:cs typeface="Tajawal Light" panose="00000400000000000000" pitchFamily="2" charset="-78"/>
                  </a:rPr>
                  <a:t>وضع المتطلبات والتفاوض مع المزودين</a:t>
                </a:r>
              </a:p>
              <a:p>
                <a:pPr algn="ctr"/>
                <a:r>
                  <a:rPr lang="ar-LY" sz="1100" dirty="0">
                    <a:solidFill>
                      <a:schemeClr val="bg1"/>
                    </a:solidFill>
                    <a:latin typeface="Tajawal Light" panose="00000400000000000000" pitchFamily="2" charset="-78"/>
                    <a:cs typeface="Tajawal Light" panose="00000400000000000000" pitchFamily="2" charset="-78"/>
                  </a:rPr>
                  <a:t>تصميم الخدمات الرقمية</a:t>
                </a:r>
              </a:p>
              <a:p>
                <a:pPr algn="ctr"/>
                <a:r>
                  <a:rPr lang="ar-LY" sz="1100" dirty="0">
                    <a:solidFill>
                      <a:schemeClr val="bg1"/>
                    </a:solidFill>
                    <a:latin typeface="Tajawal Light" panose="00000400000000000000" pitchFamily="2" charset="-78"/>
                    <a:cs typeface="Tajawal Light" panose="00000400000000000000" pitchFamily="2" charset="-78"/>
                  </a:rPr>
                  <a:t>بناء شراكات استراتيجية</a:t>
                </a:r>
                <a:endParaRPr lang="en-US" sz="1100" dirty="0">
                  <a:solidFill>
                    <a:schemeClr val="bg1"/>
                  </a:solidFill>
                  <a:latin typeface="Tajawal Light" panose="00000400000000000000" pitchFamily="2" charset="-78"/>
                  <a:cs typeface="Tajawal Light" panose="00000400000000000000" pitchFamily="2" charset="-78"/>
                </a:endParaRPr>
              </a:p>
            </p:txBody>
          </p:sp>
          <p:sp>
            <p:nvSpPr>
              <p:cNvPr id="12" name="TextBox 11">
                <a:extLst>
                  <a:ext uri="{FF2B5EF4-FFF2-40B4-BE49-F238E27FC236}">
                    <a16:creationId xmlns:a16="http://schemas.microsoft.com/office/drawing/2014/main" id="{EAC86999-EBC9-44EC-19E2-FB5E884802F6}"/>
                  </a:ext>
                </a:extLst>
              </p:cNvPr>
              <p:cNvSpPr txBox="1"/>
              <p:nvPr/>
            </p:nvSpPr>
            <p:spPr>
              <a:xfrm>
                <a:off x="137116" y="2466777"/>
                <a:ext cx="967961" cy="249964"/>
              </a:xfrm>
              <a:prstGeom prst="rect">
                <a:avLst/>
              </a:prstGeom>
              <a:noFill/>
            </p:spPr>
            <p:txBody>
              <a:bodyPr wrap="square" rtlCol="0">
                <a:spAutoFit/>
              </a:bodyPr>
              <a:lstStyle/>
              <a:p>
                <a:pPr algn="ctr"/>
                <a:r>
                  <a:rPr lang="ar-LY" sz="1400" b="1" dirty="0">
                    <a:solidFill>
                      <a:schemeClr val="bg1"/>
                    </a:solidFill>
                    <a:latin typeface="Tajawal Light" panose="00000400000000000000" pitchFamily="2" charset="-78"/>
                    <a:cs typeface="Tajawal Light" panose="00000400000000000000" pitchFamily="2" charset="-78"/>
                  </a:rPr>
                  <a:t>بناء القدرات التقنية</a:t>
                </a:r>
                <a:endParaRPr lang="en-US" sz="1400" b="1" dirty="0">
                  <a:solidFill>
                    <a:schemeClr val="bg1"/>
                  </a:solidFill>
                  <a:latin typeface="Tajawal Light" panose="00000400000000000000" pitchFamily="2" charset="-78"/>
                  <a:cs typeface="Tajawal Light" panose="00000400000000000000" pitchFamily="2" charset="-78"/>
                </a:endParaRPr>
              </a:p>
            </p:txBody>
          </p:sp>
        </p:grpSp>
      </p:grpSp>
      <p:sp>
        <p:nvSpPr>
          <p:cNvPr id="21" name="Rounded Rectangle 103">
            <a:extLst>
              <a:ext uri="{FF2B5EF4-FFF2-40B4-BE49-F238E27FC236}">
                <a16:creationId xmlns:a16="http://schemas.microsoft.com/office/drawing/2014/main" id="{B1CFE4A8-7738-95DB-33C5-60AC377A4E89}"/>
              </a:ext>
            </a:extLst>
          </p:cNvPr>
          <p:cNvSpPr/>
          <p:nvPr/>
        </p:nvSpPr>
        <p:spPr>
          <a:xfrm>
            <a:off x="9765085" y="4383407"/>
            <a:ext cx="2024491" cy="1161522"/>
          </a:xfrm>
          <a:prstGeom prst="roundRect">
            <a:avLst/>
          </a:prstGeom>
          <a:solidFill>
            <a:srgbClr val="50BEC6"/>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22" name="Rounded Rectangle 104">
            <a:extLst>
              <a:ext uri="{FF2B5EF4-FFF2-40B4-BE49-F238E27FC236}">
                <a16:creationId xmlns:a16="http://schemas.microsoft.com/office/drawing/2014/main" id="{DBEDCBB0-1223-4C61-BDA9-5AB84CB61881}"/>
              </a:ext>
            </a:extLst>
          </p:cNvPr>
          <p:cNvSpPr/>
          <p:nvPr/>
        </p:nvSpPr>
        <p:spPr>
          <a:xfrm>
            <a:off x="9764486" y="4382303"/>
            <a:ext cx="2024483" cy="358201"/>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Y" sz="1400" b="1">
                <a:solidFill>
                  <a:schemeClr val="bg1"/>
                </a:solidFill>
                <a:latin typeface="Tajawal Light" panose="00000400000000000000" pitchFamily="2" charset="-78"/>
                <a:cs typeface="Tajawal Light" panose="00000400000000000000" pitchFamily="2" charset="-78"/>
              </a:rPr>
              <a:t>بناء القدرات المعرفية</a:t>
            </a:r>
            <a:endParaRPr lang="en-US" sz="1400" b="1" dirty="0">
              <a:solidFill>
                <a:schemeClr val="bg1"/>
              </a:solidFill>
              <a:latin typeface="Tajawal Light" panose="00000400000000000000" pitchFamily="2" charset="-78"/>
              <a:cs typeface="Tajawal Light" panose="00000400000000000000" pitchFamily="2" charset="-78"/>
            </a:endParaRPr>
          </a:p>
        </p:txBody>
      </p:sp>
      <p:sp>
        <p:nvSpPr>
          <p:cNvPr id="19" name="TextBox 18">
            <a:extLst>
              <a:ext uri="{FF2B5EF4-FFF2-40B4-BE49-F238E27FC236}">
                <a16:creationId xmlns:a16="http://schemas.microsoft.com/office/drawing/2014/main" id="{4BAB1483-5BE7-22E1-8857-FCA93DF6E26A}"/>
              </a:ext>
            </a:extLst>
          </p:cNvPr>
          <p:cNvSpPr txBox="1"/>
          <p:nvPr/>
        </p:nvSpPr>
        <p:spPr>
          <a:xfrm>
            <a:off x="9873260" y="4845263"/>
            <a:ext cx="1806351" cy="506625"/>
          </a:xfrm>
          <a:prstGeom prst="rect">
            <a:avLst/>
          </a:prstGeom>
          <a:noFill/>
        </p:spPr>
        <p:txBody>
          <a:bodyPr wrap="square" rtlCol="0">
            <a:spAutoFit/>
          </a:bodyPr>
          <a:lstStyle/>
          <a:p>
            <a:pPr algn="ctr"/>
            <a:r>
              <a:rPr lang="ar-LY" sz="1100" dirty="0">
                <a:solidFill>
                  <a:schemeClr val="bg1"/>
                </a:solidFill>
                <a:latin typeface="Tajawal Light" panose="00000400000000000000" pitchFamily="2" charset="-78"/>
                <a:cs typeface="Tajawal Light" panose="00000400000000000000" pitchFamily="2" charset="-78"/>
              </a:rPr>
              <a:t>تدريب الموظفين </a:t>
            </a:r>
          </a:p>
          <a:p>
            <a:pPr algn="ctr"/>
            <a:r>
              <a:rPr lang="ar-LY" sz="1100" dirty="0">
                <a:solidFill>
                  <a:schemeClr val="bg1"/>
                </a:solidFill>
                <a:latin typeface="Tajawal Light" panose="00000400000000000000" pitchFamily="2" charset="-78"/>
                <a:cs typeface="Tajawal Light" panose="00000400000000000000" pitchFamily="2" charset="-78"/>
              </a:rPr>
              <a:t>لقاءات وورش عمل مع اكبر الشركات والمزودين</a:t>
            </a:r>
            <a:endParaRPr lang="en-US" sz="1100" dirty="0">
              <a:solidFill>
                <a:schemeClr val="bg1"/>
              </a:solidFill>
              <a:latin typeface="Tajawal Light" panose="00000400000000000000" pitchFamily="2" charset="-78"/>
              <a:cs typeface="Tajawal Light" panose="00000400000000000000" pitchFamily="2" charset="-78"/>
            </a:endParaRPr>
          </a:p>
        </p:txBody>
      </p:sp>
      <p:grpSp>
        <p:nvGrpSpPr>
          <p:cNvPr id="32" name="Group 31">
            <a:extLst>
              <a:ext uri="{FF2B5EF4-FFF2-40B4-BE49-F238E27FC236}">
                <a16:creationId xmlns:a16="http://schemas.microsoft.com/office/drawing/2014/main" id="{E8D5EAAE-43FC-2FBB-46A5-F5446B1C2738}"/>
              </a:ext>
            </a:extLst>
          </p:cNvPr>
          <p:cNvGrpSpPr/>
          <p:nvPr/>
        </p:nvGrpSpPr>
        <p:grpSpPr>
          <a:xfrm>
            <a:off x="5969474" y="1614677"/>
            <a:ext cx="2511623" cy="635203"/>
            <a:chOff x="5293892" y="1303364"/>
            <a:chExt cx="2511623" cy="635203"/>
          </a:xfrm>
        </p:grpSpPr>
        <p:sp>
          <p:nvSpPr>
            <p:cNvPr id="28" name="Rounded Rectangle 143">
              <a:extLst>
                <a:ext uri="{FF2B5EF4-FFF2-40B4-BE49-F238E27FC236}">
                  <a16:creationId xmlns:a16="http://schemas.microsoft.com/office/drawing/2014/main" id="{38E9D6A6-E81C-6395-B49F-1511F5768FBE}"/>
                </a:ext>
              </a:extLst>
            </p:cNvPr>
            <p:cNvSpPr/>
            <p:nvPr/>
          </p:nvSpPr>
          <p:spPr>
            <a:xfrm>
              <a:off x="5293892" y="1303364"/>
              <a:ext cx="2489043" cy="599081"/>
            </a:xfrm>
            <a:prstGeom prst="roundRect">
              <a:avLst/>
            </a:prstGeom>
            <a:solidFill>
              <a:srgbClr val="007D6B"/>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Tajawal Light" panose="00000400000000000000" pitchFamily="2" charset="-78"/>
                  <a:cs typeface="Tajawal Light" panose="00000400000000000000" pitchFamily="2" charset="-78"/>
                </a:rPr>
                <a:t>   </a:t>
              </a:r>
            </a:p>
          </p:txBody>
        </p:sp>
        <p:sp>
          <p:nvSpPr>
            <p:cNvPr id="30" name="Rounded Rectangle 145">
              <a:extLst>
                <a:ext uri="{FF2B5EF4-FFF2-40B4-BE49-F238E27FC236}">
                  <a16:creationId xmlns:a16="http://schemas.microsoft.com/office/drawing/2014/main" id="{775B8BB0-C197-A378-F478-072989278A72}"/>
                </a:ext>
              </a:extLst>
            </p:cNvPr>
            <p:cNvSpPr/>
            <p:nvPr/>
          </p:nvSpPr>
          <p:spPr>
            <a:xfrm>
              <a:off x="5316484" y="1339487"/>
              <a:ext cx="2489031" cy="599080"/>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Light" panose="00000400000000000000" pitchFamily="2" charset="-78"/>
                  <a:cs typeface="Tajawal Light" panose="00000400000000000000" pitchFamily="2" charset="-78"/>
                </a:rPr>
                <a:t>اطلاق منصة المحتوى المحلي</a:t>
              </a:r>
              <a:endParaRPr lang="en-US" sz="1400" dirty="0">
                <a:latin typeface="Tajawal Light" panose="00000400000000000000" pitchFamily="2" charset="-78"/>
                <a:cs typeface="Tajawal Light" panose="00000400000000000000" pitchFamily="2" charset="-78"/>
              </a:endParaRPr>
            </a:p>
          </p:txBody>
        </p:sp>
      </p:grpSp>
      <p:grpSp>
        <p:nvGrpSpPr>
          <p:cNvPr id="33" name="Group 32">
            <a:extLst>
              <a:ext uri="{FF2B5EF4-FFF2-40B4-BE49-F238E27FC236}">
                <a16:creationId xmlns:a16="http://schemas.microsoft.com/office/drawing/2014/main" id="{A68814E2-2FED-3291-BE90-4DECD88EF575}"/>
              </a:ext>
            </a:extLst>
          </p:cNvPr>
          <p:cNvGrpSpPr/>
          <p:nvPr/>
        </p:nvGrpSpPr>
        <p:grpSpPr>
          <a:xfrm>
            <a:off x="5980769" y="2378971"/>
            <a:ext cx="2511623" cy="635203"/>
            <a:chOff x="5293892" y="1303364"/>
            <a:chExt cx="2511623" cy="635203"/>
          </a:xfrm>
        </p:grpSpPr>
        <p:sp>
          <p:nvSpPr>
            <p:cNvPr id="34" name="Rounded Rectangle 143">
              <a:extLst>
                <a:ext uri="{FF2B5EF4-FFF2-40B4-BE49-F238E27FC236}">
                  <a16:creationId xmlns:a16="http://schemas.microsoft.com/office/drawing/2014/main" id="{AC7D7073-BDD1-FBBC-979C-EC1F480746E5}"/>
                </a:ext>
              </a:extLst>
            </p:cNvPr>
            <p:cNvSpPr/>
            <p:nvPr/>
          </p:nvSpPr>
          <p:spPr>
            <a:xfrm>
              <a:off x="5293892" y="1303364"/>
              <a:ext cx="2489043" cy="599081"/>
            </a:xfrm>
            <a:prstGeom prst="roundRect">
              <a:avLst/>
            </a:prstGeom>
            <a:solidFill>
              <a:srgbClr val="007D6B"/>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Tajawal Light" panose="00000400000000000000" pitchFamily="2" charset="-78"/>
                  <a:cs typeface="Tajawal Light" panose="00000400000000000000" pitchFamily="2" charset="-78"/>
                </a:rPr>
                <a:t>   </a:t>
              </a:r>
            </a:p>
          </p:txBody>
        </p:sp>
        <p:sp>
          <p:nvSpPr>
            <p:cNvPr id="35" name="Rounded Rectangle 145">
              <a:extLst>
                <a:ext uri="{FF2B5EF4-FFF2-40B4-BE49-F238E27FC236}">
                  <a16:creationId xmlns:a16="http://schemas.microsoft.com/office/drawing/2014/main" id="{44037FBF-0B01-73E3-9C05-32074FF0FBDA}"/>
                </a:ext>
              </a:extLst>
            </p:cNvPr>
            <p:cNvSpPr/>
            <p:nvPr/>
          </p:nvSpPr>
          <p:spPr>
            <a:xfrm>
              <a:off x="5316484" y="1339487"/>
              <a:ext cx="2489031" cy="599080"/>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Light" panose="00000400000000000000" pitchFamily="2" charset="-78"/>
                  <a:cs typeface="Tajawal Light" panose="00000400000000000000" pitchFamily="2" charset="-78"/>
                </a:rPr>
                <a:t>اطلاق منصة المحتوى الترفيهي</a:t>
              </a:r>
              <a:endParaRPr lang="en-US" sz="1400" dirty="0">
                <a:latin typeface="Tajawal Light" panose="00000400000000000000" pitchFamily="2" charset="-78"/>
                <a:cs typeface="Tajawal Light" panose="00000400000000000000" pitchFamily="2" charset="-78"/>
              </a:endParaRPr>
            </a:p>
          </p:txBody>
        </p:sp>
      </p:grpSp>
      <p:grpSp>
        <p:nvGrpSpPr>
          <p:cNvPr id="36" name="Group 35">
            <a:extLst>
              <a:ext uri="{FF2B5EF4-FFF2-40B4-BE49-F238E27FC236}">
                <a16:creationId xmlns:a16="http://schemas.microsoft.com/office/drawing/2014/main" id="{84DC6DF4-C996-536B-2C3E-00C1E9D9D935}"/>
              </a:ext>
            </a:extLst>
          </p:cNvPr>
          <p:cNvGrpSpPr/>
          <p:nvPr/>
        </p:nvGrpSpPr>
        <p:grpSpPr>
          <a:xfrm>
            <a:off x="3261351" y="1632738"/>
            <a:ext cx="2511623" cy="635203"/>
            <a:chOff x="5293892" y="1303364"/>
            <a:chExt cx="2511623" cy="635203"/>
          </a:xfrm>
        </p:grpSpPr>
        <p:sp>
          <p:nvSpPr>
            <p:cNvPr id="37" name="Rounded Rectangle 143">
              <a:extLst>
                <a:ext uri="{FF2B5EF4-FFF2-40B4-BE49-F238E27FC236}">
                  <a16:creationId xmlns:a16="http://schemas.microsoft.com/office/drawing/2014/main" id="{5E9319C3-B058-E7AB-33FC-7CE9380069A7}"/>
                </a:ext>
              </a:extLst>
            </p:cNvPr>
            <p:cNvSpPr/>
            <p:nvPr/>
          </p:nvSpPr>
          <p:spPr>
            <a:xfrm>
              <a:off x="5293892" y="1303364"/>
              <a:ext cx="2489043" cy="599081"/>
            </a:xfrm>
            <a:prstGeom prst="roundRect">
              <a:avLst/>
            </a:prstGeom>
            <a:solidFill>
              <a:srgbClr val="007D6B"/>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Tajawal Light" panose="00000400000000000000" pitchFamily="2" charset="-78"/>
                  <a:cs typeface="Tajawal Light" panose="00000400000000000000" pitchFamily="2" charset="-78"/>
                </a:rPr>
                <a:t>   </a:t>
              </a:r>
            </a:p>
          </p:txBody>
        </p:sp>
        <p:sp>
          <p:nvSpPr>
            <p:cNvPr id="38" name="Rounded Rectangle 145">
              <a:extLst>
                <a:ext uri="{FF2B5EF4-FFF2-40B4-BE49-F238E27FC236}">
                  <a16:creationId xmlns:a16="http://schemas.microsoft.com/office/drawing/2014/main" id="{A630D798-06C0-5D32-7103-1910DE7D1D38}"/>
                </a:ext>
              </a:extLst>
            </p:cNvPr>
            <p:cNvSpPr/>
            <p:nvPr/>
          </p:nvSpPr>
          <p:spPr>
            <a:xfrm>
              <a:off x="5316484" y="1339487"/>
              <a:ext cx="2489031" cy="599080"/>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Light" panose="00000400000000000000" pitchFamily="2" charset="-78"/>
                  <a:cs typeface="Tajawal Light" panose="00000400000000000000" pitchFamily="2" charset="-78"/>
                </a:rPr>
                <a:t>اطلاق محفظة </a:t>
              </a:r>
              <a:r>
                <a:rPr lang="ar-LY" sz="1400" dirty="0" err="1">
                  <a:latin typeface="Tajawal Light" panose="00000400000000000000" pitchFamily="2" charset="-78"/>
                  <a:cs typeface="Tajawal Light" panose="00000400000000000000" pitchFamily="2" charset="-78"/>
                </a:rPr>
                <a:t>ليبيانا</a:t>
              </a:r>
              <a:r>
                <a:rPr lang="ar-LY" sz="1400" dirty="0">
                  <a:latin typeface="Tajawal Light" panose="00000400000000000000" pitchFamily="2" charset="-78"/>
                  <a:cs typeface="Tajawal Light" panose="00000400000000000000" pitchFamily="2" charset="-78"/>
                </a:rPr>
                <a:t> والتطبيق الفائق</a:t>
              </a:r>
              <a:endParaRPr lang="en-US" sz="1400" dirty="0">
                <a:latin typeface="Tajawal Light" panose="00000400000000000000" pitchFamily="2" charset="-78"/>
                <a:cs typeface="Tajawal Light" panose="00000400000000000000" pitchFamily="2" charset="-78"/>
              </a:endParaRPr>
            </a:p>
          </p:txBody>
        </p:sp>
      </p:grpSp>
      <p:grpSp>
        <p:nvGrpSpPr>
          <p:cNvPr id="39" name="Group 38">
            <a:extLst>
              <a:ext uri="{FF2B5EF4-FFF2-40B4-BE49-F238E27FC236}">
                <a16:creationId xmlns:a16="http://schemas.microsoft.com/office/drawing/2014/main" id="{B5B9924D-6312-CE79-B2C8-6D50B90BB8F8}"/>
              </a:ext>
            </a:extLst>
          </p:cNvPr>
          <p:cNvGrpSpPr/>
          <p:nvPr/>
        </p:nvGrpSpPr>
        <p:grpSpPr>
          <a:xfrm>
            <a:off x="3295238" y="2429162"/>
            <a:ext cx="2511623" cy="635203"/>
            <a:chOff x="5293892" y="1303364"/>
            <a:chExt cx="2511623" cy="635203"/>
          </a:xfrm>
        </p:grpSpPr>
        <p:sp>
          <p:nvSpPr>
            <p:cNvPr id="40" name="Rounded Rectangle 143">
              <a:extLst>
                <a:ext uri="{FF2B5EF4-FFF2-40B4-BE49-F238E27FC236}">
                  <a16:creationId xmlns:a16="http://schemas.microsoft.com/office/drawing/2014/main" id="{2D551EFF-EF77-F8C8-FF43-6B0051B6841E}"/>
                </a:ext>
              </a:extLst>
            </p:cNvPr>
            <p:cNvSpPr/>
            <p:nvPr/>
          </p:nvSpPr>
          <p:spPr>
            <a:xfrm>
              <a:off x="5293892" y="1303364"/>
              <a:ext cx="2489043" cy="599081"/>
            </a:xfrm>
            <a:prstGeom prst="roundRect">
              <a:avLst/>
            </a:prstGeom>
            <a:solidFill>
              <a:srgbClr val="007D6B"/>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Tajawal Light" panose="00000400000000000000" pitchFamily="2" charset="-78"/>
                  <a:cs typeface="Tajawal Light" panose="00000400000000000000" pitchFamily="2" charset="-78"/>
                </a:rPr>
                <a:t>   </a:t>
              </a:r>
            </a:p>
          </p:txBody>
        </p:sp>
        <p:sp>
          <p:nvSpPr>
            <p:cNvPr id="41" name="Rounded Rectangle 145">
              <a:extLst>
                <a:ext uri="{FF2B5EF4-FFF2-40B4-BE49-F238E27FC236}">
                  <a16:creationId xmlns:a16="http://schemas.microsoft.com/office/drawing/2014/main" id="{FDB1D8AF-936B-C50B-C54D-360980FCE7FC}"/>
                </a:ext>
              </a:extLst>
            </p:cNvPr>
            <p:cNvSpPr/>
            <p:nvPr/>
          </p:nvSpPr>
          <p:spPr>
            <a:xfrm>
              <a:off x="5316484" y="1339487"/>
              <a:ext cx="2489031" cy="599080"/>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Light" panose="00000400000000000000" pitchFamily="2" charset="-78"/>
                  <a:cs typeface="Tajawal Light" panose="00000400000000000000" pitchFamily="2" charset="-78"/>
                </a:rPr>
                <a:t>اطلاق مركز الألعاب الالكترونية</a:t>
              </a:r>
              <a:endParaRPr lang="en-US" sz="1400" dirty="0">
                <a:latin typeface="Tajawal Light" panose="00000400000000000000" pitchFamily="2" charset="-78"/>
                <a:cs typeface="Tajawal Light" panose="00000400000000000000" pitchFamily="2" charset="-78"/>
              </a:endParaRPr>
            </a:p>
          </p:txBody>
        </p:sp>
      </p:grpSp>
      <p:grpSp>
        <p:nvGrpSpPr>
          <p:cNvPr id="42" name="Group 41">
            <a:extLst>
              <a:ext uri="{FF2B5EF4-FFF2-40B4-BE49-F238E27FC236}">
                <a16:creationId xmlns:a16="http://schemas.microsoft.com/office/drawing/2014/main" id="{AA1DAEDA-2D0A-E513-C076-D3EDEB7A88CA}"/>
              </a:ext>
            </a:extLst>
          </p:cNvPr>
          <p:cNvGrpSpPr/>
          <p:nvPr/>
        </p:nvGrpSpPr>
        <p:grpSpPr>
          <a:xfrm>
            <a:off x="553228" y="2131807"/>
            <a:ext cx="2511623" cy="635203"/>
            <a:chOff x="5293892" y="1303364"/>
            <a:chExt cx="2511623" cy="635203"/>
          </a:xfrm>
        </p:grpSpPr>
        <p:sp>
          <p:nvSpPr>
            <p:cNvPr id="43" name="Rounded Rectangle 143">
              <a:extLst>
                <a:ext uri="{FF2B5EF4-FFF2-40B4-BE49-F238E27FC236}">
                  <a16:creationId xmlns:a16="http://schemas.microsoft.com/office/drawing/2014/main" id="{3EB9750F-F156-20E9-94DC-69150A182813}"/>
                </a:ext>
              </a:extLst>
            </p:cNvPr>
            <p:cNvSpPr/>
            <p:nvPr/>
          </p:nvSpPr>
          <p:spPr>
            <a:xfrm>
              <a:off x="5293892" y="1303364"/>
              <a:ext cx="2489043" cy="599081"/>
            </a:xfrm>
            <a:prstGeom prst="roundRect">
              <a:avLst/>
            </a:prstGeom>
            <a:solidFill>
              <a:srgbClr val="007D6B"/>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Tajawal Light" panose="00000400000000000000" pitchFamily="2" charset="-78"/>
                  <a:cs typeface="Tajawal Light" panose="00000400000000000000" pitchFamily="2" charset="-78"/>
                </a:rPr>
                <a:t>   </a:t>
              </a:r>
            </a:p>
          </p:txBody>
        </p:sp>
        <p:sp>
          <p:nvSpPr>
            <p:cNvPr id="44" name="Rounded Rectangle 145">
              <a:extLst>
                <a:ext uri="{FF2B5EF4-FFF2-40B4-BE49-F238E27FC236}">
                  <a16:creationId xmlns:a16="http://schemas.microsoft.com/office/drawing/2014/main" id="{1020F47B-D239-CAD4-9603-091967BCED64}"/>
                </a:ext>
              </a:extLst>
            </p:cNvPr>
            <p:cNvSpPr/>
            <p:nvPr/>
          </p:nvSpPr>
          <p:spPr>
            <a:xfrm>
              <a:off x="5316484" y="1339487"/>
              <a:ext cx="2489031" cy="599080"/>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LY" sz="1400" dirty="0">
                  <a:latin typeface="Tajawal Light" panose="00000400000000000000" pitchFamily="2" charset="-78"/>
                  <a:cs typeface="Tajawal Light" panose="00000400000000000000" pitchFamily="2" charset="-78"/>
                </a:rPr>
                <a:t>تنفيذ اول خدمة </a:t>
              </a:r>
              <a:r>
                <a:rPr lang="en-US" sz="1400" dirty="0" err="1">
                  <a:latin typeface="Tajawal Light" panose="00000400000000000000" pitchFamily="2" charset="-78"/>
                  <a:cs typeface="Tajawal Light" panose="00000400000000000000" pitchFamily="2" charset="-78"/>
                </a:rPr>
                <a:t>SaaaS</a:t>
              </a:r>
              <a:endParaRPr lang="en-US" sz="1400" dirty="0">
                <a:latin typeface="Tajawal Light" panose="00000400000000000000" pitchFamily="2" charset="-78"/>
                <a:cs typeface="Tajawal Light" panose="00000400000000000000" pitchFamily="2" charset="-78"/>
              </a:endParaRPr>
            </a:p>
          </p:txBody>
        </p:sp>
      </p:grpSp>
      <p:sp>
        <p:nvSpPr>
          <p:cNvPr id="62" name="Arrow: Pentagon 61">
            <a:extLst>
              <a:ext uri="{FF2B5EF4-FFF2-40B4-BE49-F238E27FC236}">
                <a16:creationId xmlns:a16="http://schemas.microsoft.com/office/drawing/2014/main" id="{B9E771C1-51BE-2E42-4521-EB6C651039F5}"/>
              </a:ext>
            </a:extLst>
          </p:cNvPr>
          <p:cNvSpPr/>
          <p:nvPr/>
        </p:nvSpPr>
        <p:spPr>
          <a:xfrm rot="10800000" flipV="1">
            <a:off x="304800" y="278226"/>
            <a:ext cx="11669119" cy="470522"/>
          </a:xfrm>
          <a:prstGeom prst="homePlate">
            <a:avLst>
              <a:gd name="adj" fmla="val 5047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dirty="0">
                <a:solidFill>
                  <a:schemeClr val="accent1"/>
                </a:solidFill>
                <a:latin typeface="Tajawal Black" panose="00000500000000000000" pitchFamily="2" charset="-78"/>
                <a:cs typeface="Tajawal Black" panose="00000500000000000000" pitchFamily="2" charset="-78"/>
              </a:rPr>
              <a:t>الأهداف الاستراتيجية :  مزود الحلول الرقمية الأول في ليبيا</a:t>
            </a:r>
            <a:endParaRPr lang="en-US" dirty="0">
              <a:solidFill>
                <a:schemeClr val="accent1"/>
              </a:solidFill>
              <a:latin typeface="Tajawal Black" panose="00000500000000000000" pitchFamily="2" charset="-78"/>
              <a:cs typeface="Tajawal Black" panose="00000500000000000000" pitchFamily="2" charset="-78"/>
            </a:endParaRPr>
          </a:p>
        </p:txBody>
      </p:sp>
      <p:sp>
        <p:nvSpPr>
          <p:cNvPr id="63" name="Arrow: Pentagon 62">
            <a:extLst>
              <a:ext uri="{FF2B5EF4-FFF2-40B4-BE49-F238E27FC236}">
                <a16:creationId xmlns:a16="http://schemas.microsoft.com/office/drawing/2014/main" id="{F96A27A4-38D9-648E-B39A-FD91B4303CB3}"/>
              </a:ext>
            </a:extLst>
          </p:cNvPr>
          <p:cNvSpPr/>
          <p:nvPr/>
        </p:nvSpPr>
        <p:spPr>
          <a:xfrm rot="10800000" flipV="1">
            <a:off x="402772" y="5900371"/>
            <a:ext cx="11669119" cy="470522"/>
          </a:xfrm>
          <a:prstGeom prst="homePlate">
            <a:avLst>
              <a:gd name="adj" fmla="val 5047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400" dirty="0">
                <a:solidFill>
                  <a:schemeClr val="tx2"/>
                </a:solidFill>
                <a:latin typeface="Tajawal Light" panose="00000400000000000000" pitchFamily="2" charset="-78"/>
                <a:cs typeface="Tajawal Light" panose="00000400000000000000" pitchFamily="2" charset="-78"/>
              </a:rPr>
              <a:t>نموذج العمل : شراكات استراتيجية مع نظام الشراكة الربحية الذكية لتحقيق مكاسب سريع  باقل استثمار ومخاطر  وبناء معرفة من خلال مشاريع حقيقية</a:t>
            </a:r>
            <a:endParaRPr lang="en-US" sz="1400" dirty="0">
              <a:solidFill>
                <a:schemeClr val="tx2"/>
              </a:solidFill>
              <a:latin typeface="Tajawal Light" panose="00000400000000000000" pitchFamily="2" charset="-78"/>
              <a:cs typeface="Tajawal Light" panose="00000400000000000000" pitchFamily="2" charset="-78"/>
            </a:endParaRPr>
          </a:p>
        </p:txBody>
      </p:sp>
      <p:sp>
        <p:nvSpPr>
          <p:cNvPr id="64" name="Arrow: Pentagon 63">
            <a:extLst>
              <a:ext uri="{FF2B5EF4-FFF2-40B4-BE49-F238E27FC236}">
                <a16:creationId xmlns:a16="http://schemas.microsoft.com/office/drawing/2014/main" id="{D3C0E4AE-3766-76F0-F9AE-4B5A24097888}"/>
              </a:ext>
            </a:extLst>
          </p:cNvPr>
          <p:cNvSpPr/>
          <p:nvPr/>
        </p:nvSpPr>
        <p:spPr>
          <a:xfrm rot="10800000">
            <a:off x="304799" y="3596498"/>
            <a:ext cx="8655748" cy="2199116"/>
          </a:xfrm>
          <a:prstGeom prst="homePlate">
            <a:avLst>
              <a:gd name="adj" fmla="val 1934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grpSp>
        <p:nvGrpSpPr>
          <p:cNvPr id="65" name="Group 64">
            <a:extLst>
              <a:ext uri="{FF2B5EF4-FFF2-40B4-BE49-F238E27FC236}">
                <a16:creationId xmlns:a16="http://schemas.microsoft.com/office/drawing/2014/main" id="{CAFD282A-0CF2-1913-72F3-346CE8A01723}"/>
              </a:ext>
            </a:extLst>
          </p:cNvPr>
          <p:cNvGrpSpPr/>
          <p:nvPr/>
        </p:nvGrpSpPr>
        <p:grpSpPr>
          <a:xfrm>
            <a:off x="5734153" y="3990614"/>
            <a:ext cx="2959684" cy="1584346"/>
            <a:chOff x="7434546" y="1876777"/>
            <a:chExt cx="1003556" cy="1469935"/>
          </a:xfrm>
        </p:grpSpPr>
        <p:grpSp>
          <p:nvGrpSpPr>
            <p:cNvPr id="66" name="Group 65">
              <a:extLst>
                <a:ext uri="{FF2B5EF4-FFF2-40B4-BE49-F238E27FC236}">
                  <a16:creationId xmlns:a16="http://schemas.microsoft.com/office/drawing/2014/main" id="{093EBE6F-E23F-3652-D032-718CEC9B7654}"/>
                </a:ext>
              </a:extLst>
            </p:cNvPr>
            <p:cNvGrpSpPr/>
            <p:nvPr/>
          </p:nvGrpSpPr>
          <p:grpSpPr>
            <a:xfrm>
              <a:off x="7434546" y="1876777"/>
              <a:ext cx="1003556" cy="1469935"/>
              <a:chOff x="7393469" y="1745785"/>
              <a:chExt cx="1003556" cy="1689156"/>
            </a:xfrm>
          </p:grpSpPr>
          <p:grpSp>
            <p:nvGrpSpPr>
              <p:cNvPr id="68" name="Group 67">
                <a:extLst>
                  <a:ext uri="{FF2B5EF4-FFF2-40B4-BE49-F238E27FC236}">
                    <a16:creationId xmlns:a16="http://schemas.microsoft.com/office/drawing/2014/main" id="{A1385EC3-9A23-B178-24EC-6A1CB51F09F3}"/>
                  </a:ext>
                </a:extLst>
              </p:cNvPr>
              <p:cNvGrpSpPr/>
              <p:nvPr/>
            </p:nvGrpSpPr>
            <p:grpSpPr>
              <a:xfrm>
                <a:off x="7393469" y="1745785"/>
                <a:ext cx="1003556" cy="1689156"/>
                <a:chOff x="7393469" y="1745785"/>
                <a:chExt cx="1003556" cy="1689156"/>
              </a:xfrm>
            </p:grpSpPr>
            <p:sp>
              <p:nvSpPr>
                <p:cNvPr id="70" name="Rounded Rectangle 109">
                  <a:extLst>
                    <a:ext uri="{FF2B5EF4-FFF2-40B4-BE49-F238E27FC236}">
                      <a16:creationId xmlns:a16="http://schemas.microsoft.com/office/drawing/2014/main" id="{1A262FEE-D988-41AA-46A3-34845E04C737}"/>
                    </a:ext>
                  </a:extLst>
                </p:cNvPr>
                <p:cNvSpPr/>
                <p:nvPr/>
              </p:nvSpPr>
              <p:spPr>
                <a:xfrm>
                  <a:off x="7393935" y="1747387"/>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71" name="Rounded Rectangle 110">
                  <a:extLst>
                    <a:ext uri="{FF2B5EF4-FFF2-40B4-BE49-F238E27FC236}">
                      <a16:creationId xmlns:a16="http://schemas.microsoft.com/office/drawing/2014/main" id="{C0898074-4BCB-34D8-2E9F-702FDBA5CA6E}"/>
                    </a:ext>
                  </a:extLst>
                </p:cNvPr>
                <p:cNvSpPr/>
                <p:nvPr/>
              </p:nvSpPr>
              <p:spPr>
                <a:xfrm>
                  <a:off x="7393469" y="1745785"/>
                  <a:ext cx="1003086" cy="538663"/>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Tajawal Light" panose="00000400000000000000" pitchFamily="2" charset="-78"/>
                    <a:cs typeface="Tajawal Light" panose="00000400000000000000" pitchFamily="2" charset="-78"/>
                  </a:endParaRPr>
                </a:p>
              </p:txBody>
            </p:sp>
          </p:grpSp>
          <p:sp>
            <p:nvSpPr>
              <p:cNvPr id="69" name="TextBox 68">
                <a:extLst>
                  <a:ext uri="{FF2B5EF4-FFF2-40B4-BE49-F238E27FC236}">
                    <a16:creationId xmlns:a16="http://schemas.microsoft.com/office/drawing/2014/main" id="{424CFE6E-1AE2-291E-3BF0-2C0914FF8CDF}"/>
                  </a:ext>
                </a:extLst>
              </p:cNvPr>
              <p:cNvSpPr txBox="1"/>
              <p:nvPr/>
            </p:nvSpPr>
            <p:spPr>
              <a:xfrm>
                <a:off x="7419431" y="2390316"/>
                <a:ext cx="959291" cy="639867"/>
              </a:xfrm>
              <a:prstGeom prst="rect">
                <a:avLst/>
              </a:prstGeom>
              <a:noFill/>
            </p:spPr>
            <p:txBody>
              <a:bodyPr wrap="square" rtlCol="0">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اطلاق منصة خدمية تعنى بتقديم خدمات الصحة للأفراد، حجز مواعيد أطباء، تواصل مع أطباء، حفظ سجل صحي ، وغيرها من الخدمات</a:t>
                </a:r>
                <a:endParaRPr lang="en-US" sz="1100" dirty="0">
                  <a:solidFill>
                    <a:schemeClr val="bg1"/>
                  </a:solidFill>
                  <a:latin typeface="Tajawal Light" panose="00000400000000000000" pitchFamily="2" charset="-78"/>
                  <a:cs typeface="Tajawal Light" panose="00000400000000000000" pitchFamily="2" charset="-78"/>
                </a:endParaRPr>
              </a:p>
            </p:txBody>
          </p:sp>
        </p:grpSp>
        <p:sp>
          <p:nvSpPr>
            <p:cNvPr id="67" name="TextBox 66">
              <a:extLst>
                <a:ext uri="{FF2B5EF4-FFF2-40B4-BE49-F238E27FC236}">
                  <a16:creationId xmlns:a16="http://schemas.microsoft.com/office/drawing/2014/main" id="{D06B6725-91BF-3876-DD36-05533DEDD566}"/>
                </a:ext>
              </a:extLst>
            </p:cNvPr>
            <p:cNvSpPr txBox="1"/>
            <p:nvPr/>
          </p:nvSpPr>
          <p:spPr>
            <a:xfrm>
              <a:off x="7444102" y="1954630"/>
              <a:ext cx="979212" cy="285551"/>
            </a:xfrm>
            <a:prstGeom prst="rect">
              <a:avLst/>
            </a:prstGeom>
            <a:noFill/>
          </p:spPr>
          <p:txBody>
            <a:bodyPr wrap="square" rtlCol="0">
              <a:spAutoFit/>
            </a:bodyPr>
            <a:lstStyle/>
            <a:p>
              <a:pPr algn="ctr"/>
              <a:r>
                <a:rPr lang="ar-LY" sz="1400" b="1" dirty="0">
                  <a:solidFill>
                    <a:schemeClr val="bg1"/>
                  </a:solidFill>
                  <a:latin typeface="Tajawal Light" panose="00000400000000000000" pitchFamily="2" charset="-78"/>
                  <a:cs typeface="Tajawal Light" panose="00000400000000000000" pitchFamily="2" charset="-78"/>
                </a:rPr>
                <a:t>المنصة الرقمية للخدمات الصحية</a:t>
              </a:r>
              <a:endParaRPr lang="en-US" sz="1400" b="1" dirty="0">
                <a:solidFill>
                  <a:schemeClr val="bg1"/>
                </a:solidFill>
                <a:latin typeface="Tajawal Light" panose="00000400000000000000" pitchFamily="2" charset="-78"/>
                <a:cs typeface="Tajawal Light" panose="00000400000000000000" pitchFamily="2" charset="-78"/>
              </a:endParaRPr>
            </a:p>
          </p:txBody>
        </p:sp>
      </p:grpSp>
      <p:grpSp>
        <p:nvGrpSpPr>
          <p:cNvPr id="72" name="Group 71">
            <a:extLst>
              <a:ext uri="{FF2B5EF4-FFF2-40B4-BE49-F238E27FC236}">
                <a16:creationId xmlns:a16="http://schemas.microsoft.com/office/drawing/2014/main" id="{DBFD0A6A-387F-2D2A-769E-086122520BF9}"/>
              </a:ext>
            </a:extLst>
          </p:cNvPr>
          <p:cNvGrpSpPr/>
          <p:nvPr/>
        </p:nvGrpSpPr>
        <p:grpSpPr>
          <a:xfrm>
            <a:off x="870857" y="3976839"/>
            <a:ext cx="4654944" cy="1610368"/>
            <a:chOff x="7393469" y="1745784"/>
            <a:chExt cx="1003556" cy="1689155"/>
          </a:xfrm>
        </p:grpSpPr>
        <p:sp>
          <p:nvSpPr>
            <p:cNvPr id="73" name="Rounded Rectangle 109">
              <a:extLst>
                <a:ext uri="{FF2B5EF4-FFF2-40B4-BE49-F238E27FC236}">
                  <a16:creationId xmlns:a16="http://schemas.microsoft.com/office/drawing/2014/main" id="{970BBDD9-0D2A-BF4E-F548-5BD9D4F33DCF}"/>
                </a:ext>
              </a:extLst>
            </p:cNvPr>
            <p:cNvSpPr/>
            <p:nvPr/>
          </p:nvSpPr>
          <p:spPr>
            <a:xfrm>
              <a:off x="7393935" y="1747385"/>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74" name="Rounded Rectangle 110">
              <a:extLst>
                <a:ext uri="{FF2B5EF4-FFF2-40B4-BE49-F238E27FC236}">
                  <a16:creationId xmlns:a16="http://schemas.microsoft.com/office/drawing/2014/main" id="{F572C0AF-D445-FF96-EC97-3714E15A99EF}"/>
                </a:ext>
              </a:extLst>
            </p:cNvPr>
            <p:cNvSpPr/>
            <p:nvPr/>
          </p:nvSpPr>
          <p:spPr>
            <a:xfrm>
              <a:off x="7393469" y="1745784"/>
              <a:ext cx="1003086" cy="544407"/>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LY" sz="1400" b="1" dirty="0">
                  <a:latin typeface="Tajawal Light" panose="00000400000000000000" pitchFamily="2" charset="-78"/>
                  <a:cs typeface="Tajawal Light" panose="00000400000000000000" pitchFamily="2" charset="-78"/>
                </a:rPr>
                <a:t>انترنت الأشياء </a:t>
              </a:r>
              <a:r>
                <a:rPr lang="en-US" sz="1400" b="1" dirty="0">
                  <a:latin typeface="Tajawal Light" panose="00000400000000000000" pitchFamily="2" charset="-78"/>
                  <a:cs typeface="Tajawal Light" panose="00000400000000000000" pitchFamily="2" charset="-78"/>
                </a:rPr>
                <a:t>IOT</a:t>
              </a:r>
              <a:r>
                <a:rPr lang="ar-LY" sz="1400" b="1" dirty="0">
                  <a:latin typeface="Tajawal Light" panose="00000400000000000000" pitchFamily="2" charset="-78"/>
                  <a:cs typeface="Tajawal Light" panose="00000400000000000000" pitchFamily="2" charset="-78"/>
                </a:rPr>
                <a:t> </a:t>
              </a:r>
              <a:r>
                <a:rPr lang="en-US" sz="1400" b="1" dirty="0">
                  <a:latin typeface="Tajawal Light" panose="00000400000000000000" pitchFamily="2" charset="-78"/>
                  <a:cs typeface="Tajawal Light" panose="00000400000000000000" pitchFamily="2" charset="-78"/>
                </a:rPr>
                <a:t> </a:t>
              </a:r>
              <a:endParaRPr lang="ar-LY" sz="1400" b="1" dirty="0">
                <a:latin typeface="Tajawal Light" panose="00000400000000000000" pitchFamily="2" charset="-78"/>
                <a:cs typeface="Tajawal Light" panose="00000400000000000000" pitchFamily="2" charset="-78"/>
              </a:endParaRPr>
            </a:p>
          </p:txBody>
        </p:sp>
      </p:grpSp>
      <p:sp>
        <p:nvSpPr>
          <p:cNvPr id="75" name="TextBox 74">
            <a:extLst>
              <a:ext uri="{FF2B5EF4-FFF2-40B4-BE49-F238E27FC236}">
                <a16:creationId xmlns:a16="http://schemas.microsoft.com/office/drawing/2014/main" id="{E73CA42B-C2CD-574E-C630-6B92D6D45318}"/>
              </a:ext>
            </a:extLst>
          </p:cNvPr>
          <p:cNvSpPr txBox="1"/>
          <p:nvPr/>
        </p:nvSpPr>
        <p:spPr>
          <a:xfrm>
            <a:off x="10373952" y="900374"/>
            <a:ext cx="805543" cy="369332"/>
          </a:xfrm>
          <a:prstGeom prst="rect">
            <a:avLst/>
          </a:prstGeom>
          <a:noFill/>
        </p:spPr>
        <p:txBody>
          <a:bodyPr wrap="square" rtlCol="0">
            <a:spAutoFit/>
          </a:bodyPr>
          <a:lstStyle/>
          <a:p>
            <a:r>
              <a:rPr lang="ar-LY" b="1" dirty="0"/>
              <a:t>2025</a:t>
            </a:r>
            <a:endParaRPr lang="en-US" b="1" dirty="0"/>
          </a:p>
        </p:txBody>
      </p:sp>
      <p:sp>
        <p:nvSpPr>
          <p:cNvPr id="76" name="TextBox 75">
            <a:extLst>
              <a:ext uri="{FF2B5EF4-FFF2-40B4-BE49-F238E27FC236}">
                <a16:creationId xmlns:a16="http://schemas.microsoft.com/office/drawing/2014/main" id="{CDF781C2-F209-4DD7-98D5-C76E16BD32B1}"/>
              </a:ext>
            </a:extLst>
          </p:cNvPr>
          <p:cNvSpPr txBox="1"/>
          <p:nvPr/>
        </p:nvSpPr>
        <p:spPr>
          <a:xfrm>
            <a:off x="4944851" y="900374"/>
            <a:ext cx="805543" cy="369332"/>
          </a:xfrm>
          <a:prstGeom prst="rect">
            <a:avLst/>
          </a:prstGeom>
          <a:noFill/>
        </p:spPr>
        <p:txBody>
          <a:bodyPr wrap="square" rtlCol="0">
            <a:spAutoFit/>
          </a:bodyPr>
          <a:lstStyle/>
          <a:p>
            <a:r>
              <a:rPr lang="ar-LY" b="1" dirty="0"/>
              <a:t>2026</a:t>
            </a:r>
            <a:endParaRPr lang="en-US" b="1" dirty="0"/>
          </a:p>
        </p:txBody>
      </p:sp>
      <p:sp>
        <p:nvSpPr>
          <p:cNvPr id="78" name="TextBox 77">
            <a:extLst>
              <a:ext uri="{FF2B5EF4-FFF2-40B4-BE49-F238E27FC236}">
                <a16:creationId xmlns:a16="http://schemas.microsoft.com/office/drawing/2014/main" id="{8B20E904-1199-CAF8-9024-98D1B66F4E0B}"/>
              </a:ext>
            </a:extLst>
          </p:cNvPr>
          <p:cNvSpPr txBox="1"/>
          <p:nvPr/>
        </p:nvSpPr>
        <p:spPr>
          <a:xfrm>
            <a:off x="9764486" y="1349941"/>
            <a:ext cx="2122716" cy="338554"/>
          </a:xfrm>
          <a:prstGeom prst="rect">
            <a:avLst/>
          </a:prstGeom>
          <a:noFill/>
        </p:spPr>
        <p:txBody>
          <a:bodyPr wrap="square">
            <a:spAutoFit/>
          </a:bodyPr>
          <a:lstStyle/>
          <a:p>
            <a:r>
              <a:rPr lang="ar-LY" sz="1600" dirty="0">
                <a:solidFill>
                  <a:schemeClr val="accent1"/>
                </a:solidFill>
                <a:latin typeface="Tajawal Black" panose="00000500000000000000" pitchFamily="2" charset="-78"/>
                <a:cs typeface="Tajawal Black" panose="00000500000000000000" pitchFamily="2" charset="-78"/>
              </a:rPr>
              <a:t>1 وضع خارطة الطريق</a:t>
            </a:r>
            <a:endParaRPr lang="en-US" sz="1600" dirty="0"/>
          </a:p>
        </p:txBody>
      </p:sp>
      <p:sp>
        <p:nvSpPr>
          <p:cNvPr id="79" name="TextBox 78">
            <a:extLst>
              <a:ext uri="{FF2B5EF4-FFF2-40B4-BE49-F238E27FC236}">
                <a16:creationId xmlns:a16="http://schemas.microsoft.com/office/drawing/2014/main" id="{DF301539-803D-9B70-DA75-3576E2E52812}"/>
              </a:ext>
            </a:extLst>
          </p:cNvPr>
          <p:cNvSpPr txBox="1"/>
          <p:nvPr/>
        </p:nvSpPr>
        <p:spPr>
          <a:xfrm>
            <a:off x="4778829" y="1280356"/>
            <a:ext cx="4181718" cy="338554"/>
          </a:xfrm>
          <a:prstGeom prst="rect">
            <a:avLst/>
          </a:prstGeom>
          <a:noFill/>
        </p:spPr>
        <p:txBody>
          <a:bodyPr wrap="square">
            <a:spAutoFit/>
          </a:bodyPr>
          <a:lstStyle/>
          <a:p>
            <a:pPr algn="r" rtl="1"/>
            <a:r>
              <a:rPr lang="ar-LY" sz="1600" dirty="0">
                <a:solidFill>
                  <a:schemeClr val="accent1"/>
                </a:solidFill>
                <a:latin typeface="Tajawal Black" panose="00000500000000000000" pitchFamily="2" charset="-78"/>
                <a:cs typeface="Tajawal Black" panose="00000500000000000000" pitchFamily="2" charset="-78"/>
              </a:rPr>
              <a:t>2 </a:t>
            </a:r>
            <a:r>
              <a:rPr lang="ar-LY" sz="1600" dirty="0" err="1">
                <a:solidFill>
                  <a:schemeClr val="accent1"/>
                </a:solidFill>
                <a:latin typeface="Tajawal Black" panose="00000500000000000000" pitchFamily="2" charset="-78"/>
                <a:cs typeface="Tajawal Black" panose="00000500000000000000" pitchFamily="2" charset="-78"/>
              </a:rPr>
              <a:t>ليبيانا</a:t>
            </a:r>
            <a:r>
              <a:rPr lang="ar-LY" sz="1600" dirty="0">
                <a:solidFill>
                  <a:schemeClr val="accent1"/>
                </a:solidFill>
                <a:latin typeface="Tajawal Black" panose="00000500000000000000" pitchFamily="2" charset="-78"/>
                <a:cs typeface="Tajawal Black" panose="00000500000000000000" pitchFamily="2" charset="-78"/>
              </a:rPr>
              <a:t> تقدم خدمات رقمية مواكبة</a:t>
            </a:r>
            <a:endParaRPr lang="en-US" sz="1600" dirty="0"/>
          </a:p>
        </p:txBody>
      </p:sp>
      <p:sp>
        <p:nvSpPr>
          <p:cNvPr id="81" name="TextBox 80">
            <a:extLst>
              <a:ext uri="{FF2B5EF4-FFF2-40B4-BE49-F238E27FC236}">
                <a16:creationId xmlns:a16="http://schemas.microsoft.com/office/drawing/2014/main" id="{07D92091-E1CF-98EB-8CEF-2CA8441AFD30}"/>
              </a:ext>
            </a:extLst>
          </p:cNvPr>
          <p:cNvSpPr txBox="1"/>
          <p:nvPr/>
        </p:nvSpPr>
        <p:spPr>
          <a:xfrm>
            <a:off x="2899391" y="3625692"/>
            <a:ext cx="6096000" cy="369332"/>
          </a:xfrm>
          <a:prstGeom prst="rect">
            <a:avLst/>
          </a:prstGeom>
          <a:noFill/>
        </p:spPr>
        <p:txBody>
          <a:bodyPr wrap="square">
            <a:spAutoFit/>
          </a:bodyPr>
          <a:lstStyle/>
          <a:p>
            <a:pPr algn="r" rtl="1"/>
            <a:r>
              <a:rPr lang="ar-LY" sz="1800" dirty="0">
                <a:solidFill>
                  <a:schemeClr val="accent1"/>
                </a:solidFill>
                <a:latin typeface="Tajawal Black" panose="00000500000000000000" pitchFamily="2" charset="-78"/>
                <a:cs typeface="Tajawal Black" panose="00000500000000000000" pitchFamily="2" charset="-78"/>
              </a:rPr>
              <a:t>3 </a:t>
            </a:r>
            <a:r>
              <a:rPr lang="ar-LY" sz="1800" dirty="0" err="1">
                <a:solidFill>
                  <a:schemeClr val="accent1"/>
                </a:solidFill>
                <a:latin typeface="Tajawal Black" panose="00000500000000000000" pitchFamily="2" charset="-78"/>
                <a:cs typeface="Tajawal Black" panose="00000500000000000000" pitchFamily="2" charset="-78"/>
              </a:rPr>
              <a:t>ليبيانا</a:t>
            </a:r>
            <a:r>
              <a:rPr lang="ar-LY" sz="1800" dirty="0">
                <a:solidFill>
                  <a:schemeClr val="accent1"/>
                </a:solidFill>
                <a:latin typeface="Tajawal Black" panose="00000500000000000000" pitchFamily="2" charset="-78"/>
                <a:cs typeface="Tajawal Black" panose="00000500000000000000" pitchFamily="2" charset="-78"/>
              </a:rPr>
              <a:t> شريك التحول الرقمي لكل القطاعات</a:t>
            </a:r>
            <a:endParaRPr lang="en-US" sz="1800" dirty="0"/>
          </a:p>
        </p:txBody>
      </p:sp>
      <p:sp>
        <p:nvSpPr>
          <p:cNvPr id="82" name="GVCLASSIFICATIONHEADER861682911">
            <a:extLst>
              <a:ext uri="{FF2B5EF4-FFF2-40B4-BE49-F238E27FC236}">
                <a16:creationId xmlns:a16="http://schemas.microsoft.com/office/drawing/2014/main" id="{9BFE13D0-A447-1D86-E38B-AFE0D991744D}"/>
              </a:ext>
            </a:extLst>
          </p:cNvPr>
          <p:cNvSpPr txBox="1"/>
          <p:nvPr/>
        </p:nvSpPr>
        <p:spPr>
          <a:xfrm>
            <a:off x="0" y="0"/>
            <a:ext cx="12192000" cy="369332"/>
          </a:xfrm>
          <a:prstGeom prst="rect">
            <a:avLst/>
          </a:prstGeom>
          <a:noFill/>
        </p:spPr>
        <p:txBody>
          <a:bodyPr vert="horz" wrap="square" rtlCol="0">
            <a:spAutoFit/>
          </a:bodyPr>
          <a:lstStyle/>
          <a:p>
            <a:endParaRPr lang="en-US"/>
          </a:p>
        </p:txBody>
      </p:sp>
      <p:sp>
        <p:nvSpPr>
          <p:cNvPr id="84" name="TextBox 83">
            <a:extLst>
              <a:ext uri="{FF2B5EF4-FFF2-40B4-BE49-F238E27FC236}">
                <a16:creationId xmlns:a16="http://schemas.microsoft.com/office/drawing/2014/main" id="{4641B9E0-A455-E229-2659-8FE6479AF095}"/>
              </a:ext>
            </a:extLst>
          </p:cNvPr>
          <p:cNvSpPr txBox="1"/>
          <p:nvPr/>
        </p:nvSpPr>
        <p:spPr>
          <a:xfrm>
            <a:off x="868678" y="4490446"/>
            <a:ext cx="4600140" cy="1107996"/>
          </a:xfrm>
          <a:prstGeom prst="rect">
            <a:avLst/>
          </a:prstGeom>
          <a:noFill/>
        </p:spPr>
        <p:txBody>
          <a:bodyPr wrap="square">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تصميم محفظة خدمات تناسب احتياجات كل قطاع ،من خلال شريك استراتيجي لديه الخبرة في هذه الخدمات</a:t>
            </a:r>
          </a:p>
          <a:p>
            <a:pPr algn="just" rtl="1"/>
            <a:r>
              <a:rPr lang="ar-LY" sz="1100" u="sng" dirty="0">
                <a:solidFill>
                  <a:schemeClr val="bg1"/>
                </a:solidFill>
                <a:latin typeface="Tajawal Light" panose="00000400000000000000" pitchFamily="2" charset="-78"/>
                <a:cs typeface="Tajawal Light" panose="00000400000000000000" pitchFamily="2" charset="-78"/>
              </a:rPr>
              <a:t>القطاعات المستهدفة </a:t>
            </a:r>
            <a:r>
              <a:rPr lang="ar-LY" sz="1100" dirty="0">
                <a:solidFill>
                  <a:schemeClr val="bg1"/>
                </a:solidFill>
                <a:latin typeface="Tajawal Light" panose="00000400000000000000" pitchFamily="2" charset="-78"/>
                <a:cs typeface="Tajawal Light" panose="00000400000000000000" pitchFamily="2" charset="-78"/>
              </a:rPr>
              <a:t>: كل القطاعات الحكومية النفط والبيئة والكهرباء  الزراعة و الداخلية وغيرها، وأيضا القطاع الخاص بمختلف احتياجاته</a:t>
            </a:r>
          </a:p>
          <a:p>
            <a:pPr algn="just" rtl="1"/>
            <a:r>
              <a:rPr lang="ar-LY" sz="1100" u="sng" dirty="0">
                <a:solidFill>
                  <a:schemeClr val="bg1"/>
                </a:solidFill>
                <a:latin typeface="Tajawal Light" panose="00000400000000000000" pitchFamily="2" charset="-78"/>
                <a:cs typeface="Tajawal Light" panose="00000400000000000000" pitchFamily="2" charset="-78"/>
              </a:rPr>
              <a:t>الخدمات، إدارة مباني</a:t>
            </a:r>
            <a:r>
              <a:rPr lang="ar-LY" sz="1100" dirty="0">
                <a:solidFill>
                  <a:schemeClr val="bg1"/>
                </a:solidFill>
                <a:latin typeface="Tajawal Light" panose="00000400000000000000" pitchFamily="2" charset="-78"/>
                <a:cs typeface="Tajawal Light" panose="00000400000000000000" pitchFamily="2" charset="-78"/>
              </a:rPr>
              <a:t>، تحكم ومراقبة عن بعد، صيانة عن بعد، إدارة مصانع، إدارة مخازن، إدارة مواقف سيارات، الري عن بعد، الرعاية الصحية عن بعد</a:t>
            </a:r>
          </a:p>
        </p:txBody>
      </p:sp>
      <p:sp>
        <p:nvSpPr>
          <p:cNvPr id="90" name="Rounded Rectangle 103">
            <a:extLst>
              <a:ext uri="{FF2B5EF4-FFF2-40B4-BE49-F238E27FC236}">
                <a16:creationId xmlns:a16="http://schemas.microsoft.com/office/drawing/2014/main" id="{9499182B-D394-826D-236B-40CB8C9EE75B}"/>
              </a:ext>
            </a:extLst>
          </p:cNvPr>
          <p:cNvSpPr/>
          <p:nvPr/>
        </p:nvSpPr>
        <p:spPr>
          <a:xfrm>
            <a:off x="9737181" y="1719251"/>
            <a:ext cx="2024491" cy="1161522"/>
          </a:xfrm>
          <a:prstGeom prst="roundRect">
            <a:avLst/>
          </a:prstGeom>
          <a:solidFill>
            <a:srgbClr val="50BEC6"/>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91" name="Rounded Rectangle 104">
            <a:extLst>
              <a:ext uri="{FF2B5EF4-FFF2-40B4-BE49-F238E27FC236}">
                <a16:creationId xmlns:a16="http://schemas.microsoft.com/office/drawing/2014/main" id="{C569FAF1-DC9D-F91C-F6B9-D2FDD7CB86FE}"/>
              </a:ext>
            </a:extLst>
          </p:cNvPr>
          <p:cNvSpPr/>
          <p:nvPr/>
        </p:nvSpPr>
        <p:spPr>
          <a:xfrm>
            <a:off x="9736582" y="1718147"/>
            <a:ext cx="2024483" cy="358201"/>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LY" sz="1400" b="1" dirty="0">
                <a:solidFill>
                  <a:schemeClr val="bg1"/>
                </a:solidFill>
                <a:latin typeface="Tajawal Light" panose="00000400000000000000" pitchFamily="2" charset="-78"/>
                <a:cs typeface="Tajawal Light" panose="00000400000000000000" pitchFamily="2" charset="-78"/>
              </a:rPr>
              <a:t>دراسة السوق</a:t>
            </a:r>
            <a:endParaRPr lang="en-US" sz="1400" b="1" dirty="0">
              <a:solidFill>
                <a:schemeClr val="bg1"/>
              </a:solidFill>
              <a:latin typeface="Tajawal Light" panose="00000400000000000000" pitchFamily="2" charset="-78"/>
              <a:cs typeface="Tajawal Light" panose="00000400000000000000" pitchFamily="2" charset="-78"/>
            </a:endParaRPr>
          </a:p>
        </p:txBody>
      </p:sp>
      <p:sp>
        <p:nvSpPr>
          <p:cNvPr id="92" name="TextBox 91">
            <a:extLst>
              <a:ext uri="{FF2B5EF4-FFF2-40B4-BE49-F238E27FC236}">
                <a16:creationId xmlns:a16="http://schemas.microsoft.com/office/drawing/2014/main" id="{72EE2FB2-4B3A-F0B3-1FA6-3EF064A70200}"/>
              </a:ext>
            </a:extLst>
          </p:cNvPr>
          <p:cNvSpPr txBox="1"/>
          <p:nvPr/>
        </p:nvSpPr>
        <p:spPr>
          <a:xfrm>
            <a:off x="9845356" y="2181107"/>
            <a:ext cx="1806351" cy="600164"/>
          </a:xfrm>
          <a:prstGeom prst="rect">
            <a:avLst/>
          </a:prstGeom>
          <a:noFill/>
        </p:spPr>
        <p:txBody>
          <a:bodyPr wrap="square" rtlCol="0">
            <a:spAutoFit/>
          </a:bodyPr>
          <a:lstStyle/>
          <a:p>
            <a:pPr algn="ctr"/>
            <a:r>
              <a:rPr lang="ar-LY" sz="1100" dirty="0">
                <a:solidFill>
                  <a:schemeClr val="bg1"/>
                </a:solidFill>
                <a:latin typeface="Tajawal Light" panose="00000400000000000000" pitchFamily="2" charset="-78"/>
                <a:cs typeface="Tajawal Light" panose="00000400000000000000" pitchFamily="2" charset="-78"/>
              </a:rPr>
              <a:t>دراسة السوق المحلي والأسواق المجاورة لتحديد حجم الفرص والاولويات</a:t>
            </a:r>
            <a:endParaRPr lang="en-US" sz="1100" dirty="0">
              <a:solidFill>
                <a:schemeClr val="bg1"/>
              </a:solidFill>
              <a:latin typeface="Tajawal Light" panose="00000400000000000000" pitchFamily="2" charset="-78"/>
              <a:cs typeface="Tajawal Light" panose="00000400000000000000" pitchFamily="2" charset="-78"/>
            </a:endParaRPr>
          </a:p>
        </p:txBody>
      </p:sp>
      <p:sp>
        <p:nvSpPr>
          <p:cNvPr id="93" name="TextBox 92">
            <a:extLst>
              <a:ext uri="{FF2B5EF4-FFF2-40B4-BE49-F238E27FC236}">
                <a16:creationId xmlns:a16="http://schemas.microsoft.com/office/drawing/2014/main" id="{9EF094E3-3679-982F-6507-503632FF85B7}"/>
              </a:ext>
            </a:extLst>
          </p:cNvPr>
          <p:cNvSpPr txBox="1"/>
          <p:nvPr/>
        </p:nvSpPr>
        <p:spPr>
          <a:xfrm>
            <a:off x="2701142" y="687593"/>
            <a:ext cx="5139110" cy="261610"/>
          </a:xfrm>
          <a:prstGeom prst="rect">
            <a:avLst/>
          </a:prstGeom>
          <a:noFill/>
        </p:spPr>
        <p:txBody>
          <a:bodyPr wrap="square">
            <a:spAutoFit/>
          </a:bodyPr>
          <a:lstStyle/>
          <a:p>
            <a:pPr algn="r" rtl="1"/>
            <a:r>
              <a:rPr lang="ar-LY" sz="1100" dirty="0">
                <a:latin typeface="Tajawal Light" panose="00000400000000000000" pitchFamily="2" charset="-78"/>
                <a:cs typeface="Tajawal Light" panose="00000400000000000000" pitchFamily="2" charset="-78"/>
              </a:rPr>
              <a:t>التحول من شركة اتصالات تقليدية لمزود حلول رقمية</a:t>
            </a:r>
            <a:endParaRPr lang="en-US" sz="1100" dirty="0">
              <a:latin typeface="Tajawal Light" panose="00000400000000000000" pitchFamily="2" charset="-78"/>
              <a:cs typeface="Tajawal Light" panose="00000400000000000000" pitchFamily="2" charset="-78"/>
            </a:endParaRPr>
          </a:p>
        </p:txBody>
      </p:sp>
    </p:spTree>
    <p:extLst>
      <p:ext uri="{BB962C8B-B14F-4D97-AF65-F5344CB8AC3E}">
        <p14:creationId xmlns:p14="http://schemas.microsoft.com/office/powerpoint/2010/main" val="321735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96787EA-989D-F4C4-2C56-FC8C46AFCB2C}"/>
              </a:ext>
            </a:extLst>
          </p:cNvPr>
          <p:cNvSpPr/>
          <p:nvPr/>
        </p:nvSpPr>
        <p:spPr>
          <a:xfrm>
            <a:off x="380999" y="1026974"/>
            <a:ext cx="11592920" cy="17731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VCLASSIFICATIONHEADER1234692067">
            <a:extLst>
              <a:ext uri="{FF2B5EF4-FFF2-40B4-BE49-F238E27FC236}">
                <a16:creationId xmlns:a16="http://schemas.microsoft.com/office/drawing/2014/main" id="{DFC03AD1-5334-C80B-FA07-F9118FFB62B1}"/>
              </a:ext>
            </a:extLst>
          </p:cNvPr>
          <p:cNvSpPr txBox="1"/>
          <p:nvPr/>
        </p:nvSpPr>
        <p:spPr>
          <a:xfrm>
            <a:off x="0" y="0"/>
            <a:ext cx="12192000" cy="369332"/>
          </a:xfrm>
          <a:prstGeom prst="rect">
            <a:avLst/>
          </a:prstGeom>
          <a:noFill/>
        </p:spPr>
        <p:txBody>
          <a:bodyPr vert="horz" wrap="square" rtlCol="0">
            <a:spAutoFit/>
          </a:bodyPr>
          <a:lstStyle/>
          <a:p>
            <a:endParaRPr lang="en-US"/>
          </a:p>
        </p:txBody>
      </p:sp>
      <p:sp>
        <p:nvSpPr>
          <p:cNvPr id="3" name="Arrow: Pentagon 2">
            <a:extLst>
              <a:ext uri="{FF2B5EF4-FFF2-40B4-BE49-F238E27FC236}">
                <a16:creationId xmlns:a16="http://schemas.microsoft.com/office/drawing/2014/main" id="{F852EE63-9610-AE42-DD7E-15372A0D9B21}"/>
              </a:ext>
            </a:extLst>
          </p:cNvPr>
          <p:cNvSpPr/>
          <p:nvPr/>
        </p:nvSpPr>
        <p:spPr>
          <a:xfrm rot="10800000" flipV="1">
            <a:off x="304800" y="278226"/>
            <a:ext cx="11669119" cy="470522"/>
          </a:xfrm>
          <a:prstGeom prst="homePlate">
            <a:avLst>
              <a:gd name="adj" fmla="val 5047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dirty="0">
                <a:solidFill>
                  <a:schemeClr val="accent1"/>
                </a:solidFill>
                <a:latin typeface="Tajawal Black" panose="00000500000000000000" pitchFamily="2" charset="-78"/>
                <a:cs typeface="Tajawal Black" panose="00000500000000000000" pitchFamily="2" charset="-78"/>
              </a:rPr>
              <a:t>تحسين الربحية </a:t>
            </a:r>
            <a:endParaRPr lang="en-US" dirty="0">
              <a:solidFill>
                <a:schemeClr val="accent1"/>
              </a:solidFill>
              <a:latin typeface="Tajawal Black" panose="00000500000000000000" pitchFamily="2" charset="-78"/>
              <a:cs typeface="Tajawal Black" panose="00000500000000000000" pitchFamily="2" charset="-78"/>
            </a:endParaRPr>
          </a:p>
        </p:txBody>
      </p:sp>
      <p:pic>
        <p:nvPicPr>
          <p:cNvPr id="6" name="Picture 5">
            <a:extLst>
              <a:ext uri="{FF2B5EF4-FFF2-40B4-BE49-F238E27FC236}">
                <a16:creationId xmlns:a16="http://schemas.microsoft.com/office/drawing/2014/main" id="{D9649F03-89A7-1CBA-04C9-C54FCD957442}"/>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rcRect l="37054" t="27937" r="34821" b="35873"/>
          <a:stretch>
            <a:fillRect/>
          </a:stretch>
        </p:blipFill>
        <p:spPr>
          <a:xfrm>
            <a:off x="9013371" y="1026974"/>
            <a:ext cx="2797630" cy="1773163"/>
          </a:xfrm>
          <a:prstGeom prst="rect">
            <a:avLst/>
          </a:prstGeom>
          <a:ln>
            <a:noFill/>
          </a:ln>
          <a:effectLst>
            <a:softEdge rad="112500"/>
          </a:effectLst>
        </p:spPr>
      </p:pic>
      <p:sp>
        <p:nvSpPr>
          <p:cNvPr id="10" name="TextBox 9">
            <a:extLst>
              <a:ext uri="{FF2B5EF4-FFF2-40B4-BE49-F238E27FC236}">
                <a16:creationId xmlns:a16="http://schemas.microsoft.com/office/drawing/2014/main" id="{17D7ECCE-1D5E-BEA7-F361-99391708791C}"/>
              </a:ext>
            </a:extLst>
          </p:cNvPr>
          <p:cNvSpPr txBox="1"/>
          <p:nvPr/>
        </p:nvSpPr>
        <p:spPr>
          <a:xfrm>
            <a:off x="1545772" y="1128725"/>
            <a:ext cx="7347858" cy="1569660"/>
          </a:xfrm>
          <a:prstGeom prst="rect">
            <a:avLst/>
          </a:prstGeom>
          <a:noFill/>
        </p:spPr>
        <p:txBody>
          <a:bodyPr wrap="square">
            <a:spAutoFit/>
          </a:bodyPr>
          <a:lstStyle/>
          <a:p>
            <a:pPr algn="r" rtl="1"/>
            <a:r>
              <a:rPr lang="ar-LY" sz="1200" dirty="0">
                <a:latin typeface="Tajawal Light" panose="00000400000000000000" pitchFamily="2" charset="-78"/>
                <a:cs typeface="Tajawal Light" panose="00000400000000000000" pitchFamily="2" charset="-78"/>
              </a:rPr>
              <a:t>يشير تقرير  ديوان المحاسبة لسنة 2024 لتدني أرباح الشركة بشكل كبير وملحوظ </a:t>
            </a:r>
            <a:r>
              <a:rPr lang="ar-LY" sz="1200" dirty="0" err="1">
                <a:latin typeface="Tajawal Light" panose="00000400000000000000" pitchFamily="2" charset="-78"/>
                <a:cs typeface="Tajawal Light" panose="00000400000000000000" pitchFamily="2" charset="-78"/>
              </a:rPr>
              <a:t>حبث</a:t>
            </a:r>
            <a:r>
              <a:rPr lang="ar-LY" sz="1200" dirty="0">
                <a:latin typeface="Tajawal Light" panose="00000400000000000000" pitchFamily="2" charset="-78"/>
                <a:cs typeface="Tajawal Light" panose="00000400000000000000" pitchFamily="2" charset="-78"/>
              </a:rPr>
              <a:t> لم تتجاوز في سنة 2024 ما قيمته 19 مليون د ل ليبي فقط</a:t>
            </a:r>
          </a:p>
          <a:p>
            <a:pPr algn="r" rtl="1"/>
            <a:endParaRPr lang="ar-LY" sz="1200" dirty="0">
              <a:latin typeface="Tajawal Light" panose="00000400000000000000" pitchFamily="2" charset="-78"/>
              <a:cs typeface="Tajawal Light" panose="00000400000000000000" pitchFamily="2" charset="-78"/>
            </a:endParaRPr>
          </a:p>
          <a:p>
            <a:pPr algn="r" rtl="1"/>
            <a:r>
              <a:rPr lang="ar-LY" sz="1200" dirty="0">
                <a:latin typeface="Tajawal Light" panose="00000400000000000000" pitchFamily="2" charset="-78"/>
                <a:cs typeface="Tajawal Light" panose="00000400000000000000" pitchFamily="2" charset="-78"/>
              </a:rPr>
              <a:t>، وأشار التقرير للعقود المبرمة مع بعض شركات الخدمات المضافة بنسب عالية لصالحها ووكلاء حصريين حيث عبر التقرير ان هذا يعد "" ا</a:t>
            </a:r>
            <a:r>
              <a:rPr lang="ar-LY" sz="1200" b="1" dirty="0">
                <a:latin typeface="Tajawal Light" panose="00000400000000000000" pitchFamily="2" charset="-78"/>
                <a:cs typeface="Tajawal Light" panose="00000400000000000000" pitchFamily="2" charset="-78"/>
              </a:rPr>
              <a:t>هدار أموال الشركة وتحقيق منافع مالية للغير "</a:t>
            </a:r>
          </a:p>
          <a:p>
            <a:pPr algn="r" rtl="1"/>
            <a:endParaRPr lang="ar-LY" sz="1200" dirty="0">
              <a:latin typeface="Tajawal Light" panose="00000400000000000000" pitchFamily="2" charset="-78"/>
              <a:cs typeface="Tajawal Light" panose="00000400000000000000" pitchFamily="2" charset="-78"/>
            </a:endParaRPr>
          </a:p>
          <a:p>
            <a:pPr algn="r" rtl="1"/>
            <a:r>
              <a:rPr lang="ar-LY" sz="1200" dirty="0">
                <a:latin typeface="Tajawal Light" panose="00000400000000000000" pitchFamily="2" charset="-78"/>
                <a:cs typeface="Tajawal Light" panose="00000400000000000000" pitchFamily="2" charset="-78"/>
              </a:rPr>
              <a:t>بالإضافة لزيادة وارتفاع غير مبرر في قيمة الخصم المسموح مما جعل القيمة تزيد عن الأرباح الامر الذي يعد وفق تعبير </a:t>
            </a:r>
            <a:r>
              <a:rPr lang="ar-LY" sz="1200" b="1" dirty="0">
                <a:latin typeface="Tajawal Light" panose="00000400000000000000" pitchFamily="2" charset="-78"/>
                <a:cs typeface="Tajawal Light" panose="00000400000000000000" pitchFamily="2" charset="-78"/>
              </a:rPr>
              <a:t>ا</a:t>
            </a:r>
            <a:r>
              <a:rPr lang="ar-LY" sz="1200" dirty="0">
                <a:latin typeface="Tajawal Light" panose="00000400000000000000" pitchFamily="2" charset="-78"/>
                <a:cs typeface="Tajawal Light" panose="00000400000000000000" pitchFamily="2" charset="-78"/>
              </a:rPr>
              <a:t>لتقرير </a:t>
            </a:r>
            <a:r>
              <a:rPr lang="ar-LY" sz="1200" b="1" dirty="0">
                <a:latin typeface="Tajawal Light" panose="00000400000000000000" pitchFamily="2" charset="-78"/>
                <a:cs typeface="Tajawal Light" panose="00000400000000000000" pitchFamily="2" charset="-78"/>
              </a:rPr>
              <a:t>"عدم اتساق السياسات المالية والتسويقية للشركة مع أهدافها الأساسية المتمثلة في الربحية</a:t>
            </a:r>
            <a:r>
              <a:rPr lang="ar-LY" sz="1200" dirty="0">
                <a:latin typeface="Tajawal Light" panose="00000400000000000000" pitchFamily="2" charset="-78"/>
                <a:cs typeface="Tajawal Light" panose="00000400000000000000" pitchFamily="2" charset="-78"/>
              </a:rPr>
              <a:t>"</a:t>
            </a:r>
          </a:p>
        </p:txBody>
      </p:sp>
      <p:sp>
        <p:nvSpPr>
          <p:cNvPr id="13" name="TextBox 12">
            <a:extLst>
              <a:ext uri="{FF2B5EF4-FFF2-40B4-BE49-F238E27FC236}">
                <a16:creationId xmlns:a16="http://schemas.microsoft.com/office/drawing/2014/main" id="{D9446668-62D3-EB30-C237-88008EA0CC1F}"/>
              </a:ext>
            </a:extLst>
          </p:cNvPr>
          <p:cNvSpPr txBox="1"/>
          <p:nvPr/>
        </p:nvSpPr>
        <p:spPr>
          <a:xfrm>
            <a:off x="2258568" y="3105835"/>
            <a:ext cx="9715350" cy="461665"/>
          </a:xfrm>
          <a:prstGeom prst="rect">
            <a:avLst/>
          </a:prstGeom>
          <a:noFill/>
        </p:spPr>
        <p:txBody>
          <a:bodyPr wrap="square">
            <a:spAutoFit/>
          </a:bodyPr>
          <a:lstStyle/>
          <a:p>
            <a:pPr algn="r" rtl="1"/>
            <a:r>
              <a:rPr lang="ar-LY" sz="1200" dirty="0">
                <a:solidFill>
                  <a:schemeClr val="accent1"/>
                </a:solidFill>
                <a:latin typeface="Tajawal Black" panose="00000500000000000000" pitchFamily="2" charset="-78"/>
                <a:cs typeface="Tajawal Black" panose="00000500000000000000" pitchFamily="2" charset="-78"/>
              </a:rPr>
              <a:t>من جانبنا اتخذت الإدارة التجارية عدة خطوات في سبيل مراجعة وتحسين العقود المبرمة بما يحقق الربح العادل للشركة وهي كالتالي :</a:t>
            </a:r>
          </a:p>
          <a:p>
            <a:pPr algn="r" rtl="1"/>
            <a:endParaRPr lang="en-US" sz="1200" dirty="0">
              <a:solidFill>
                <a:schemeClr val="accent1"/>
              </a:solidFill>
              <a:latin typeface="Tajawal Black" panose="00000500000000000000" pitchFamily="2" charset="-78"/>
              <a:cs typeface="Tajawal Black" panose="00000500000000000000" pitchFamily="2" charset="-78"/>
            </a:endParaRPr>
          </a:p>
        </p:txBody>
      </p:sp>
      <p:grpSp>
        <p:nvGrpSpPr>
          <p:cNvPr id="14" name="Group 13">
            <a:extLst>
              <a:ext uri="{FF2B5EF4-FFF2-40B4-BE49-F238E27FC236}">
                <a16:creationId xmlns:a16="http://schemas.microsoft.com/office/drawing/2014/main" id="{57D9248E-991F-5571-7B53-56001CF8EECB}"/>
              </a:ext>
            </a:extLst>
          </p:cNvPr>
          <p:cNvGrpSpPr/>
          <p:nvPr/>
        </p:nvGrpSpPr>
        <p:grpSpPr>
          <a:xfrm>
            <a:off x="10204704" y="3643142"/>
            <a:ext cx="1687324" cy="1584346"/>
            <a:chOff x="7434546" y="1876777"/>
            <a:chExt cx="1003556" cy="1469935"/>
          </a:xfrm>
        </p:grpSpPr>
        <p:grpSp>
          <p:nvGrpSpPr>
            <p:cNvPr id="15" name="Group 14">
              <a:extLst>
                <a:ext uri="{FF2B5EF4-FFF2-40B4-BE49-F238E27FC236}">
                  <a16:creationId xmlns:a16="http://schemas.microsoft.com/office/drawing/2014/main" id="{CFEA7F0A-3FF1-AE67-DF01-1ABD706719C4}"/>
                </a:ext>
              </a:extLst>
            </p:cNvPr>
            <p:cNvGrpSpPr/>
            <p:nvPr/>
          </p:nvGrpSpPr>
          <p:grpSpPr>
            <a:xfrm>
              <a:off x="7434546" y="1876777"/>
              <a:ext cx="1003556" cy="1469935"/>
              <a:chOff x="7393469" y="1745785"/>
              <a:chExt cx="1003556" cy="1689156"/>
            </a:xfrm>
          </p:grpSpPr>
          <p:grpSp>
            <p:nvGrpSpPr>
              <p:cNvPr id="17" name="Group 16">
                <a:extLst>
                  <a:ext uri="{FF2B5EF4-FFF2-40B4-BE49-F238E27FC236}">
                    <a16:creationId xmlns:a16="http://schemas.microsoft.com/office/drawing/2014/main" id="{14813AE8-EC2B-1D9B-7A1B-178EEB64655A}"/>
                  </a:ext>
                </a:extLst>
              </p:cNvPr>
              <p:cNvGrpSpPr/>
              <p:nvPr/>
            </p:nvGrpSpPr>
            <p:grpSpPr>
              <a:xfrm>
                <a:off x="7393469" y="1745785"/>
                <a:ext cx="1003556" cy="1689156"/>
                <a:chOff x="7393469" y="1745785"/>
                <a:chExt cx="1003556" cy="1689156"/>
              </a:xfrm>
            </p:grpSpPr>
            <p:sp>
              <p:nvSpPr>
                <p:cNvPr id="19" name="Rounded Rectangle 109">
                  <a:extLst>
                    <a:ext uri="{FF2B5EF4-FFF2-40B4-BE49-F238E27FC236}">
                      <a16:creationId xmlns:a16="http://schemas.microsoft.com/office/drawing/2014/main" id="{694F619C-A013-BE31-6844-DBF579E59C7D}"/>
                    </a:ext>
                  </a:extLst>
                </p:cNvPr>
                <p:cNvSpPr/>
                <p:nvPr/>
              </p:nvSpPr>
              <p:spPr>
                <a:xfrm>
                  <a:off x="7393935" y="1747387"/>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77" name="Rounded Rectangle 110">
                  <a:extLst>
                    <a:ext uri="{FF2B5EF4-FFF2-40B4-BE49-F238E27FC236}">
                      <a16:creationId xmlns:a16="http://schemas.microsoft.com/office/drawing/2014/main" id="{8B2250A5-D8ED-D6FB-C421-08ED4BDCC1E0}"/>
                    </a:ext>
                  </a:extLst>
                </p:cNvPr>
                <p:cNvSpPr/>
                <p:nvPr/>
              </p:nvSpPr>
              <p:spPr>
                <a:xfrm>
                  <a:off x="7393469" y="1745785"/>
                  <a:ext cx="1003086" cy="538663"/>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Tajawal Light" panose="00000400000000000000" pitchFamily="2" charset="-78"/>
                    <a:cs typeface="Tajawal Light" panose="00000400000000000000" pitchFamily="2" charset="-78"/>
                  </a:endParaRPr>
                </a:p>
              </p:txBody>
            </p:sp>
          </p:grpSp>
          <p:sp>
            <p:nvSpPr>
              <p:cNvPr id="18" name="TextBox 17">
                <a:extLst>
                  <a:ext uri="{FF2B5EF4-FFF2-40B4-BE49-F238E27FC236}">
                    <a16:creationId xmlns:a16="http://schemas.microsoft.com/office/drawing/2014/main" id="{6AC886B7-4C12-3F5F-EF65-26DB5B1D13CB}"/>
                  </a:ext>
                </a:extLst>
              </p:cNvPr>
              <p:cNvSpPr txBox="1"/>
              <p:nvPr/>
            </p:nvSpPr>
            <p:spPr>
              <a:xfrm>
                <a:off x="7419431" y="2390316"/>
                <a:ext cx="959291" cy="639867"/>
              </a:xfrm>
              <a:prstGeom prst="rect">
                <a:avLst/>
              </a:prstGeom>
              <a:noFill/>
            </p:spPr>
            <p:txBody>
              <a:bodyPr wrap="square" rtlCol="0">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تعديل العقد بإلغاء الحصرية  وتحسين نسبة المشاركة  برفعها 3%</a:t>
                </a:r>
                <a:endParaRPr lang="en-US" sz="1100" dirty="0">
                  <a:solidFill>
                    <a:schemeClr val="bg1"/>
                  </a:solidFill>
                  <a:latin typeface="Tajawal Light" panose="00000400000000000000" pitchFamily="2" charset="-78"/>
                  <a:cs typeface="Tajawal Light" panose="00000400000000000000" pitchFamily="2" charset="-78"/>
                </a:endParaRPr>
              </a:p>
            </p:txBody>
          </p:sp>
        </p:grpSp>
        <p:sp>
          <p:nvSpPr>
            <p:cNvPr id="16" name="TextBox 15">
              <a:extLst>
                <a:ext uri="{FF2B5EF4-FFF2-40B4-BE49-F238E27FC236}">
                  <a16:creationId xmlns:a16="http://schemas.microsoft.com/office/drawing/2014/main" id="{F5B849D9-B78C-7096-D6ED-B62902D65E3B}"/>
                </a:ext>
              </a:extLst>
            </p:cNvPr>
            <p:cNvSpPr txBox="1"/>
            <p:nvPr/>
          </p:nvSpPr>
          <p:spPr>
            <a:xfrm>
              <a:off x="7444102" y="1954630"/>
              <a:ext cx="979212" cy="485437"/>
            </a:xfrm>
            <a:prstGeom prst="rect">
              <a:avLst/>
            </a:prstGeom>
            <a:noFill/>
          </p:spPr>
          <p:txBody>
            <a:bodyPr wrap="square" rtlCol="0">
              <a:spAutoFit/>
            </a:bodyPr>
            <a:lstStyle/>
            <a:p>
              <a:pPr algn="ctr"/>
              <a:r>
                <a:rPr lang="ar-LY" sz="1400" b="1" dirty="0" err="1">
                  <a:solidFill>
                    <a:schemeClr val="bg1"/>
                  </a:solidFill>
                  <a:latin typeface="Tajawal Light" panose="00000400000000000000" pitchFamily="2" charset="-78"/>
                  <a:cs typeface="Tajawal Light" panose="00000400000000000000" pitchFamily="2" charset="-78"/>
                </a:rPr>
                <a:t>تعديلعقد</a:t>
              </a:r>
              <a:r>
                <a:rPr lang="ar-LY" sz="1400" b="1" dirty="0">
                  <a:solidFill>
                    <a:schemeClr val="bg1"/>
                  </a:solidFill>
                  <a:latin typeface="Tajawal Light" panose="00000400000000000000" pitchFamily="2" charset="-78"/>
                  <a:cs typeface="Tajawal Light" panose="00000400000000000000" pitchFamily="2" charset="-78"/>
                </a:rPr>
                <a:t> شركة ابتكار</a:t>
              </a:r>
              <a:endParaRPr lang="en-US" sz="1400" b="1" dirty="0">
                <a:solidFill>
                  <a:schemeClr val="bg1"/>
                </a:solidFill>
                <a:latin typeface="Tajawal Light" panose="00000400000000000000" pitchFamily="2" charset="-78"/>
                <a:cs typeface="Tajawal Light" panose="00000400000000000000" pitchFamily="2" charset="-78"/>
              </a:endParaRPr>
            </a:p>
          </p:txBody>
        </p:sp>
      </p:grpSp>
      <p:grpSp>
        <p:nvGrpSpPr>
          <p:cNvPr id="78" name="Group 77">
            <a:extLst>
              <a:ext uri="{FF2B5EF4-FFF2-40B4-BE49-F238E27FC236}">
                <a16:creationId xmlns:a16="http://schemas.microsoft.com/office/drawing/2014/main" id="{AABF34F7-38DE-E847-8FE2-3EB431447F74}"/>
              </a:ext>
            </a:extLst>
          </p:cNvPr>
          <p:cNvGrpSpPr/>
          <p:nvPr/>
        </p:nvGrpSpPr>
        <p:grpSpPr>
          <a:xfrm>
            <a:off x="8434700" y="3643142"/>
            <a:ext cx="1687324" cy="1584346"/>
            <a:chOff x="7434546" y="1876777"/>
            <a:chExt cx="1003556" cy="1469935"/>
          </a:xfrm>
        </p:grpSpPr>
        <p:grpSp>
          <p:nvGrpSpPr>
            <p:cNvPr id="79" name="Group 78">
              <a:extLst>
                <a:ext uri="{FF2B5EF4-FFF2-40B4-BE49-F238E27FC236}">
                  <a16:creationId xmlns:a16="http://schemas.microsoft.com/office/drawing/2014/main" id="{9F9DA5D0-F2B2-2265-DF99-D837B2B5157B}"/>
                </a:ext>
              </a:extLst>
            </p:cNvPr>
            <p:cNvGrpSpPr/>
            <p:nvPr/>
          </p:nvGrpSpPr>
          <p:grpSpPr>
            <a:xfrm>
              <a:off x="7434546" y="1876777"/>
              <a:ext cx="1003556" cy="1469935"/>
              <a:chOff x="7393469" y="1745785"/>
              <a:chExt cx="1003556" cy="1689156"/>
            </a:xfrm>
          </p:grpSpPr>
          <p:grpSp>
            <p:nvGrpSpPr>
              <p:cNvPr id="81" name="Group 80">
                <a:extLst>
                  <a:ext uri="{FF2B5EF4-FFF2-40B4-BE49-F238E27FC236}">
                    <a16:creationId xmlns:a16="http://schemas.microsoft.com/office/drawing/2014/main" id="{DA836941-F1C8-DAD4-DD40-0D47D73C528E}"/>
                  </a:ext>
                </a:extLst>
              </p:cNvPr>
              <p:cNvGrpSpPr/>
              <p:nvPr/>
            </p:nvGrpSpPr>
            <p:grpSpPr>
              <a:xfrm>
                <a:off x="7393469" y="1745785"/>
                <a:ext cx="1003556" cy="1689156"/>
                <a:chOff x="7393469" y="1745785"/>
                <a:chExt cx="1003556" cy="1689156"/>
              </a:xfrm>
            </p:grpSpPr>
            <p:sp>
              <p:nvSpPr>
                <p:cNvPr id="83" name="Rounded Rectangle 109">
                  <a:extLst>
                    <a:ext uri="{FF2B5EF4-FFF2-40B4-BE49-F238E27FC236}">
                      <a16:creationId xmlns:a16="http://schemas.microsoft.com/office/drawing/2014/main" id="{B1FF20C5-F714-314E-B1F3-A989862D027F}"/>
                    </a:ext>
                  </a:extLst>
                </p:cNvPr>
                <p:cNvSpPr/>
                <p:nvPr/>
              </p:nvSpPr>
              <p:spPr>
                <a:xfrm>
                  <a:off x="7393935" y="1747387"/>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84" name="Rounded Rectangle 110">
                  <a:extLst>
                    <a:ext uri="{FF2B5EF4-FFF2-40B4-BE49-F238E27FC236}">
                      <a16:creationId xmlns:a16="http://schemas.microsoft.com/office/drawing/2014/main" id="{5E648C56-BED7-F345-85B3-A8E1096DC815}"/>
                    </a:ext>
                  </a:extLst>
                </p:cNvPr>
                <p:cNvSpPr/>
                <p:nvPr/>
              </p:nvSpPr>
              <p:spPr>
                <a:xfrm>
                  <a:off x="7393469" y="1745785"/>
                  <a:ext cx="1003086" cy="538663"/>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Tajawal Light" panose="00000400000000000000" pitchFamily="2" charset="-78"/>
                    <a:cs typeface="Tajawal Light" panose="00000400000000000000" pitchFamily="2" charset="-78"/>
                  </a:endParaRPr>
                </a:p>
              </p:txBody>
            </p:sp>
          </p:grpSp>
          <p:sp>
            <p:nvSpPr>
              <p:cNvPr id="82" name="TextBox 81">
                <a:extLst>
                  <a:ext uri="{FF2B5EF4-FFF2-40B4-BE49-F238E27FC236}">
                    <a16:creationId xmlns:a16="http://schemas.microsoft.com/office/drawing/2014/main" id="{FE86AA94-6329-220A-A1A6-280B577A024D}"/>
                  </a:ext>
                </a:extLst>
              </p:cNvPr>
              <p:cNvSpPr txBox="1"/>
              <p:nvPr/>
            </p:nvSpPr>
            <p:spPr>
              <a:xfrm>
                <a:off x="7419431" y="2390316"/>
                <a:ext cx="959291" cy="1000819"/>
              </a:xfrm>
              <a:prstGeom prst="rect">
                <a:avLst/>
              </a:prstGeom>
              <a:noFill/>
            </p:spPr>
            <p:txBody>
              <a:bodyPr wrap="square" rtlCol="0">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الغاء  العقد الخاص بخدمة </a:t>
                </a:r>
                <a:r>
                  <a:rPr lang="en-US" sz="1100" dirty="0">
                    <a:solidFill>
                      <a:schemeClr val="bg1"/>
                    </a:solidFill>
                    <a:latin typeface="Tajawal Light" panose="00000400000000000000" pitchFamily="2" charset="-78"/>
                    <a:cs typeface="Tajawal Light" panose="00000400000000000000" pitchFamily="2" charset="-78"/>
                  </a:rPr>
                  <a:t> e tour</a:t>
                </a:r>
                <a:r>
                  <a:rPr lang="ar-LY" sz="1100" dirty="0">
                    <a:solidFill>
                      <a:schemeClr val="bg1"/>
                    </a:solidFill>
                    <a:latin typeface="Tajawal Light" panose="00000400000000000000" pitchFamily="2" charset="-78"/>
                    <a:cs typeface="Tajawal Light" panose="00000400000000000000" pitchFamily="2" charset="-78"/>
                  </a:rPr>
                  <a:t> حيث ان الخدمة لم تكن في المستوى  وبنسبة غير مرضية</a:t>
                </a:r>
                <a:endParaRPr lang="en-US" sz="1100" dirty="0">
                  <a:solidFill>
                    <a:schemeClr val="bg1"/>
                  </a:solidFill>
                  <a:latin typeface="Tajawal Light" panose="00000400000000000000" pitchFamily="2" charset="-78"/>
                  <a:cs typeface="Tajawal Light" panose="00000400000000000000" pitchFamily="2" charset="-78"/>
                </a:endParaRPr>
              </a:p>
            </p:txBody>
          </p:sp>
        </p:grpSp>
        <p:sp>
          <p:nvSpPr>
            <p:cNvPr id="80" name="TextBox 79">
              <a:extLst>
                <a:ext uri="{FF2B5EF4-FFF2-40B4-BE49-F238E27FC236}">
                  <a16:creationId xmlns:a16="http://schemas.microsoft.com/office/drawing/2014/main" id="{1DDF232D-CAA6-578F-4F6D-0AE7C7D24867}"/>
                </a:ext>
              </a:extLst>
            </p:cNvPr>
            <p:cNvSpPr txBox="1"/>
            <p:nvPr/>
          </p:nvSpPr>
          <p:spPr>
            <a:xfrm>
              <a:off x="7444102" y="1954630"/>
              <a:ext cx="979212" cy="485437"/>
            </a:xfrm>
            <a:prstGeom prst="rect">
              <a:avLst/>
            </a:prstGeom>
            <a:noFill/>
          </p:spPr>
          <p:txBody>
            <a:bodyPr wrap="square" rtlCol="0">
              <a:spAutoFit/>
            </a:bodyPr>
            <a:lstStyle/>
            <a:p>
              <a:pPr algn="ctr"/>
              <a:r>
                <a:rPr lang="ar-LY" sz="1400" b="1" dirty="0">
                  <a:solidFill>
                    <a:schemeClr val="bg1"/>
                  </a:solidFill>
                  <a:latin typeface="Tajawal Light" panose="00000400000000000000" pitchFamily="2" charset="-78"/>
                  <a:cs typeface="Tajawal Light" panose="00000400000000000000" pitchFamily="2" charset="-78"/>
                </a:rPr>
                <a:t>انهاء عقد شركة جيجا</a:t>
              </a:r>
              <a:endParaRPr lang="en-US" sz="1400" b="1" dirty="0">
                <a:solidFill>
                  <a:schemeClr val="bg1"/>
                </a:solidFill>
                <a:latin typeface="Tajawal Light" panose="00000400000000000000" pitchFamily="2" charset="-78"/>
                <a:cs typeface="Tajawal Light" panose="00000400000000000000" pitchFamily="2" charset="-78"/>
              </a:endParaRPr>
            </a:p>
          </p:txBody>
        </p:sp>
      </p:grpSp>
      <p:grpSp>
        <p:nvGrpSpPr>
          <p:cNvPr id="85" name="Group 84">
            <a:extLst>
              <a:ext uri="{FF2B5EF4-FFF2-40B4-BE49-F238E27FC236}">
                <a16:creationId xmlns:a16="http://schemas.microsoft.com/office/drawing/2014/main" id="{276CB7E8-3544-6A53-1F01-C5FD6C2CA916}"/>
              </a:ext>
            </a:extLst>
          </p:cNvPr>
          <p:cNvGrpSpPr/>
          <p:nvPr/>
        </p:nvGrpSpPr>
        <p:grpSpPr>
          <a:xfrm>
            <a:off x="6663906" y="3643142"/>
            <a:ext cx="1687324" cy="1584346"/>
            <a:chOff x="7434546" y="1876777"/>
            <a:chExt cx="1003556" cy="1469935"/>
          </a:xfrm>
        </p:grpSpPr>
        <p:grpSp>
          <p:nvGrpSpPr>
            <p:cNvPr id="86" name="Group 85">
              <a:extLst>
                <a:ext uri="{FF2B5EF4-FFF2-40B4-BE49-F238E27FC236}">
                  <a16:creationId xmlns:a16="http://schemas.microsoft.com/office/drawing/2014/main" id="{A0EB0CE7-57E9-84ED-D8AE-E06F206F493C}"/>
                </a:ext>
              </a:extLst>
            </p:cNvPr>
            <p:cNvGrpSpPr/>
            <p:nvPr/>
          </p:nvGrpSpPr>
          <p:grpSpPr>
            <a:xfrm>
              <a:off x="7434546" y="1876777"/>
              <a:ext cx="1003556" cy="1469935"/>
              <a:chOff x="7393469" y="1745785"/>
              <a:chExt cx="1003556" cy="1689156"/>
            </a:xfrm>
          </p:grpSpPr>
          <p:grpSp>
            <p:nvGrpSpPr>
              <p:cNvPr id="88" name="Group 87">
                <a:extLst>
                  <a:ext uri="{FF2B5EF4-FFF2-40B4-BE49-F238E27FC236}">
                    <a16:creationId xmlns:a16="http://schemas.microsoft.com/office/drawing/2014/main" id="{5C8EE5B1-34CB-046C-75AE-2E86B4033EF5}"/>
                  </a:ext>
                </a:extLst>
              </p:cNvPr>
              <p:cNvGrpSpPr/>
              <p:nvPr/>
            </p:nvGrpSpPr>
            <p:grpSpPr>
              <a:xfrm>
                <a:off x="7393469" y="1745785"/>
                <a:ext cx="1003556" cy="1689156"/>
                <a:chOff x="7393469" y="1745785"/>
                <a:chExt cx="1003556" cy="1689156"/>
              </a:xfrm>
            </p:grpSpPr>
            <p:sp>
              <p:nvSpPr>
                <p:cNvPr id="90" name="Rounded Rectangle 109">
                  <a:extLst>
                    <a:ext uri="{FF2B5EF4-FFF2-40B4-BE49-F238E27FC236}">
                      <a16:creationId xmlns:a16="http://schemas.microsoft.com/office/drawing/2014/main" id="{BF9B9C46-F589-3B63-152C-20776B3D043A}"/>
                    </a:ext>
                  </a:extLst>
                </p:cNvPr>
                <p:cNvSpPr/>
                <p:nvPr/>
              </p:nvSpPr>
              <p:spPr>
                <a:xfrm>
                  <a:off x="7393935" y="1747387"/>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91" name="Rounded Rectangle 110">
                  <a:extLst>
                    <a:ext uri="{FF2B5EF4-FFF2-40B4-BE49-F238E27FC236}">
                      <a16:creationId xmlns:a16="http://schemas.microsoft.com/office/drawing/2014/main" id="{72F70B60-09AC-35A8-CEDC-8AF1456113C3}"/>
                    </a:ext>
                  </a:extLst>
                </p:cNvPr>
                <p:cNvSpPr/>
                <p:nvPr/>
              </p:nvSpPr>
              <p:spPr>
                <a:xfrm>
                  <a:off x="7393469" y="1745785"/>
                  <a:ext cx="1003086" cy="538663"/>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Tajawal Light" panose="00000400000000000000" pitchFamily="2" charset="-78"/>
                    <a:cs typeface="Tajawal Light" panose="00000400000000000000" pitchFamily="2" charset="-78"/>
                  </a:endParaRPr>
                </a:p>
              </p:txBody>
            </p:sp>
          </p:grpSp>
          <p:sp>
            <p:nvSpPr>
              <p:cNvPr id="89" name="TextBox 88">
                <a:extLst>
                  <a:ext uri="{FF2B5EF4-FFF2-40B4-BE49-F238E27FC236}">
                    <a16:creationId xmlns:a16="http://schemas.microsoft.com/office/drawing/2014/main" id="{E55802DA-FC12-0ED8-6147-4B40FB39B0BC}"/>
                  </a:ext>
                </a:extLst>
              </p:cNvPr>
              <p:cNvSpPr txBox="1"/>
              <p:nvPr/>
            </p:nvSpPr>
            <p:spPr>
              <a:xfrm>
                <a:off x="7419431" y="2390316"/>
                <a:ext cx="959291" cy="1000819"/>
              </a:xfrm>
              <a:prstGeom prst="rect">
                <a:avLst/>
              </a:prstGeom>
              <a:noFill/>
            </p:spPr>
            <p:txBody>
              <a:bodyPr wrap="square" rtlCol="0">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انهاء العقد الخاص بمحفظة الكترونية حيث ان الشركة لم تكن في المستوى ولم تكن البنود لصالح </a:t>
                </a:r>
                <a:r>
                  <a:rPr lang="ar-LY" sz="1100" dirty="0" err="1">
                    <a:solidFill>
                      <a:schemeClr val="bg1"/>
                    </a:solidFill>
                    <a:latin typeface="Tajawal Light" panose="00000400000000000000" pitchFamily="2" charset="-78"/>
                    <a:cs typeface="Tajawal Light" panose="00000400000000000000" pitchFamily="2" charset="-78"/>
                  </a:rPr>
                  <a:t>ليبيانا</a:t>
                </a:r>
                <a:endParaRPr lang="en-US" sz="1100" dirty="0">
                  <a:solidFill>
                    <a:schemeClr val="bg1"/>
                  </a:solidFill>
                  <a:latin typeface="Tajawal Light" panose="00000400000000000000" pitchFamily="2" charset="-78"/>
                  <a:cs typeface="Tajawal Light" panose="00000400000000000000" pitchFamily="2" charset="-78"/>
                </a:endParaRPr>
              </a:p>
            </p:txBody>
          </p:sp>
        </p:grpSp>
        <p:sp>
          <p:nvSpPr>
            <p:cNvPr id="87" name="TextBox 86">
              <a:extLst>
                <a:ext uri="{FF2B5EF4-FFF2-40B4-BE49-F238E27FC236}">
                  <a16:creationId xmlns:a16="http://schemas.microsoft.com/office/drawing/2014/main" id="{92136136-034A-F367-A83D-BA5AC47AC5DA}"/>
                </a:ext>
              </a:extLst>
            </p:cNvPr>
            <p:cNvSpPr txBox="1"/>
            <p:nvPr/>
          </p:nvSpPr>
          <p:spPr>
            <a:xfrm>
              <a:off x="7444102" y="1954630"/>
              <a:ext cx="979212" cy="485437"/>
            </a:xfrm>
            <a:prstGeom prst="rect">
              <a:avLst/>
            </a:prstGeom>
            <a:noFill/>
          </p:spPr>
          <p:txBody>
            <a:bodyPr wrap="square" rtlCol="0">
              <a:spAutoFit/>
            </a:bodyPr>
            <a:lstStyle/>
            <a:p>
              <a:pPr algn="ctr"/>
              <a:r>
                <a:rPr lang="ar-LY" sz="1400" b="1" dirty="0">
                  <a:solidFill>
                    <a:schemeClr val="bg1"/>
                  </a:solidFill>
                  <a:latin typeface="Tajawal Light" panose="00000400000000000000" pitchFamily="2" charset="-78"/>
                  <a:cs typeface="Tajawal Light" panose="00000400000000000000" pitchFamily="2" charset="-78"/>
                </a:rPr>
                <a:t>انهاء عقد شركة </a:t>
              </a:r>
            </a:p>
            <a:p>
              <a:pPr algn="ctr"/>
              <a:r>
                <a:rPr lang="ar-LY" sz="1400" b="1" dirty="0">
                  <a:solidFill>
                    <a:schemeClr val="bg1"/>
                  </a:solidFill>
                  <a:latin typeface="Tajawal Light" panose="00000400000000000000" pitchFamily="2" charset="-78"/>
                  <a:cs typeface="Tajawal Light" panose="00000400000000000000" pitchFamily="2" charset="-78"/>
                </a:rPr>
                <a:t>كيان</a:t>
              </a:r>
              <a:endParaRPr lang="en-US" sz="1400" b="1" dirty="0">
                <a:solidFill>
                  <a:schemeClr val="bg1"/>
                </a:solidFill>
                <a:latin typeface="Tajawal Light" panose="00000400000000000000" pitchFamily="2" charset="-78"/>
                <a:cs typeface="Tajawal Light" panose="00000400000000000000" pitchFamily="2" charset="-78"/>
              </a:endParaRPr>
            </a:p>
          </p:txBody>
        </p:sp>
      </p:grpSp>
      <p:grpSp>
        <p:nvGrpSpPr>
          <p:cNvPr id="92" name="Group 91">
            <a:extLst>
              <a:ext uri="{FF2B5EF4-FFF2-40B4-BE49-F238E27FC236}">
                <a16:creationId xmlns:a16="http://schemas.microsoft.com/office/drawing/2014/main" id="{EA9B2C2B-2F72-34D0-27C7-3FD024469602}"/>
              </a:ext>
            </a:extLst>
          </p:cNvPr>
          <p:cNvGrpSpPr/>
          <p:nvPr/>
        </p:nvGrpSpPr>
        <p:grpSpPr>
          <a:xfrm>
            <a:off x="4893902" y="3643142"/>
            <a:ext cx="1687324" cy="1584346"/>
            <a:chOff x="7434546" y="1876777"/>
            <a:chExt cx="1003556" cy="1469935"/>
          </a:xfrm>
        </p:grpSpPr>
        <p:grpSp>
          <p:nvGrpSpPr>
            <p:cNvPr id="93" name="Group 92">
              <a:extLst>
                <a:ext uri="{FF2B5EF4-FFF2-40B4-BE49-F238E27FC236}">
                  <a16:creationId xmlns:a16="http://schemas.microsoft.com/office/drawing/2014/main" id="{EF974B3D-D0A5-BEC0-4B81-BB697298C508}"/>
                </a:ext>
              </a:extLst>
            </p:cNvPr>
            <p:cNvGrpSpPr/>
            <p:nvPr/>
          </p:nvGrpSpPr>
          <p:grpSpPr>
            <a:xfrm>
              <a:off x="7434546" y="1876777"/>
              <a:ext cx="1003556" cy="1469935"/>
              <a:chOff x="7393469" y="1745785"/>
              <a:chExt cx="1003556" cy="1689156"/>
            </a:xfrm>
          </p:grpSpPr>
          <p:grpSp>
            <p:nvGrpSpPr>
              <p:cNvPr id="95" name="Group 94">
                <a:extLst>
                  <a:ext uri="{FF2B5EF4-FFF2-40B4-BE49-F238E27FC236}">
                    <a16:creationId xmlns:a16="http://schemas.microsoft.com/office/drawing/2014/main" id="{AEF51725-DD73-36B0-8F0C-A1796239BECB}"/>
                  </a:ext>
                </a:extLst>
              </p:cNvPr>
              <p:cNvGrpSpPr/>
              <p:nvPr/>
            </p:nvGrpSpPr>
            <p:grpSpPr>
              <a:xfrm>
                <a:off x="7393469" y="1745785"/>
                <a:ext cx="1003556" cy="1689156"/>
                <a:chOff x="7393469" y="1745785"/>
                <a:chExt cx="1003556" cy="1689156"/>
              </a:xfrm>
            </p:grpSpPr>
            <p:sp>
              <p:nvSpPr>
                <p:cNvPr id="97" name="Rounded Rectangle 109">
                  <a:extLst>
                    <a:ext uri="{FF2B5EF4-FFF2-40B4-BE49-F238E27FC236}">
                      <a16:creationId xmlns:a16="http://schemas.microsoft.com/office/drawing/2014/main" id="{8B3BCA37-751D-AF4C-2844-99AA8FDB6AC0}"/>
                    </a:ext>
                  </a:extLst>
                </p:cNvPr>
                <p:cNvSpPr/>
                <p:nvPr/>
              </p:nvSpPr>
              <p:spPr>
                <a:xfrm>
                  <a:off x="7393935" y="1747387"/>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98" name="Rounded Rectangle 110">
                  <a:extLst>
                    <a:ext uri="{FF2B5EF4-FFF2-40B4-BE49-F238E27FC236}">
                      <a16:creationId xmlns:a16="http://schemas.microsoft.com/office/drawing/2014/main" id="{865F82D9-E9E7-6E03-9FAB-31253C81E8B2}"/>
                    </a:ext>
                  </a:extLst>
                </p:cNvPr>
                <p:cNvSpPr/>
                <p:nvPr/>
              </p:nvSpPr>
              <p:spPr>
                <a:xfrm>
                  <a:off x="7393469" y="1745785"/>
                  <a:ext cx="1003086" cy="538663"/>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Tajawal Light" panose="00000400000000000000" pitchFamily="2" charset="-78"/>
                    <a:cs typeface="Tajawal Light" panose="00000400000000000000" pitchFamily="2" charset="-78"/>
                  </a:endParaRPr>
                </a:p>
              </p:txBody>
            </p:sp>
          </p:grpSp>
          <p:sp>
            <p:nvSpPr>
              <p:cNvPr id="96" name="TextBox 95">
                <a:extLst>
                  <a:ext uri="{FF2B5EF4-FFF2-40B4-BE49-F238E27FC236}">
                    <a16:creationId xmlns:a16="http://schemas.microsoft.com/office/drawing/2014/main" id="{7FBB016F-8D29-F63C-6831-6CA6BE11EED1}"/>
                  </a:ext>
                </a:extLst>
              </p:cNvPr>
              <p:cNvSpPr txBox="1"/>
              <p:nvPr/>
            </p:nvSpPr>
            <p:spPr>
              <a:xfrm>
                <a:off x="7419431" y="2390316"/>
                <a:ext cx="959291" cy="639867"/>
              </a:xfrm>
              <a:prstGeom prst="rect">
                <a:avLst/>
              </a:prstGeom>
              <a:noFill/>
            </p:spPr>
            <p:txBody>
              <a:bodyPr wrap="square" rtlCol="0">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انهاء العقد الخاص بخدمة </a:t>
                </a:r>
                <a:r>
                  <a:rPr lang="en-US" sz="1100" dirty="0">
                    <a:solidFill>
                      <a:schemeClr val="bg1"/>
                    </a:solidFill>
                    <a:latin typeface="Tajawal Light" panose="00000400000000000000" pitchFamily="2" charset="-78"/>
                    <a:cs typeface="Tajawal Light" panose="00000400000000000000" pitchFamily="2" charset="-78"/>
                  </a:rPr>
                  <a:t>CVM</a:t>
                </a:r>
                <a:r>
                  <a:rPr lang="ar-LY" sz="1100" dirty="0">
                    <a:solidFill>
                      <a:schemeClr val="bg1"/>
                    </a:solidFill>
                    <a:latin typeface="Tajawal Light" panose="00000400000000000000" pitchFamily="2" charset="-78"/>
                    <a:cs typeface="Tajawal Light" panose="00000400000000000000" pitchFamily="2" charset="-78"/>
                  </a:rPr>
                  <a:t> حيث ان البنود لم تكن لصالح </a:t>
                </a:r>
                <a:r>
                  <a:rPr lang="ar-LY" sz="1100" dirty="0" err="1">
                    <a:solidFill>
                      <a:schemeClr val="bg1"/>
                    </a:solidFill>
                    <a:latin typeface="Tajawal Light" panose="00000400000000000000" pitchFamily="2" charset="-78"/>
                    <a:cs typeface="Tajawal Light" panose="00000400000000000000" pitchFamily="2" charset="-78"/>
                  </a:rPr>
                  <a:t>ليبيانا</a:t>
                </a:r>
                <a:endParaRPr lang="en-US" sz="1100" dirty="0">
                  <a:solidFill>
                    <a:schemeClr val="bg1"/>
                  </a:solidFill>
                  <a:latin typeface="Tajawal Light" panose="00000400000000000000" pitchFamily="2" charset="-78"/>
                  <a:cs typeface="Tajawal Light" panose="00000400000000000000" pitchFamily="2" charset="-78"/>
                </a:endParaRPr>
              </a:p>
            </p:txBody>
          </p:sp>
        </p:grpSp>
        <p:sp>
          <p:nvSpPr>
            <p:cNvPr id="94" name="TextBox 93">
              <a:extLst>
                <a:ext uri="{FF2B5EF4-FFF2-40B4-BE49-F238E27FC236}">
                  <a16:creationId xmlns:a16="http://schemas.microsoft.com/office/drawing/2014/main" id="{BF70DF02-1954-341C-5517-92D849F7B488}"/>
                </a:ext>
              </a:extLst>
            </p:cNvPr>
            <p:cNvSpPr txBox="1"/>
            <p:nvPr/>
          </p:nvSpPr>
          <p:spPr>
            <a:xfrm>
              <a:off x="7444102" y="1954630"/>
              <a:ext cx="979212" cy="485437"/>
            </a:xfrm>
            <a:prstGeom prst="rect">
              <a:avLst/>
            </a:prstGeom>
            <a:noFill/>
          </p:spPr>
          <p:txBody>
            <a:bodyPr wrap="square" rtlCol="0">
              <a:spAutoFit/>
            </a:bodyPr>
            <a:lstStyle/>
            <a:p>
              <a:pPr algn="ctr"/>
              <a:r>
                <a:rPr lang="ar-LY" sz="1400" b="1" dirty="0">
                  <a:solidFill>
                    <a:schemeClr val="bg1"/>
                  </a:solidFill>
                  <a:latin typeface="Tajawal Light" panose="00000400000000000000" pitchFamily="2" charset="-78"/>
                  <a:cs typeface="Tajawal Light" panose="00000400000000000000" pitchFamily="2" charset="-78"/>
                </a:rPr>
                <a:t>انهاء عقد مع شركة أرت ليبيا</a:t>
              </a:r>
              <a:endParaRPr lang="en-US" sz="1400" b="1" dirty="0">
                <a:solidFill>
                  <a:schemeClr val="bg1"/>
                </a:solidFill>
                <a:latin typeface="Tajawal Light" panose="00000400000000000000" pitchFamily="2" charset="-78"/>
                <a:cs typeface="Tajawal Light" panose="00000400000000000000" pitchFamily="2" charset="-78"/>
              </a:endParaRPr>
            </a:p>
          </p:txBody>
        </p:sp>
      </p:grpSp>
      <p:grpSp>
        <p:nvGrpSpPr>
          <p:cNvPr id="99" name="Group 98">
            <a:extLst>
              <a:ext uri="{FF2B5EF4-FFF2-40B4-BE49-F238E27FC236}">
                <a16:creationId xmlns:a16="http://schemas.microsoft.com/office/drawing/2014/main" id="{B91FB373-2A43-E7E4-331E-3B83864B7DE9}"/>
              </a:ext>
            </a:extLst>
          </p:cNvPr>
          <p:cNvGrpSpPr/>
          <p:nvPr/>
        </p:nvGrpSpPr>
        <p:grpSpPr>
          <a:xfrm>
            <a:off x="2996318" y="3643142"/>
            <a:ext cx="1687324" cy="1584346"/>
            <a:chOff x="7434546" y="1876777"/>
            <a:chExt cx="1003556" cy="1469935"/>
          </a:xfrm>
        </p:grpSpPr>
        <p:grpSp>
          <p:nvGrpSpPr>
            <p:cNvPr id="100" name="Group 99">
              <a:extLst>
                <a:ext uri="{FF2B5EF4-FFF2-40B4-BE49-F238E27FC236}">
                  <a16:creationId xmlns:a16="http://schemas.microsoft.com/office/drawing/2014/main" id="{A59DB890-5285-FB40-E3E7-F2CFC6486BD2}"/>
                </a:ext>
              </a:extLst>
            </p:cNvPr>
            <p:cNvGrpSpPr/>
            <p:nvPr/>
          </p:nvGrpSpPr>
          <p:grpSpPr>
            <a:xfrm>
              <a:off x="7434546" y="1876777"/>
              <a:ext cx="1003556" cy="1469935"/>
              <a:chOff x="7393469" y="1745785"/>
              <a:chExt cx="1003556" cy="1689156"/>
            </a:xfrm>
          </p:grpSpPr>
          <p:grpSp>
            <p:nvGrpSpPr>
              <p:cNvPr id="102" name="Group 101">
                <a:extLst>
                  <a:ext uri="{FF2B5EF4-FFF2-40B4-BE49-F238E27FC236}">
                    <a16:creationId xmlns:a16="http://schemas.microsoft.com/office/drawing/2014/main" id="{0FB2A580-953B-BBC7-EB0A-4D200477287C}"/>
                  </a:ext>
                </a:extLst>
              </p:cNvPr>
              <p:cNvGrpSpPr/>
              <p:nvPr/>
            </p:nvGrpSpPr>
            <p:grpSpPr>
              <a:xfrm>
                <a:off x="7393469" y="1745785"/>
                <a:ext cx="1003556" cy="1689156"/>
                <a:chOff x="7393469" y="1745785"/>
                <a:chExt cx="1003556" cy="1689156"/>
              </a:xfrm>
            </p:grpSpPr>
            <p:sp>
              <p:nvSpPr>
                <p:cNvPr id="104" name="Rounded Rectangle 109">
                  <a:extLst>
                    <a:ext uri="{FF2B5EF4-FFF2-40B4-BE49-F238E27FC236}">
                      <a16:creationId xmlns:a16="http://schemas.microsoft.com/office/drawing/2014/main" id="{3D32839A-9CC7-9E58-3FC9-29CD9D8BD0FD}"/>
                    </a:ext>
                  </a:extLst>
                </p:cNvPr>
                <p:cNvSpPr/>
                <p:nvPr/>
              </p:nvSpPr>
              <p:spPr>
                <a:xfrm>
                  <a:off x="7393935" y="1747387"/>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105" name="Rounded Rectangle 110">
                  <a:extLst>
                    <a:ext uri="{FF2B5EF4-FFF2-40B4-BE49-F238E27FC236}">
                      <a16:creationId xmlns:a16="http://schemas.microsoft.com/office/drawing/2014/main" id="{F353304C-932A-B651-5F26-3905517A8092}"/>
                    </a:ext>
                  </a:extLst>
                </p:cNvPr>
                <p:cNvSpPr/>
                <p:nvPr/>
              </p:nvSpPr>
              <p:spPr>
                <a:xfrm>
                  <a:off x="7393469" y="1745785"/>
                  <a:ext cx="1003086" cy="538663"/>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Tajawal Light" panose="00000400000000000000" pitchFamily="2" charset="-78"/>
                    <a:cs typeface="Tajawal Light" panose="00000400000000000000" pitchFamily="2" charset="-78"/>
                  </a:endParaRPr>
                </a:p>
              </p:txBody>
            </p:sp>
          </p:grpSp>
          <p:sp>
            <p:nvSpPr>
              <p:cNvPr id="103" name="TextBox 102">
                <a:extLst>
                  <a:ext uri="{FF2B5EF4-FFF2-40B4-BE49-F238E27FC236}">
                    <a16:creationId xmlns:a16="http://schemas.microsoft.com/office/drawing/2014/main" id="{E9E0156F-5A7B-B506-277E-3B6E63D6D16B}"/>
                  </a:ext>
                </a:extLst>
              </p:cNvPr>
              <p:cNvSpPr txBox="1"/>
              <p:nvPr/>
            </p:nvSpPr>
            <p:spPr>
              <a:xfrm>
                <a:off x="7419431" y="2390316"/>
                <a:ext cx="959291" cy="820342"/>
              </a:xfrm>
              <a:prstGeom prst="rect">
                <a:avLst/>
              </a:prstGeom>
              <a:noFill/>
            </p:spPr>
            <p:txBody>
              <a:bodyPr wrap="square" rtlCol="0">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تعديل عقد </a:t>
                </a:r>
                <a:r>
                  <a:rPr lang="en-US" sz="1100" dirty="0">
                    <a:solidFill>
                      <a:schemeClr val="bg1"/>
                    </a:solidFill>
                    <a:latin typeface="Tajawal Light" panose="00000400000000000000" pitchFamily="2" charset="-78"/>
                    <a:cs typeface="Tajawal Light" panose="00000400000000000000" pitchFamily="2" charset="-78"/>
                  </a:rPr>
                  <a:t>MVNO </a:t>
                </a:r>
                <a:r>
                  <a:rPr lang="ar-LY" sz="1100" dirty="0">
                    <a:solidFill>
                      <a:schemeClr val="bg1"/>
                    </a:solidFill>
                    <a:latin typeface="Tajawal Light" panose="00000400000000000000" pitchFamily="2" charset="-78"/>
                    <a:cs typeface="Tajawal Light" panose="00000400000000000000" pitchFamily="2" charset="-78"/>
                  </a:rPr>
                  <a:t> حيث تم تشكيل فريق مشترك للتفاوض وتعديل العقد بما يحقق صالح الطرفين</a:t>
                </a:r>
                <a:endParaRPr lang="en-US" sz="1100" dirty="0">
                  <a:solidFill>
                    <a:schemeClr val="bg1"/>
                  </a:solidFill>
                  <a:latin typeface="Tajawal Light" panose="00000400000000000000" pitchFamily="2" charset="-78"/>
                  <a:cs typeface="Tajawal Light" panose="00000400000000000000" pitchFamily="2" charset="-78"/>
                </a:endParaRPr>
              </a:p>
            </p:txBody>
          </p:sp>
        </p:grpSp>
        <p:sp>
          <p:nvSpPr>
            <p:cNvPr id="101" name="TextBox 100">
              <a:extLst>
                <a:ext uri="{FF2B5EF4-FFF2-40B4-BE49-F238E27FC236}">
                  <a16:creationId xmlns:a16="http://schemas.microsoft.com/office/drawing/2014/main" id="{B3CBCDF7-BEC0-8D02-9092-C18AEB4FFB13}"/>
                </a:ext>
              </a:extLst>
            </p:cNvPr>
            <p:cNvSpPr txBox="1"/>
            <p:nvPr/>
          </p:nvSpPr>
          <p:spPr>
            <a:xfrm>
              <a:off x="7444102" y="1954630"/>
              <a:ext cx="979212" cy="485437"/>
            </a:xfrm>
            <a:prstGeom prst="rect">
              <a:avLst/>
            </a:prstGeom>
            <a:noFill/>
          </p:spPr>
          <p:txBody>
            <a:bodyPr wrap="square" rtlCol="0">
              <a:spAutoFit/>
            </a:bodyPr>
            <a:lstStyle/>
            <a:p>
              <a:pPr algn="ctr"/>
              <a:r>
                <a:rPr lang="ar-LY" sz="1400" b="1" dirty="0">
                  <a:solidFill>
                    <a:schemeClr val="bg1"/>
                  </a:solidFill>
                  <a:latin typeface="Tajawal Light" panose="00000400000000000000" pitchFamily="2" charset="-78"/>
                  <a:cs typeface="Tajawal Light" panose="00000400000000000000" pitchFamily="2" charset="-78"/>
                </a:rPr>
                <a:t>تعديل عقد شركة ليبيا للاتصالات</a:t>
              </a:r>
              <a:endParaRPr lang="en-US" sz="1400" b="1" dirty="0">
                <a:solidFill>
                  <a:schemeClr val="bg1"/>
                </a:solidFill>
                <a:latin typeface="Tajawal Light" panose="00000400000000000000" pitchFamily="2" charset="-78"/>
                <a:cs typeface="Tajawal Light" panose="00000400000000000000" pitchFamily="2" charset="-78"/>
              </a:endParaRPr>
            </a:p>
          </p:txBody>
        </p:sp>
      </p:grpSp>
      <p:grpSp>
        <p:nvGrpSpPr>
          <p:cNvPr id="106" name="Group 105">
            <a:extLst>
              <a:ext uri="{FF2B5EF4-FFF2-40B4-BE49-F238E27FC236}">
                <a16:creationId xmlns:a16="http://schemas.microsoft.com/office/drawing/2014/main" id="{4975F95C-A00F-C67C-DA71-004BA6758C32}"/>
              </a:ext>
            </a:extLst>
          </p:cNvPr>
          <p:cNvGrpSpPr/>
          <p:nvPr/>
        </p:nvGrpSpPr>
        <p:grpSpPr>
          <a:xfrm>
            <a:off x="1226314" y="3643142"/>
            <a:ext cx="1687324" cy="1584346"/>
            <a:chOff x="7434546" y="1876777"/>
            <a:chExt cx="1003556" cy="1469935"/>
          </a:xfrm>
        </p:grpSpPr>
        <p:grpSp>
          <p:nvGrpSpPr>
            <p:cNvPr id="107" name="Group 106">
              <a:extLst>
                <a:ext uri="{FF2B5EF4-FFF2-40B4-BE49-F238E27FC236}">
                  <a16:creationId xmlns:a16="http://schemas.microsoft.com/office/drawing/2014/main" id="{8CC5A98A-05F8-F128-0040-38ED91134A3F}"/>
                </a:ext>
              </a:extLst>
            </p:cNvPr>
            <p:cNvGrpSpPr/>
            <p:nvPr/>
          </p:nvGrpSpPr>
          <p:grpSpPr>
            <a:xfrm>
              <a:off x="7434546" y="1876777"/>
              <a:ext cx="1003556" cy="1469935"/>
              <a:chOff x="7393469" y="1745785"/>
              <a:chExt cx="1003556" cy="1689156"/>
            </a:xfrm>
          </p:grpSpPr>
          <p:grpSp>
            <p:nvGrpSpPr>
              <p:cNvPr id="109" name="Group 108">
                <a:extLst>
                  <a:ext uri="{FF2B5EF4-FFF2-40B4-BE49-F238E27FC236}">
                    <a16:creationId xmlns:a16="http://schemas.microsoft.com/office/drawing/2014/main" id="{0BF10FDE-E582-7D66-D158-B5E9DACC4F9C}"/>
                  </a:ext>
                </a:extLst>
              </p:cNvPr>
              <p:cNvGrpSpPr/>
              <p:nvPr/>
            </p:nvGrpSpPr>
            <p:grpSpPr>
              <a:xfrm>
                <a:off x="7393469" y="1745785"/>
                <a:ext cx="1003556" cy="1689156"/>
                <a:chOff x="7393469" y="1745785"/>
                <a:chExt cx="1003556" cy="1689156"/>
              </a:xfrm>
            </p:grpSpPr>
            <p:sp>
              <p:nvSpPr>
                <p:cNvPr id="111" name="Rounded Rectangle 109">
                  <a:extLst>
                    <a:ext uri="{FF2B5EF4-FFF2-40B4-BE49-F238E27FC236}">
                      <a16:creationId xmlns:a16="http://schemas.microsoft.com/office/drawing/2014/main" id="{B51B481E-1472-4A30-880C-D02830EF533C}"/>
                    </a:ext>
                  </a:extLst>
                </p:cNvPr>
                <p:cNvSpPr/>
                <p:nvPr/>
              </p:nvSpPr>
              <p:spPr>
                <a:xfrm>
                  <a:off x="7393935" y="1747387"/>
                  <a:ext cx="1003090" cy="1687554"/>
                </a:xfrm>
                <a:prstGeom prst="roundRect">
                  <a:avLst/>
                </a:prstGeom>
                <a:solidFill>
                  <a:srgbClr val="155A81"/>
                </a:solidFill>
                <a:ln>
                  <a:noFill/>
                </a:ln>
                <a:effectLst>
                  <a:outerShdw blurRad="76200" dist="25400" dir="2400000" sx="103000" sy="103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Tajawal Light" panose="00000400000000000000" pitchFamily="2" charset="-78"/>
                    <a:cs typeface="Tajawal Light" panose="00000400000000000000" pitchFamily="2" charset="-78"/>
                  </a:endParaRPr>
                </a:p>
              </p:txBody>
            </p:sp>
            <p:sp>
              <p:nvSpPr>
                <p:cNvPr id="112" name="Rounded Rectangle 110">
                  <a:extLst>
                    <a:ext uri="{FF2B5EF4-FFF2-40B4-BE49-F238E27FC236}">
                      <a16:creationId xmlns:a16="http://schemas.microsoft.com/office/drawing/2014/main" id="{D34B03DD-25A5-0628-992B-00EF458891FC}"/>
                    </a:ext>
                  </a:extLst>
                </p:cNvPr>
                <p:cNvSpPr/>
                <p:nvPr/>
              </p:nvSpPr>
              <p:spPr>
                <a:xfrm>
                  <a:off x="7393469" y="1745785"/>
                  <a:ext cx="1003086" cy="538663"/>
                </a:xfrm>
                <a:prstGeom prst="roundRect">
                  <a:avLst>
                    <a:gd name="adj" fmla="val 30180"/>
                  </a:avLst>
                </a:prstGeom>
                <a:solidFill>
                  <a:schemeClr val="bg1">
                    <a:alpha val="1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Tajawal Light" panose="00000400000000000000" pitchFamily="2" charset="-78"/>
                    <a:cs typeface="Tajawal Light" panose="00000400000000000000" pitchFamily="2" charset="-78"/>
                  </a:endParaRPr>
                </a:p>
              </p:txBody>
            </p:sp>
          </p:grpSp>
          <p:sp>
            <p:nvSpPr>
              <p:cNvPr id="110" name="TextBox 109">
                <a:extLst>
                  <a:ext uri="{FF2B5EF4-FFF2-40B4-BE49-F238E27FC236}">
                    <a16:creationId xmlns:a16="http://schemas.microsoft.com/office/drawing/2014/main" id="{DDF5F2B4-1240-BC12-D378-73FE56B4841B}"/>
                  </a:ext>
                </a:extLst>
              </p:cNvPr>
              <p:cNvSpPr txBox="1"/>
              <p:nvPr/>
            </p:nvSpPr>
            <p:spPr>
              <a:xfrm>
                <a:off x="7419431" y="2390316"/>
                <a:ext cx="959291" cy="1000819"/>
              </a:xfrm>
              <a:prstGeom prst="rect">
                <a:avLst/>
              </a:prstGeom>
              <a:noFill/>
            </p:spPr>
            <p:txBody>
              <a:bodyPr wrap="square" rtlCol="0">
                <a:spAutoFit/>
              </a:bodyPr>
              <a:lstStyle/>
              <a:p>
                <a:pPr algn="just" rtl="1"/>
                <a:r>
                  <a:rPr lang="ar-LY" sz="1100" dirty="0">
                    <a:solidFill>
                      <a:schemeClr val="bg1"/>
                    </a:solidFill>
                    <a:latin typeface="Tajawal Light" panose="00000400000000000000" pitchFamily="2" charset="-78"/>
                    <a:cs typeface="Tajawal Light" panose="00000400000000000000" pitchFamily="2" charset="-78"/>
                  </a:rPr>
                  <a:t>انهاء العقد الخاص ببطاقات الدولية حيث ان قيمة المشاركة كانت مجحفة وجاري التفاوض مع بديل اخر</a:t>
                </a:r>
                <a:endParaRPr lang="en-US" sz="1100" dirty="0">
                  <a:solidFill>
                    <a:schemeClr val="bg1"/>
                  </a:solidFill>
                  <a:latin typeface="Tajawal Light" panose="00000400000000000000" pitchFamily="2" charset="-78"/>
                  <a:cs typeface="Tajawal Light" panose="00000400000000000000" pitchFamily="2" charset="-78"/>
                </a:endParaRPr>
              </a:p>
            </p:txBody>
          </p:sp>
        </p:grpSp>
        <p:sp>
          <p:nvSpPr>
            <p:cNvPr id="108" name="TextBox 107">
              <a:extLst>
                <a:ext uri="{FF2B5EF4-FFF2-40B4-BE49-F238E27FC236}">
                  <a16:creationId xmlns:a16="http://schemas.microsoft.com/office/drawing/2014/main" id="{4BBFA1A8-5084-6ACE-61B2-2317487045CD}"/>
                </a:ext>
              </a:extLst>
            </p:cNvPr>
            <p:cNvSpPr txBox="1"/>
            <p:nvPr/>
          </p:nvSpPr>
          <p:spPr>
            <a:xfrm>
              <a:off x="7444102" y="1954630"/>
              <a:ext cx="979212" cy="485437"/>
            </a:xfrm>
            <a:prstGeom prst="rect">
              <a:avLst/>
            </a:prstGeom>
            <a:noFill/>
          </p:spPr>
          <p:txBody>
            <a:bodyPr wrap="square" rtlCol="0">
              <a:spAutoFit/>
            </a:bodyPr>
            <a:lstStyle/>
            <a:p>
              <a:pPr algn="ctr"/>
              <a:r>
                <a:rPr lang="ar-LY" sz="1400" b="1" dirty="0">
                  <a:solidFill>
                    <a:schemeClr val="bg1"/>
                  </a:solidFill>
                  <a:latin typeface="Tajawal Light" panose="00000400000000000000" pitchFamily="2" charset="-78"/>
                  <a:cs typeface="Tajawal Light" panose="00000400000000000000" pitchFamily="2" charset="-78"/>
                </a:rPr>
                <a:t>انهاء عقد شركة المعبر</a:t>
              </a:r>
              <a:endParaRPr lang="en-US" sz="1400" b="1" dirty="0">
                <a:solidFill>
                  <a:schemeClr val="bg1"/>
                </a:solidFill>
                <a:latin typeface="Tajawal Light" panose="00000400000000000000" pitchFamily="2" charset="-78"/>
                <a:cs typeface="Tajawal Light" panose="00000400000000000000" pitchFamily="2" charset="-78"/>
              </a:endParaRP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VCLASSIFICATIONHEADER1342985067">
            <a:extLst>
              <a:ext uri="{FF2B5EF4-FFF2-40B4-BE49-F238E27FC236}">
                <a16:creationId xmlns:a16="http://schemas.microsoft.com/office/drawing/2014/main" id="{A9695050-ABA3-4EA5-1677-BF3950D23689}"/>
              </a:ext>
            </a:extLst>
          </p:cNvPr>
          <p:cNvSpPr txBox="1"/>
          <p:nvPr/>
        </p:nvSpPr>
        <p:spPr>
          <a:xfrm>
            <a:off x="0" y="0"/>
            <a:ext cx="12192000" cy="369332"/>
          </a:xfrm>
          <a:prstGeom prst="rect">
            <a:avLst/>
          </a:prstGeom>
          <a:noFill/>
        </p:spPr>
        <p:txBody>
          <a:bodyPr vert="horz" wrap="square" rtlCol="0">
            <a:spAutoFit/>
          </a:bodyPr>
          <a:lstStyle/>
          <a:p>
            <a:endParaRPr lang="en-US"/>
          </a:p>
        </p:txBody>
      </p:sp>
      <p:sp>
        <p:nvSpPr>
          <p:cNvPr id="5" name="Arrow: Pentagon 4">
            <a:extLst>
              <a:ext uri="{FF2B5EF4-FFF2-40B4-BE49-F238E27FC236}">
                <a16:creationId xmlns:a16="http://schemas.microsoft.com/office/drawing/2014/main" id="{6750E95D-FCE2-BDAF-C962-943DFA0D7B53}"/>
              </a:ext>
            </a:extLst>
          </p:cNvPr>
          <p:cNvSpPr/>
          <p:nvPr/>
        </p:nvSpPr>
        <p:spPr>
          <a:xfrm rot="10800000" flipV="1">
            <a:off x="304800" y="278226"/>
            <a:ext cx="11669119" cy="470522"/>
          </a:xfrm>
          <a:prstGeom prst="homePlate">
            <a:avLst>
              <a:gd name="adj" fmla="val 5047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dirty="0">
                <a:solidFill>
                  <a:schemeClr val="accent1"/>
                </a:solidFill>
                <a:latin typeface="Tajawal Black" panose="00000500000000000000" pitchFamily="2" charset="-78"/>
                <a:cs typeface="Tajawal Black" panose="00000500000000000000" pitchFamily="2" charset="-78"/>
              </a:rPr>
              <a:t>التوصيات</a:t>
            </a:r>
            <a:endParaRPr lang="en-US" dirty="0">
              <a:solidFill>
                <a:schemeClr val="accent1"/>
              </a:solidFill>
              <a:latin typeface="Tajawal Black" panose="00000500000000000000" pitchFamily="2" charset="-78"/>
              <a:cs typeface="Tajawal Black" panose="00000500000000000000" pitchFamily="2" charset="-78"/>
            </a:endParaRPr>
          </a:p>
        </p:txBody>
      </p:sp>
      <p:sp>
        <p:nvSpPr>
          <p:cNvPr id="6" name="Rectangle 5">
            <a:extLst>
              <a:ext uri="{FF2B5EF4-FFF2-40B4-BE49-F238E27FC236}">
                <a16:creationId xmlns:a16="http://schemas.microsoft.com/office/drawing/2014/main" id="{038C5A4E-56CF-FB26-48F3-2ED82D955615}"/>
              </a:ext>
            </a:extLst>
          </p:cNvPr>
          <p:cNvSpPr/>
          <p:nvPr/>
        </p:nvSpPr>
        <p:spPr>
          <a:xfrm>
            <a:off x="380999" y="1026974"/>
            <a:ext cx="11592920" cy="493491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r" rtl="1">
              <a:buFont typeface="Wingdings" panose="05000000000000000000" pitchFamily="2" charset="2"/>
              <a:buChar char="Ø"/>
            </a:pPr>
            <a:r>
              <a:rPr lang="ar-LY" dirty="0">
                <a:solidFill>
                  <a:schemeClr val="tx2"/>
                </a:solidFill>
                <a:latin typeface="Tajawal" panose="00000500000000000000" pitchFamily="2" charset="-78"/>
                <a:cs typeface="Tajawal" panose="00000500000000000000" pitchFamily="2" charset="-78"/>
              </a:rPr>
              <a:t>في سبيل تحقيق الأهداف الاستراتيجية والحفاظ على مكتسبات السنوات الماضية نوصي بما يلي :</a:t>
            </a:r>
          </a:p>
          <a:p>
            <a:pPr marL="285750" indent="-285750" algn="r" rtl="1">
              <a:buFont typeface="Wingdings" panose="05000000000000000000" pitchFamily="2" charset="2"/>
              <a:buChar char="Ø"/>
            </a:pPr>
            <a:endParaRPr lang="ar-LY" dirty="0">
              <a:solidFill>
                <a:schemeClr val="tx2"/>
              </a:solidFill>
              <a:latin typeface="Tajawal" panose="00000500000000000000" pitchFamily="2" charset="-78"/>
              <a:cs typeface="Tajawal" panose="00000500000000000000" pitchFamily="2" charset="-78"/>
            </a:endParaRPr>
          </a:p>
          <a:p>
            <a:pPr marL="285750" indent="-285750" algn="r" rtl="1">
              <a:buFont typeface="Wingdings" panose="05000000000000000000" pitchFamily="2" charset="2"/>
              <a:buChar char="Ø"/>
            </a:pPr>
            <a:r>
              <a:rPr lang="ar-LY" dirty="0">
                <a:solidFill>
                  <a:schemeClr val="tx2"/>
                </a:solidFill>
                <a:latin typeface="Tajawal" panose="00000500000000000000" pitchFamily="2" charset="-78"/>
                <a:cs typeface="Tajawal" panose="00000500000000000000" pitchFamily="2" charset="-78"/>
              </a:rPr>
              <a:t>وضع سياسة واضحة لعقود الشراكات والوكلاء تضمن الحصة المرضية والمناسبة لشركتنا والحفاظ على ما تم تحقيقه من تعديلات وإلغاء للعقود المجحفة  ومنع منح أي شراكات على خدمات أساسية تقدمها شركة </a:t>
            </a:r>
            <a:r>
              <a:rPr lang="ar-LY" dirty="0" err="1">
                <a:solidFill>
                  <a:schemeClr val="tx2"/>
                </a:solidFill>
                <a:latin typeface="Tajawal" panose="00000500000000000000" pitchFamily="2" charset="-78"/>
                <a:cs typeface="Tajawal" panose="00000500000000000000" pitchFamily="2" charset="-78"/>
              </a:rPr>
              <a:t>ليبيانا</a:t>
            </a:r>
            <a:r>
              <a:rPr lang="ar-LY" dirty="0">
                <a:solidFill>
                  <a:schemeClr val="tx2"/>
                </a:solidFill>
                <a:latin typeface="Tajawal" panose="00000500000000000000" pitchFamily="2" charset="-78"/>
                <a:cs typeface="Tajawal" panose="00000500000000000000" pitchFamily="2" charset="-78"/>
              </a:rPr>
              <a:t> وتفريط بالربحية لصالح أي جهة</a:t>
            </a:r>
          </a:p>
          <a:p>
            <a:pPr marL="285750" indent="-285750" algn="r" rtl="1">
              <a:buFont typeface="Wingdings" panose="05000000000000000000" pitchFamily="2" charset="2"/>
              <a:buChar char="Ø"/>
            </a:pPr>
            <a:endParaRPr lang="ar-LY" dirty="0">
              <a:solidFill>
                <a:schemeClr val="tx2"/>
              </a:solidFill>
              <a:latin typeface="Tajawal" panose="00000500000000000000" pitchFamily="2" charset="-78"/>
              <a:cs typeface="Tajawal" panose="00000500000000000000" pitchFamily="2" charset="-78"/>
            </a:endParaRPr>
          </a:p>
          <a:p>
            <a:pPr marL="285750" indent="-285750" algn="r" rtl="1">
              <a:buFont typeface="Wingdings" panose="05000000000000000000" pitchFamily="2" charset="2"/>
              <a:buChar char="Ø"/>
            </a:pPr>
            <a:r>
              <a:rPr lang="ar-LY" dirty="0">
                <a:solidFill>
                  <a:schemeClr val="tx2"/>
                </a:solidFill>
                <a:latin typeface="Tajawal" panose="00000500000000000000" pitchFamily="2" charset="-78"/>
                <a:cs typeface="Tajawal" panose="00000500000000000000" pitchFamily="2" charset="-78"/>
              </a:rPr>
              <a:t>لتسهيل عملية الاطلاق للمنتجات والعروض نوصي بمنح مدير الإدارة التجارية صلاحية اعتماد تنفيذ الحملات الترويجية بما يشملها من انتاجات، على ان تسمح هذه الصلاحيات لمدير الإدارة التجارية باعتماد تنفيذ أي حملة لا تزيد عن 500 الف دينار ليبي ، وعلى ان تزيد عن 10 حملات في السنة. وتتبع أي حملات أخرى اعلى من هذا السقف الإجراءات الحالية.</a:t>
            </a:r>
            <a:br>
              <a:rPr lang="ar-LY" dirty="0">
                <a:solidFill>
                  <a:schemeClr val="tx2"/>
                </a:solidFill>
                <a:latin typeface="Tajawal" panose="00000500000000000000" pitchFamily="2" charset="-78"/>
                <a:cs typeface="Tajawal" panose="00000500000000000000" pitchFamily="2" charset="-78"/>
              </a:rPr>
            </a:br>
            <a:endParaRPr lang="ar-LY" dirty="0">
              <a:solidFill>
                <a:schemeClr val="tx2"/>
              </a:solidFill>
              <a:latin typeface="Tajawal" panose="00000500000000000000" pitchFamily="2" charset="-78"/>
              <a:cs typeface="Tajawal" panose="00000500000000000000" pitchFamily="2" charset="-78"/>
            </a:endParaRPr>
          </a:p>
          <a:p>
            <a:pPr marL="285750" indent="-285750" algn="r" rtl="1">
              <a:buFont typeface="Wingdings" panose="05000000000000000000" pitchFamily="2" charset="2"/>
              <a:buChar char="Ø"/>
            </a:pPr>
            <a:r>
              <a:rPr lang="ar-LY" dirty="0">
                <a:solidFill>
                  <a:schemeClr val="tx2"/>
                </a:solidFill>
                <a:latin typeface="Tajawal" panose="00000500000000000000" pitchFamily="2" charset="-78"/>
                <a:cs typeface="Tajawal" panose="00000500000000000000" pitchFamily="2" charset="-78"/>
              </a:rPr>
              <a:t>اعتماد اتفاقية فصل الاختصاصات بين قسم التسويق بالإدارة التجارية وقسم الاعلام والنشاط. </a:t>
            </a:r>
          </a:p>
          <a:p>
            <a:pPr marL="285750" indent="-285750" algn="r" rtl="1">
              <a:buFont typeface="Wingdings" panose="05000000000000000000" pitchFamily="2" charset="2"/>
              <a:buChar char="Ø"/>
            </a:pPr>
            <a:endParaRPr lang="ar-LY" dirty="0">
              <a:solidFill>
                <a:schemeClr val="tx2"/>
              </a:solidFill>
              <a:latin typeface="Tajawal" panose="00000500000000000000" pitchFamily="2" charset="-78"/>
              <a:cs typeface="Tajawal" panose="00000500000000000000" pitchFamily="2" charset="-78"/>
            </a:endParaRPr>
          </a:p>
          <a:p>
            <a:pPr marL="285750" indent="-285750" algn="r" rtl="1">
              <a:buFont typeface="Wingdings" panose="05000000000000000000" pitchFamily="2" charset="2"/>
              <a:buChar char="Ø"/>
            </a:pPr>
            <a:r>
              <a:rPr lang="ar-LY" dirty="0">
                <a:solidFill>
                  <a:schemeClr val="tx2"/>
                </a:solidFill>
                <a:latin typeface="Tajawal" panose="00000500000000000000" pitchFamily="2" charset="-78"/>
                <a:cs typeface="Tajawal" panose="00000500000000000000" pitchFamily="2" charset="-78"/>
              </a:rPr>
              <a:t>تكاثف كل الإدارات في سبيل تحقيق المستهدفات بتسريع وثيرة إجراءات الاعتماد من الإدارة العليا ومنح المشاريع الاستراتيجية المذكورة الأولوية القصوى في إجراءات الشراء وإصدار أوامر التكليف وسداد المستحقات للموردين وتنفيذ الاعمال الفنية.</a:t>
            </a:r>
          </a:p>
          <a:p>
            <a:pPr algn="ctr" rtl="1"/>
            <a:r>
              <a:rPr lang="ar-LY" b="1" dirty="0">
                <a:solidFill>
                  <a:schemeClr val="tx2"/>
                </a:solidFill>
                <a:latin typeface="Tajawal" panose="00000500000000000000" pitchFamily="2" charset="-78"/>
                <a:cs typeface="Tajawal" panose="00000500000000000000" pitchFamily="2" charset="-78"/>
              </a:rPr>
              <a:t> نعمل معا كما عهدناكم يدا واحدة في سبيل تحقيق الصالح العام</a:t>
            </a:r>
            <a:endParaRPr lang="en-US" b="1" dirty="0">
              <a:solidFill>
                <a:schemeClr val="tx2"/>
              </a:solidFill>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4531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98E14-5834-EAC7-E860-A67208C5BCF3}"/>
            </a:ext>
          </a:extLst>
        </p:cNvPr>
        <p:cNvGrpSpPr/>
        <p:nvPr/>
      </p:nvGrpSpPr>
      <p:grpSpPr>
        <a:xfrm>
          <a:off x="0" y="0"/>
          <a:ext cx="0" cy="0"/>
          <a:chOff x="0" y="0"/>
          <a:chExt cx="0" cy="0"/>
        </a:xfrm>
      </p:grpSpPr>
      <p:sp>
        <p:nvSpPr>
          <p:cNvPr id="4" name="GVCLASSIFICATIONHEADER1342985067">
            <a:extLst>
              <a:ext uri="{FF2B5EF4-FFF2-40B4-BE49-F238E27FC236}">
                <a16:creationId xmlns:a16="http://schemas.microsoft.com/office/drawing/2014/main" id="{B84DDFC8-D75F-CD5B-FBB5-682AAA3E268C}"/>
              </a:ext>
            </a:extLst>
          </p:cNvPr>
          <p:cNvSpPr txBox="1"/>
          <p:nvPr/>
        </p:nvSpPr>
        <p:spPr>
          <a:xfrm>
            <a:off x="0" y="0"/>
            <a:ext cx="12192000" cy="369332"/>
          </a:xfrm>
          <a:prstGeom prst="rect">
            <a:avLst/>
          </a:prstGeom>
          <a:noFill/>
        </p:spPr>
        <p:txBody>
          <a:bodyPr vert="horz" wrap="square" rtlCol="0">
            <a:spAutoFit/>
          </a:bodyPr>
          <a:lstStyle/>
          <a:p>
            <a:endParaRPr lang="en-US"/>
          </a:p>
        </p:txBody>
      </p:sp>
    </p:spTree>
    <p:extLst>
      <p:ext uri="{BB962C8B-B14F-4D97-AF65-F5344CB8AC3E}">
        <p14:creationId xmlns:p14="http://schemas.microsoft.com/office/powerpoint/2010/main" val="16464637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ATA" val="ew0KICAiZG9jSUQiOiAiZWZkN2M2MjYtMjIzZS00YmJmLWIwZGQtZDJjZTQ3NDE4ZTYzIg0KfQ=="/>
  <p:tag name="GVDATA0" val="(en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612</TotalTime>
  <Words>619</Words>
  <Application>Microsoft Macintosh PowerPoint</Application>
  <PresentationFormat>Widescreen</PresentationFormat>
  <Paragraphs>66</Paragraphs>
  <Slides>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Aptos</vt:lpstr>
      <vt:lpstr>Aptos Display</vt:lpstr>
      <vt:lpstr>Arial</vt:lpstr>
      <vt:lpstr>Tajawal</vt:lpstr>
      <vt:lpstr>Tajawal Black</vt:lpstr>
      <vt:lpstr>Tajawal Light</vt:lpstr>
      <vt:lpstr>Wingdings</vt:lpstr>
      <vt:lpstr>Office Theme</vt:lpstr>
      <vt:lpstr>PowerPoint Presentation</vt:lpstr>
      <vt:lpstr>PowerPoint Presentation</vt:lpstr>
      <vt:lpstr>PowerPoint Presentation</vt:lpstr>
      <vt:lpstr>PowerPoint Presentation</vt:lpstr>
    </vt:vector>
  </TitlesOfParts>
  <Company>Libyana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Nadia M. Zeglam</dc:creator>
  <cp:lastModifiedBy>Mohamed A. Bhelil</cp:lastModifiedBy>
  <cp:revision>11</cp:revision>
  <dcterms:created xsi:type="dcterms:W3CDTF">2026-01-12T12:13:42Z</dcterms:created>
  <dcterms:modified xsi:type="dcterms:W3CDTF">2026-01-13T13:45:09Z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ata">
    <vt:lpwstr>ew0KICAidGFnc2V0X2UxNjQwOWE3XzE3MDBfNDE1M185MDkwXzM5NTViYzJmMGFlOF9jbGFzc2lmaWNhdGlvbiI6ICJQdWJsaWMiLA0KICAiZG9jSUQiOiAiZWZkN2M2MjYtMjIzZS00YmJmLWIwZGQtZDJjZTQ3NDE4ZTYzIiwNCiAgIk9TIjogIldpbmRvd3MiLA0K</vt:lpwstr>
  </property>
  <property fmtid="{D5CDD505-2E9C-101B-9397-08002B2CF9AE}" pid="3" name="GVData0">
    <vt:lpwstr>ICAiT3B0aW9ucyI6ICJ7XHUwMDIyUGFnZUxheW91dENvbmZpZ3VyYXRpb25cdTAwMjI6e1x1MDAyMkFsd2F5c1Nob3dQb3B1cFx1MDAyMjpmYWxzZSxcdTAwMjJIYXNBbHdheXNTaG93UG9wdXBcdTAwMjI6dHJ1ZSxcdTAwMjJPcHRpb25zXHUwMDIyOjAsXHUwMDIy</vt:lpwstr>
  </property>
  <property fmtid="{D5CDD505-2E9C-101B-9397-08002B2CF9AE}" pid="4" name="3rdPartyFooter">
    <vt:lpwstr>www.company.com</vt:lpwstr>
  </property>
  <property fmtid="{D5CDD505-2E9C-101B-9397-08002B2CF9AE}" pid="5" name="ClassificationTagSetId">
    <vt:lpwstr>e16409a7-1700-4153-9090-3955bc2f0ae8</vt:lpwstr>
  </property>
  <property fmtid="{D5CDD505-2E9C-101B-9397-08002B2CF9AE}" pid="6" name="Classification">
    <vt:lpwstr>Public</vt:lpwstr>
  </property>
  <property fmtid="{D5CDD505-2E9C-101B-9397-08002B2CF9AE}" pid="7" name="ComplianceTagSetId">
    <vt:lpwstr>f14fc1f1-8950-40d5-8a29-45909da947d6</vt:lpwstr>
  </property>
  <property fmtid="{D5CDD505-2E9C-101B-9397-08002B2CF9AE}" pid="8" name="FileId">
    <vt:lpwstr>efd7c626-223e-4bbf-b0dd-d2ce47418e63</vt:lpwstr>
  </property>
  <property fmtid="{D5CDD505-2E9C-101B-9397-08002B2CF9AE}" pid="9" name="UserId">
    <vt:lpwstr>LOCAL SERVICE</vt:lpwstr>
  </property>
  <property fmtid="{D5CDD505-2E9C-101B-9397-08002B2CF9AE}" pid="10" name="TagDateTime">
    <vt:lpwstr>2026-01-13T13:07:04Z</vt:lpwstr>
  </property>
  <property fmtid="{D5CDD505-2E9C-101B-9397-08002B2CF9AE}" pid="11" name="GVData1">
    <vt:lpwstr>VHJpZ2dlclBhZ2VzTnVtYmVyXHUwMDIyOjB9LFx1MDAyMkFwcGx5RnJvbVBhZ2VcdTAwMjI6MCxcdTAwMjJBcHBseVRvUGFnZVx1MDAyMjowLFx1MDAyMkhlYWRlckVuYWJsZWRcdTAwMjI6dHJ1ZSxcdTAwMjJIZWFkZXJcdTAwMjI6XHUwMDIyXHUwMDIyLFx1MDAy</vt:lpwstr>
  </property>
  <property fmtid="{D5CDD505-2E9C-101B-9397-08002B2CF9AE}" pid="12" name="GVData2">
    <vt:lpwstr>MkhlYWRlcnNcdTAwMjI6W1x1MDAyMlx1MDAyMl0sXHUwMDIySGVhZGVyVHlwZVx1MDAyMjoxLFx1MDAyMkhlYWRlclR5cGVzQWxsb3dlZFx1MDAyMjpbMl0sXHUwMDIySGVhZGVyVXBkYXRlVHlwZVx1MDAyMjowLFx1MDAyMkZvb3RlckVuYWJsZWRcdTAwMjI6ZmFs</vt:lpwstr>
  </property>
  <property fmtid="{D5CDD505-2E9C-101B-9397-08002B2CF9AE}" pid="13" name="GVData3">
    <vt:lpwstr>c2UsXHUwMDIyRm9vdGVyXHUwMDIyOlx1MDAyMlx1MDAyMixcdTAwMjJGb290ZXJzXHUwMDIyOltcdTAwMjJcdTAwMjJdLFx1MDAyMkZvb3RlclR5cGVcdTAwMjI6MixcdTAwMjJGb290ZXJUeXBlc0FsbG93ZWRcdTAwMjI6WzJdLFx1MDAyMkZvb3RlclVwZGF0ZVR5</vt:lpwstr>
  </property>
  <property fmtid="{D5CDD505-2E9C-101B-9397-08002B2CF9AE}" pid="14" name="GVData4">
    <vt:lpwstr>cGVcdTAwMjI6MCxcdTAwMjJXYXRlcm1hcmtcdTAwMjI6bnVsbCxcdTAwMjJXYXRlcm1hcmtFbmFibGVkXHUwMDIyOmZhbHNlLFx1MDAyMlNob3VsZFdyaXRlV2F0ZXJtYXJrXHUwMDIyOmZhbHNlLFx1MDAyMldhdGVybWFya1VwZGF0ZVR5cGVcdTAwMjI6MCxcdTAw</vt:lpwstr>
  </property>
  <property fmtid="{D5CDD505-2E9C-101B-9397-08002B2CF9AE}" pid="15" name="GVData5">
    <vt:lpwstr>MjJQb3dlcnBvaW50VGl0bGVcdTAwMjI6XHUwMDIyXHUwMDIyLFx1MDAyMlBvd2VycG9pbnRTdWJpdGxlXHUwMDIyOlx1MDAyMlx1MDAyMn0iLA0KICAiU3RhdGUiOiAie1x1MDAyMkZpcnN0UGFnZURpZmZlcmVudFx1MDAyMjpmYWxzZSxcdTAwMjJEaWZmZXJlbnRP</vt:lpwstr>
  </property>
  <property fmtid="{D5CDD505-2E9C-101B-9397-08002B2CF9AE}" pid="16" name="GVData6">
    <vt:lpwstr>ZGRBbmRFdmVuUGFnZXNcdTAwMjI6ZmFsc2UsXHUwMDIyUGFnZUNvdW50XHUwMDIyOjQsXHUwMDIySGVhZGVyTWV0YWRhdGFcdTAwMjI6XHUwMDIyXHUwMDIyLFx1MDAyMlRoaXJkUGFydHlIZWFkZXJNZXRhZGF0YVx1MDAyMjpcdTAwMjJcdTAwMjIsXHUwMDIyR1ZI</vt:lpwstr>
  </property>
  <property fmtid="{D5CDD505-2E9C-101B-9397-08002B2CF9AE}" pid="17" name="GVData7">
    <vt:lpwstr>ZWFkZXJFeGlzdHNcdTAwMjI6ZmFsc2UsXHUwMDIyTm9uR1ZIZWFkZXJFeGlzdHNcdTAwMjI6ZmFsc2UsXHUwMDIyQ29ybmVySGVhZGVyRXhpc3RzXHUwMDIyOmZhbHNlLFx1MDAyMk5vbkdWSGVhZGVyU2hhcGVFeGlzdHNcdTAwMjI6ZmFsc2UsXHUwMDIyVGhpcmRQ</vt:lpwstr>
  </property>
  <property fmtid="{D5CDD505-2E9C-101B-9397-08002B2CF9AE}" pid="18" name="GVData8">
    <vt:lpwstr>YXJ0eUhlYWRlcnNcdTAwMjI6W10sXHUwMDIyRm9vdGVyTWV0YWRhdGFcdTAwMjI6XHUwMDIyXHUwMDIyLFx1MDAyMlRoaXJkUGFydHlGb290ZXJNZXRhZGF0YVx1MDAyMjpcdTAwMjJ3d3cuY29tcGFueS5jb21cdTAwMjIsXHUwMDIyR1ZGb290ZXJFeGlzdHNcdTAw</vt:lpwstr>
  </property>
  <property fmtid="{D5CDD505-2E9C-101B-9397-08002B2CF9AE}" pid="19" name="GVData9">
    <vt:lpwstr>MjI6ZmFsc2UsXHUwMDIyTm9uR1ZGb290ZXJFeGlzdHNcdTAwMjI6ZmFsc2UsXHUwMDIyQ29ybmVyRm9vdGVyRXhpc3RzXHUwMDIyOmZhbHNlLFx1MDAyMk5vbkdWRm9vdGVyU2hhcGVFeGlzdHNcdTAwMjI6ZmFsc2UsXHUwMDIyVGhpcmRQYXJ0eUZvb3RlcnNcdTAw</vt:lpwstr>
  </property>
  <property fmtid="{D5CDD505-2E9C-101B-9397-08002B2CF9AE}" pid="20" name="GVData10">
    <vt:lpwstr>MjI6W10sXHUwMDIyV2F0ZXJtYXJrTWV0YWRhdGFcdTAwMjI6bnVsbCxcdTAwMjJXYXRlcm1hcmtFeGlzdHNcdTAwMjI6ZmFsc2UsXHUwMDIyUG93ZXJwb2ludFRpdGxlTWV0YWRhdGFcdTAwMjI6XHUwMDIyXHUwMDIyLFx1MDAyMlBvd2VycG9pbnRTdWJ0aXRsZU1l</vt:lpwstr>
  </property>
  <property fmtid="{D5CDD505-2E9C-101B-9397-08002B2CF9AE}" pid="21" name="GVData11">
    <vt:lpwstr>dGFkYXRhXHUwMDIyOlx1MDAyMlx1MDAyMixcdTAwMjJUaGlyZFBhcnR5TWV0YWRhdGFGb3VuZFx1MDAyMjpmYWxzZX0iDQp9</vt:lpwstr>
  </property>
  <property fmtid="{D5CDD505-2E9C-101B-9397-08002B2CF9AE}" pid="22" name="GVData12">
    <vt:lpwstr>(end)</vt:lpwstr>
  </property>
  <property fmtid="{D5CDD505-2E9C-101B-9397-08002B2CF9AE}" pid="23" name="Header">
    <vt:lpwstr/>
  </property>
</Properties>
</file>
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notesMasterIdLst>
    <p:notesMasterId r:id="rId15"/>
  </p:notesMasterIdLst>
  <p:sldIdLst>
    <p:sldId id="2147483220" r:id="rId5"/>
    <p:sldId id="2147483241" r:id="rId6"/>
    <p:sldId id="269" r:id="rId7"/>
    <p:sldId id="270" r:id="rId8"/>
    <p:sldId id="2147483269" r:id="rId9"/>
    <p:sldId id="267" r:id="rId10"/>
    <p:sldId id="2147483249" r:id="rId11"/>
    <p:sldId id="2147483253" r:id="rId12"/>
    <p:sldId id="2147483255" r:id="rId13"/>
    <p:sldId id="2147483259" r:id="rId14"/>
  </p:sldIdLst>
  <p:sldSz cx="12192000" cy="6858000"/>
  <p:notesSz cx="6858000" cy="9144000"/>
  <p:embeddedFontLst>
    <p:embeddedFont>
      <p:font typeface="Tajawal" panose="00000500000000000000" pitchFamily="2" charset="-78"/>
      <p:regular r:id="rId16"/>
      <p:bold r:id="rId17"/>
    </p:embeddedFont>
  </p:embeddedFontLst>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67" userDrawn="1">
          <p15:clr>
            <a:srgbClr val="A4A3A4"/>
          </p15:clr>
        </p15:guide>
        <p15:guide id="2" pos="47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185E239-6626-91D9-9F67-4B61F9EF431A}" name="Sarra Ben Khelifa" initials="SB" userId="S::Sarra.Ben.Khelifa@tn.ey.com::e376603c-58f5-4691-8813-2300f18f8705" providerId="AD"/>
  <p188:author id="{3457323E-8120-C11D-045D-94E98144CD81}" name="Adam Ben Sassi" initials="" userId="S::Adam.Ben.Sassi@tn.ey.com::e03c1bdc-0fb3-40dd-99b1-b9656dd223f6" providerId="AD"/>
  <p188:author id="{9B39D163-2121-5AAA-B1C2-0094F9F2EEC5}" name="Mohamed Moncef Ben Amor" initials="MB" userId="S::Ben.Amor.Mohamed.Moncef@tn.ey.com::653d4551-608a-4106-a83e-5b5ab4ea4b03" providerId="AD"/>
  <p188:author id="{9FF41386-B169-8B2B-ADFD-9DDCA49E8C54}" name="Eya Chammakhi" initials="EC" userId="S::Eya.Chammakhi@tn.ey.com::aeaef373-036c-48c0-a0a3-52b0cdfc6102" providerId="AD"/>
  <p188:author id="{038A5B90-8EF3-D933-1747-7B6AC9331E3F}" name="Nayrouz Ben Cheikh Ahmed" initials="" userId="S::Nayrouz.Ben.Cheikh.Ahmed@tn.ey.com::c497f419-6198-445e-b690-b7864686e28a" providerId="AD"/>
  <p188:author id="{C0457399-F081-4BA8-2286-8E33B4285A2F}" name="Imen Maouene" initials="IM" userId="S::Imen.Maouene@tn.ey.com::0d2a0917-959d-45e0-943c-76ca20674d13" providerId="AD"/>
  <p188:author id="{0C05F1C6-945E-55AC-89F6-46DAE3329FFB}" name="Amel Khelifa" initials="AK" userId="S::Amel.Khelifa@tn.ey.com::b9763aa2-0c5b-4ad7-b5c3-7c86fd43ab13" providerId="AD"/>
  <p188:author id="{AFAD81F2-D32A-E710-9C84-037CCC4C2AEB}" name="Dorra Bouguella" initials="DB" userId="S::Dorra.Bouguella@tn.ey.com::eaf89e21-3f8d-48fc-8649-84e12bea638c" providerId="AD"/>
  <p188:author id="{6653B3FB-7D01-75F0-D7F2-886816BE4BBF}" name="Nayrouz Ben Cheikh Ahmed" initials="NA" userId="S::nayrouz.ben.cheikh.ahmed@tn.ey.com::c497f419-6198-445e-b690-b7864686e28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2B93"/>
    <a:srgbClr val="5C3666"/>
    <a:srgbClr val="9762AA"/>
    <a:srgbClr val="78206E"/>
    <a:srgbClr val="292160"/>
    <a:srgbClr val="7B4987"/>
    <a:srgbClr val="843391"/>
    <a:srgbClr val="DBAFE2"/>
    <a:srgbClr val="B92D94"/>
    <a:srgbClr val="D29A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81F558-3F64-482A-A7B7-5D6F55161F8B}" v="4" dt="2026-01-12T10:53:28.177"/>
  </p1510:revLst>
</p1510:revInfo>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1136" y="44"/>
      </p:cViewPr>
      <p:guideLst>
        <p:guide orient="horz" pos="867"/>
        <p:guide pos="4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D76E7C-3D91-4521-9D40-E0379AEF38A7}" type="datetimeFigureOut">
              <a:rPr lang="fr-FR" smtClean="0"/>
              <a:t>12/01/2026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09191-EEBD-4471-8474-06257866E907}" type="slidenum">
              <a:rPr lang="fr-FR" smtClean="0"/>
              <a:t>‹#›</a:t>
            </a:fld>
            <a:endParaRPr lang="fr-FR"/>
          </a:p>
        </p:txBody>
      </p:sp>
    </p:spTree>
    <p:extLst>
      <p:ext uri="{BB962C8B-B14F-4D97-AF65-F5344CB8AC3E}">
        <p14:creationId xmlns:p14="http://schemas.microsoft.com/office/powerpoint/2010/main" val="1033887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1FE02-67A6-CAE3-04BD-4B3A5783F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5EAB6-47E9-841D-E232-D792719AB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8DED9C-1212-DC6C-5BF2-DB3E04680BC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29248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FBABB-92C2-F869-5285-A1949E0215C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5635BB0-9929-A749-5802-9B278095CBA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50B4D98-8AF9-282F-B9D9-C989197C1AF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CC282BEB-4259-6B8D-F770-17B50AD0D3D9}"/>
              </a:ext>
            </a:extLst>
          </p:cNvPr>
          <p:cNvSpPr>
            <a:spLocks noGrp="1"/>
          </p:cNvSpPr>
          <p:nvPr>
            <p:ph type="sldNum" sz="quarter" idx="5"/>
          </p:nvPr>
        </p:nvSpPr>
        <p:spPr/>
        <p:txBody>
          <a:bodyPr/>
          <a:lstStyle/>
          <a:p>
            <a:fld id="{E9417B19-6626-4BF7-B0AE-EBDDF25AE354}" type="slidenum">
              <a:rPr lang="fr-FR" smtClean="0"/>
              <a:t>2</a:t>
            </a:fld>
            <a:endParaRPr lang="fr-FR"/>
          </a:p>
        </p:txBody>
      </p:sp>
    </p:spTree>
    <p:extLst>
      <p:ext uri="{BB962C8B-B14F-4D97-AF65-F5344CB8AC3E}">
        <p14:creationId xmlns:p14="http://schemas.microsoft.com/office/powerpoint/2010/main" val="2880529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C5EA2-9B63-BFCE-BBD7-B5337F12AB2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8DB118-9534-5C47-3BE9-3DAE11719360}"/>
              </a:ext>
            </a:extLst>
          </p:cNvPr>
          <p:cNvSpPr>
            <a:spLocks noGrp="1" noRot="1" noChangeAspect="1"/>
          </p:cNvSpPr>
          <p:nvPr>
            <p:ph type="sldImg"/>
          </p:nvPr>
        </p:nvSpPr>
        <p:spPr>
          <a:xfrm>
            <a:off x="685800" y="1143000"/>
            <a:ext cx="5486400" cy="3086100"/>
          </a:xfrm>
        </p:spPr>
      </p:sp>
      <p:sp>
        <p:nvSpPr>
          <p:cNvPr id="3" name="Espace réservé des notes 2">
            <a:extLst>
              <a:ext uri="{FF2B5EF4-FFF2-40B4-BE49-F238E27FC236}">
                <a16:creationId xmlns:a16="http://schemas.microsoft.com/office/drawing/2014/main" id="{1F8940F1-66F3-F6BD-4DC8-1149DCB89FB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5D3EF291-200C-2692-CACF-BF4CA9256507}"/>
              </a:ext>
            </a:extLst>
          </p:cNvPr>
          <p:cNvSpPr>
            <a:spLocks noGrp="1"/>
          </p:cNvSpPr>
          <p:nvPr>
            <p:ph type="sldNum" sz="quarter" idx="5"/>
          </p:nvPr>
        </p:nvSpPr>
        <p:spPr/>
        <p:txBody>
          <a:bodyPr/>
          <a:lstStyle/>
          <a:p>
            <a:fld id="{E9417B19-6626-4BF7-B0AE-EBDDF25AE354}" type="slidenum">
              <a:rPr lang="fr-FR" smtClean="0"/>
              <a:t>3</a:t>
            </a:fld>
            <a:endParaRPr lang="fr-FR"/>
          </a:p>
        </p:txBody>
      </p:sp>
    </p:spTree>
    <p:extLst>
      <p:ext uri="{BB962C8B-B14F-4D97-AF65-F5344CB8AC3E}">
        <p14:creationId xmlns:p14="http://schemas.microsoft.com/office/powerpoint/2010/main" val="3873144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ED16E-E60C-81BA-5457-9814C4983C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567E65-2399-6797-0128-B25D0FE73047}"/>
              </a:ext>
            </a:extLst>
          </p:cNvPr>
          <p:cNvSpPr>
            <a:spLocks noGrp="1" noRot="1" noChangeAspect="1"/>
          </p:cNvSpPr>
          <p:nvPr>
            <p:ph type="sldImg"/>
          </p:nvPr>
        </p:nvSpPr>
        <p:spPr>
          <a:xfrm>
            <a:off x="685800" y="1143000"/>
            <a:ext cx="5486400" cy="3086100"/>
          </a:xfrm>
        </p:spPr>
      </p:sp>
      <p:sp>
        <p:nvSpPr>
          <p:cNvPr id="3" name="Espace réservé des notes 2">
            <a:extLst>
              <a:ext uri="{FF2B5EF4-FFF2-40B4-BE49-F238E27FC236}">
                <a16:creationId xmlns:a16="http://schemas.microsoft.com/office/drawing/2014/main" id="{D366FD3E-9E6D-8366-60CA-6507C7247C9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8226B20-D7DB-C333-8FBD-A9365A370B41}"/>
              </a:ext>
            </a:extLst>
          </p:cNvPr>
          <p:cNvSpPr>
            <a:spLocks noGrp="1"/>
          </p:cNvSpPr>
          <p:nvPr>
            <p:ph type="sldNum" sz="quarter" idx="5"/>
          </p:nvPr>
        </p:nvSpPr>
        <p:spPr/>
        <p:txBody>
          <a:bodyPr/>
          <a:lstStyle/>
          <a:p>
            <a:fld id="{E9417B19-6626-4BF7-B0AE-EBDDF25AE354}" type="slidenum">
              <a:rPr lang="fr-FR" smtClean="0"/>
              <a:t>4</a:t>
            </a:fld>
            <a:endParaRPr lang="fr-FR"/>
          </a:p>
        </p:txBody>
      </p:sp>
    </p:spTree>
    <p:extLst>
      <p:ext uri="{BB962C8B-B14F-4D97-AF65-F5344CB8AC3E}">
        <p14:creationId xmlns:p14="http://schemas.microsoft.com/office/powerpoint/2010/main" val="2891211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B8A2B-77D1-1DD5-970E-666B88E7AA8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785EF2F-DEF6-0769-F5E4-03E3140AC1B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C51BB13-7797-8F84-F48A-C4FC08647DFF}"/>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6CEE294-85C1-FC77-A7DB-534D5420E957}"/>
              </a:ext>
            </a:extLst>
          </p:cNvPr>
          <p:cNvSpPr>
            <a:spLocks noGrp="1"/>
          </p:cNvSpPr>
          <p:nvPr>
            <p:ph type="sldNum" sz="quarter" idx="5"/>
          </p:nvPr>
        </p:nvSpPr>
        <p:spPr/>
        <p:txBody>
          <a:bodyPr/>
          <a:lstStyle/>
          <a:p>
            <a:fld id="{E9417B19-6626-4BF7-B0AE-EBDDF25AE354}" type="slidenum">
              <a:rPr lang="fr-FR" smtClean="0"/>
              <a:t>5</a:t>
            </a:fld>
            <a:endParaRPr lang="fr-FR"/>
          </a:p>
        </p:txBody>
      </p:sp>
    </p:spTree>
    <p:extLst>
      <p:ext uri="{BB962C8B-B14F-4D97-AF65-F5344CB8AC3E}">
        <p14:creationId xmlns:p14="http://schemas.microsoft.com/office/powerpoint/2010/main" val="2774619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C3C76-D58D-7B23-FA26-3FA5FAAB8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1C1DB-0F12-D500-E37A-245370B06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2992FB-23CF-9B28-F40B-8425A85CAA0A}"/>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ABB4F971-E7D4-761E-2C6E-1D90B3A1B6A0}"/>
              </a:ext>
            </a:extLst>
          </p:cNvPr>
          <p:cNvSpPr>
            <a:spLocks noGrp="1"/>
          </p:cNvSpPr>
          <p:nvPr>
            <p:ph type="sldNum" sz="quarter" idx="5"/>
          </p:nvPr>
        </p:nvSpPr>
        <p:spPr/>
        <p:txBody>
          <a:bodyPr/>
          <a:lstStyle/>
          <a:p>
            <a:fld id="{2BC6D771-12D9-5044-B434-138BC22D501C}" type="slidenum">
              <a:rPr lang="en-TN" smtClean="0"/>
              <a:t>6</a:t>
            </a:fld>
            <a:endParaRPr lang="en-TN"/>
          </a:p>
        </p:txBody>
      </p:sp>
    </p:spTree>
    <p:extLst>
      <p:ext uri="{BB962C8B-B14F-4D97-AF65-F5344CB8AC3E}">
        <p14:creationId xmlns:p14="http://schemas.microsoft.com/office/powerpoint/2010/main" val="1033655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659E5-E84C-997B-948A-1194CDB7D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EE778-A618-D9A8-0EF4-82CA55C4F05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5ED136B-4BF5-7A1C-DE4C-05CE6F6ED2A0}"/>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B032B2E7-C8F9-6CB4-8B4A-A4A46E755973}"/>
              </a:ext>
            </a:extLst>
          </p:cNvPr>
          <p:cNvSpPr>
            <a:spLocks noGrp="1"/>
          </p:cNvSpPr>
          <p:nvPr>
            <p:ph type="sldNum" sz="quarter" idx="5"/>
          </p:nvPr>
        </p:nvSpPr>
        <p:spPr/>
        <p:txBody>
          <a:bodyPr/>
          <a:lstStyle/>
          <a:p>
            <a:fld id="{2BC6D771-12D9-5044-B434-138BC22D501C}" type="slidenum">
              <a:rPr lang="en-TN" smtClean="0"/>
              <a:t>7</a:t>
            </a:fld>
            <a:endParaRPr lang="en-TN"/>
          </a:p>
        </p:txBody>
      </p:sp>
    </p:spTree>
    <p:extLst>
      <p:ext uri="{BB962C8B-B14F-4D97-AF65-F5344CB8AC3E}">
        <p14:creationId xmlns:p14="http://schemas.microsoft.com/office/powerpoint/2010/main" val="2173614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A1B5F-3331-AAE4-2E0A-443FE6CCD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AAAFD-B085-79EB-1A2A-614B6B0B5F1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96D250E-05B9-9F5F-D487-51C6A8E10B52}"/>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9AFBBBF7-EB81-2D43-3794-DC3D6D97BDE9}"/>
              </a:ext>
            </a:extLst>
          </p:cNvPr>
          <p:cNvSpPr>
            <a:spLocks noGrp="1"/>
          </p:cNvSpPr>
          <p:nvPr>
            <p:ph type="sldNum" sz="quarter" idx="5"/>
          </p:nvPr>
        </p:nvSpPr>
        <p:spPr/>
        <p:txBody>
          <a:bodyPr/>
          <a:lstStyle/>
          <a:p>
            <a:fld id="{2BC6D771-12D9-5044-B434-138BC22D501C}" type="slidenum">
              <a:rPr lang="en-TN" smtClean="0"/>
              <a:t>8</a:t>
            </a:fld>
            <a:endParaRPr lang="en-TN"/>
          </a:p>
        </p:txBody>
      </p:sp>
    </p:spTree>
    <p:extLst>
      <p:ext uri="{BB962C8B-B14F-4D97-AF65-F5344CB8AC3E}">
        <p14:creationId xmlns:p14="http://schemas.microsoft.com/office/powerpoint/2010/main" val="177110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9DD87-758E-EC21-2C32-369FE91A4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A265B-14B2-B2D8-7DFF-84234448686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599B66B-1B12-F252-CDC5-E6432EEFE030}"/>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CEA0CF9D-D032-9884-BA45-BEF3BD4A4829}"/>
              </a:ext>
            </a:extLst>
          </p:cNvPr>
          <p:cNvSpPr>
            <a:spLocks noGrp="1"/>
          </p:cNvSpPr>
          <p:nvPr>
            <p:ph type="sldNum" sz="quarter" idx="5"/>
          </p:nvPr>
        </p:nvSpPr>
        <p:spPr/>
        <p:txBody>
          <a:bodyPr/>
          <a:lstStyle/>
          <a:p>
            <a:fld id="{2BC6D771-12D9-5044-B434-138BC22D501C}" type="slidenum">
              <a:rPr lang="en-TN" smtClean="0"/>
              <a:t>9</a:t>
            </a:fld>
            <a:endParaRPr lang="en-TN"/>
          </a:p>
        </p:txBody>
      </p:sp>
    </p:spTree>
    <p:extLst>
      <p:ext uri="{BB962C8B-B14F-4D97-AF65-F5344CB8AC3E}">
        <p14:creationId xmlns:p14="http://schemas.microsoft.com/office/powerpoint/2010/main" val="2428953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9B980-6D75-EF84-CCA9-E36906F73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1998F4-F454-31D4-9F9D-F6B4404D351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07C8CFE-B53E-4FE9-8DE2-57B3BBEA6876}"/>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1A341AAA-EC0D-9F6D-9997-129E6B796541}"/>
              </a:ext>
            </a:extLst>
          </p:cNvPr>
          <p:cNvSpPr>
            <a:spLocks noGrp="1"/>
          </p:cNvSpPr>
          <p:nvPr>
            <p:ph type="sldNum" sz="quarter" idx="5"/>
          </p:nvPr>
        </p:nvSpPr>
        <p:spPr/>
        <p:txBody>
          <a:bodyPr/>
          <a:lstStyle/>
          <a:p>
            <a:fld id="{2BC6D771-12D9-5044-B434-138BC22D501C}" type="slidenum">
              <a:rPr lang="en-TN" smtClean="0"/>
              <a:t>10</a:t>
            </a:fld>
            <a:endParaRPr lang="en-TN"/>
          </a:p>
        </p:txBody>
      </p:sp>
    </p:spTree>
    <p:extLst>
      <p:ext uri="{BB962C8B-B14F-4D97-AF65-F5344CB8AC3E}">
        <p14:creationId xmlns:p14="http://schemas.microsoft.com/office/powerpoint/2010/main" val="3322205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6CE7D5-CF57-46EF-B807-FDD0502418D4}" type="datetimeFigureOut">
              <a:rPr lang="en-US" smtClean="0"/>
              <a:t>1/12/2026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6CE7D5-CF57-46EF-B807-FDD0502418D4}" type="datetimeFigureOut">
              <a:rPr lang="en-US" smtClean="0"/>
              <a:t>1/12/2026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6CE7D5-CF57-46EF-B807-FDD0502418D4}" type="datetimeFigureOut">
              <a:rPr lang="en-US" smtClean="0"/>
              <a:t>1/12/2026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46CE7D5-CF57-46EF-B807-FDD0502418D4}" type="datetimeFigureOut">
              <a:rPr lang="en-US" smtClean="0"/>
              <a:t>1/12/2026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46CE7D5-CF57-46EF-B807-FDD0502418D4}" type="datetimeFigureOut">
              <a:rPr lang="en-US" smtClean="0"/>
              <a:t>1/12/2026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846CE7D5-CF57-46EF-B807-FDD0502418D4}" type="datetimeFigureOut">
              <a:rPr lang="en-US" smtClean="0"/>
              <a:t>1/12/2026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846CE7D5-CF57-46EF-B807-FDD0502418D4}" type="datetimeFigureOut">
              <a:rPr lang="en-US" smtClean="0"/>
              <a:t>1/12/2026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46CE7D5-CF57-46EF-B807-FDD0502418D4}" type="datetimeFigureOut">
              <a:rPr lang="en-US" smtClean="0"/>
              <a:t>1/12/2026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46CE7D5-CF57-46EF-B807-FDD0502418D4}" type="datetimeFigureOut">
              <a:rPr lang="en-US" smtClean="0"/>
              <a:t>1/12/2026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6CE7D5-CF57-46EF-B807-FDD0502418D4}" type="datetimeFigureOut">
              <a:rPr lang="en-US" smtClean="0"/>
              <a:t>1/12/2026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6CE7D5-CF57-46EF-B807-FDD0502418D4}" type="datetimeFigureOut">
              <a:rPr lang="en-US" smtClean="0"/>
              <a:t>1/12/2026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7_Title Slide" userDrawn="1">
  <p:cSld name="27_Title Slid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C8BE705-D87A-15A3-48F7-CF2BAF3F73E4}"/>
              </a:ext>
            </a:extLst>
          </p:cNvPr>
          <p:cNvSpPr>
            <a:spLocks noGrp="1"/>
          </p:cNvSpPr>
          <p:nvPr>
            <p:ph type="title"/>
          </p:nvPr>
        </p:nvSpPr>
        <p:spPr>
          <a:xfrm>
            <a:off x="932758" y="237495"/>
            <a:ext cx="10326484" cy="533954"/>
          </a:xfrm>
          <a:prstGeom prst="rect">
            <a:avLst/>
          </a:prstGeom>
        </p:spPr>
        <p:txBody>
          <a:bodyPr vert="horz" wrap="square" lIns="0" tIns="0" rIns="0" bIns="0" rtlCol="0" anchor="t">
            <a:noAutofit/>
          </a:bodyPr>
          <a:lstStyle>
            <a:lvl1pPr>
              <a:defRPr sz="1800" b="1">
                <a:solidFill>
                  <a:srgbClr val="7E3180"/>
                </a:solidFill>
                <a:latin typeface="EYInterstate Regular" panose="02000503020000020004" pitchFamily="2" charset="0"/>
              </a:defRPr>
            </a:lvl1pPr>
          </a:lstStyle>
          <a:p>
            <a:r>
              <a:rPr lang="en-US"/>
              <a:t>Click to edit Master title style</a:t>
            </a:r>
          </a:p>
        </p:txBody>
      </p:sp>
    </p:spTree>
    <p:extLst>
      <p:ext uri="{BB962C8B-B14F-4D97-AF65-F5344CB8AC3E}">
        <p14:creationId xmlns:p14="http://schemas.microsoft.com/office/powerpoint/2010/main" val="23359591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1DE1E97-228A-4CA9-B757-3BC345BECAE6}"/>
              </a:ext>
            </a:extLst>
          </p:cNvPr>
          <p:cNvGraphicFramePr>
            <a:graphicFrameLocks noChangeAspect="1"/>
          </p:cNvGraphicFramePr>
          <p:nvPr userDrawn="1">
            <p:custDataLst>
              <p:tags r:id="rId14"/>
            </p:custDataLst>
            <p:extLst>
              <p:ext uri="{D42A27DB-BD31-4B8C-83A1-F6EECF244321}">
                <p14:modId xmlns:p14="http://schemas.microsoft.com/office/powerpoint/2010/main" val="64672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73" imgH="476" progId="TCLayout.ActiveDocument.1">
                  <p:embed/>
                </p:oleObj>
              </mc:Choice>
              <mc:Fallback>
                <p:oleObj name="think-cell Slide" r:id="rId15" imgW="473" imgH="476" progId="TCLayout.ActiveDocument.1">
                  <p:embed/>
                  <p:pic>
                    <p:nvPicPr>
                      <p:cNvPr id="2" name="think-cell data - do not delete" hidden="1">
                        <a:extLst>
                          <a:ext uri="{FF2B5EF4-FFF2-40B4-BE49-F238E27FC236}">
                            <a16:creationId xmlns:a16="http://schemas.microsoft.com/office/drawing/2014/main" id="{D1DE1E97-228A-4CA9-B757-3BC345BECAE6}"/>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85DB590E-83E9-5593-9ED3-1EC149AE0F61}"/>
              </a:ext>
            </a:extLst>
          </p:cNvPr>
          <p:cNvPicPr>
            <a:picLocks noChangeAspect="1" noChangeArrowheads="1"/>
          </p:cNvPicPr>
          <p:nvPr userDrawn="1"/>
        </p:nvPicPr>
        <p:blipFill rotWithShape="1">
          <a:blip r:embed="rId17" cstate="print">
            <a:extLst>
              <a:ext uri="{28A0092B-C50C-407E-A947-70E740481C1C}">
                <a14:useLocalDpi xmlns:a14="http://schemas.microsoft.com/office/drawing/2010/main" val="0"/>
              </a:ext>
            </a:extLst>
          </a:blip>
          <a:srcRect l="-6179" t="-28801" r="-1" b="-20565"/>
          <a:stretch/>
        </p:blipFill>
        <p:spPr bwMode="auto">
          <a:xfrm rot="16200000">
            <a:off x="-291021" y="4748838"/>
            <a:ext cx="1316164" cy="443654"/>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4">
            <a:extLst>
              <a:ext uri="{FF2B5EF4-FFF2-40B4-BE49-F238E27FC236}">
                <a16:creationId xmlns:a16="http://schemas.microsoft.com/office/drawing/2014/main" id="{20B18BC1-5C21-89FB-F87B-3803829D285E}"/>
              </a:ext>
            </a:extLst>
          </p:cNvPr>
          <p:cNvSpPr txBox="1">
            <a:spLocks/>
          </p:cNvSpPr>
          <p:nvPr userDrawn="1"/>
        </p:nvSpPr>
        <p:spPr>
          <a:xfrm>
            <a:off x="346635" y="6422033"/>
            <a:ext cx="731051" cy="230832"/>
          </a:xfrm>
          <a:prstGeom prst="rect">
            <a:avLst/>
          </a:prstGeom>
        </p:spPr>
        <p:txBody>
          <a:bodyPr/>
          <a:lstStyle>
            <a:defPPr>
              <a:defRPr lang="en-T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9C962CE-7B81-8147-8068-5A380D3AE04D}" type="slidenum">
              <a:rPr lang="en-TN" sz="1000" smtClean="0">
                <a:solidFill>
                  <a:srgbClr val="7E3180"/>
                </a:solidFill>
                <a:latin typeface="EYInterstate Light" panose="02000506000000020004" pitchFamily="2" charset="0"/>
              </a:rPr>
              <a:pPr algn="ctr"/>
              <a:t>‹#›</a:t>
            </a:fld>
            <a:endParaRPr lang="en-TN" sz="1000">
              <a:solidFill>
                <a:srgbClr val="7E3180"/>
              </a:solidFill>
              <a:latin typeface="EYInterstate Light" panose="02000506000000020004" pitchFamily="2" charset="0"/>
            </a:endParaRPr>
          </a:p>
        </p:txBody>
      </p:sp>
      <p:cxnSp>
        <p:nvCxnSpPr>
          <p:cNvPr id="9" name="Straight Connector 8">
            <a:extLst>
              <a:ext uri="{FF2B5EF4-FFF2-40B4-BE49-F238E27FC236}">
                <a16:creationId xmlns:a16="http://schemas.microsoft.com/office/drawing/2014/main" id="{17C35E9D-9A22-711F-4BCD-6195DB78AB6A}"/>
              </a:ext>
            </a:extLst>
          </p:cNvPr>
          <p:cNvCxnSpPr>
            <a:cxnSpLocks/>
            <a:stCxn id="8" idx="3"/>
            <a:endCxn id="10" idx="1"/>
          </p:cNvCxnSpPr>
          <p:nvPr userDrawn="1"/>
        </p:nvCxnSpPr>
        <p:spPr>
          <a:xfrm flipV="1">
            <a:off x="1077686" y="6523824"/>
            <a:ext cx="7350697" cy="13625"/>
          </a:xfrm>
          <a:prstGeom prst="line">
            <a:avLst/>
          </a:prstGeom>
          <a:ln w="3175">
            <a:solidFill>
              <a:srgbClr val="7E318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2535828-BF5B-B443-252C-5568275DD889}"/>
              </a:ext>
            </a:extLst>
          </p:cNvPr>
          <p:cNvSpPr txBox="1"/>
          <p:nvPr userDrawn="1"/>
        </p:nvSpPr>
        <p:spPr>
          <a:xfrm>
            <a:off x="8428383" y="6408408"/>
            <a:ext cx="3223451" cy="230832"/>
          </a:xfrm>
          <a:prstGeom prst="rect">
            <a:avLst/>
          </a:prstGeom>
          <a:noFill/>
        </p:spPr>
        <p:txBody>
          <a:bodyPr wrap="square" rtlCol="0">
            <a:spAutoFit/>
          </a:bodyPr>
          <a:lstStyle/>
          <a:p>
            <a:r>
              <a:rPr lang="en-US" sz="900">
                <a:solidFill>
                  <a:srgbClr val="7E3180"/>
                </a:solidFill>
                <a:latin typeface="EYInterstate Light" panose="02000506000000020004" pitchFamily="2" charset="0"/>
              </a:rPr>
              <a:t>Co-Building the Future of Customer Experience at Libyana</a:t>
            </a:r>
            <a:endParaRPr lang="en-TN" sz="900">
              <a:solidFill>
                <a:srgbClr val="7E3180"/>
              </a:solidFill>
              <a:latin typeface="EYInterstate Light" panose="02000506000000020004" pitchFamily="2" charset="0"/>
            </a:endParaRP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jpeg"/><Relationship Id="rId3" Type="http://schemas.openxmlformats.org/officeDocument/2006/relationships/notesSlide" Target="../notesSlides/notesSlide3.xml"/><Relationship Id="rId7" Type="http://schemas.openxmlformats.org/officeDocument/2006/relationships/image" Target="../media/image4.png"/><Relationship Id="rId12" Type="http://schemas.openxmlformats.org/officeDocument/2006/relationships/image" Target="../media/image9.jpeg"/><Relationship Id="rId2" Type="http://schemas.openxmlformats.org/officeDocument/2006/relationships/slideLayout" Target="../slideLayouts/slideLayout12.xml"/><Relationship Id="rId16" Type="http://schemas.openxmlformats.org/officeDocument/2006/relationships/image" Target="../media/image13.jpeg"/><Relationship Id="rId1" Type="http://schemas.openxmlformats.org/officeDocument/2006/relationships/tags" Target="../tags/tag5.xml"/><Relationship Id="rId6" Type="http://schemas.openxmlformats.org/officeDocument/2006/relationships/image" Target="../media/image3.png"/><Relationship Id="rId11" Type="http://schemas.openxmlformats.org/officeDocument/2006/relationships/image" Target="../media/image8.jpeg"/><Relationship Id="rId5" Type="http://schemas.openxmlformats.org/officeDocument/2006/relationships/image" Target="../media/image1.emf"/><Relationship Id="rId15" Type="http://schemas.openxmlformats.org/officeDocument/2006/relationships/image" Target="../media/image12.jpeg"/><Relationship Id="rId10" Type="http://schemas.openxmlformats.org/officeDocument/2006/relationships/image" Target="../media/image7.jpeg"/><Relationship Id="rId4" Type="http://schemas.openxmlformats.org/officeDocument/2006/relationships/oleObject" Target="../embeddings/oleObject3.bin"/><Relationship Id="rId9" Type="http://schemas.openxmlformats.org/officeDocument/2006/relationships/image" Target="../media/image6.jpeg"/><Relationship Id="rId14" Type="http://schemas.openxmlformats.org/officeDocument/2006/relationships/image" Target="../media/image11.jpeg"/></Relationships>
</file>

<file path=ppt/slides/_rels/slide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8.png"/><Relationship Id="rId18" Type="http://schemas.openxmlformats.org/officeDocument/2006/relationships/image" Target="../media/image21.jpeg"/><Relationship Id="rId3" Type="http://schemas.openxmlformats.org/officeDocument/2006/relationships/notesSlide" Target="../notesSlides/notesSlide4.xml"/><Relationship Id="rId7" Type="http://schemas.openxmlformats.org/officeDocument/2006/relationships/image" Target="../media/image4.png"/><Relationship Id="rId12" Type="http://schemas.openxmlformats.org/officeDocument/2006/relationships/image" Target="../media/image17.jpeg"/><Relationship Id="rId17" Type="http://schemas.openxmlformats.org/officeDocument/2006/relationships/image" Target="../media/image20.jpeg"/><Relationship Id="rId2" Type="http://schemas.openxmlformats.org/officeDocument/2006/relationships/slideLayout" Target="../slideLayouts/slideLayout12.xml"/><Relationship Id="rId16" Type="http://schemas.microsoft.com/office/2007/relationships/hdphoto" Target="../media/hdphoto2.wdp"/><Relationship Id="rId1" Type="http://schemas.openxmlformats.org/officeDocument/2006/relationships/tags" Target="../tags/tag6.xml"/><Relationship Id="rId6" Type="http://schemas.openxmlformats.org/officeDocument/2006/relationships/image" Target="../media/image3.png"/><Relationship Id="rId11" Type="http://schemas.openxmlformats.org/officeDocument/2006/relationships/image" Target="../media/image16.jpeg"/><Relationship Id="rId5" Type="http://schemas.openxmlformats.org/officeDocument/2006/relationships/image" Target="../media/image1.emf"/><Relationship Id="rId15" Type="http://schemas.openxmlformats.org/officeDocument/2006/relationships/image" Target="../media/image19.png"/><Relationship Id="rId10" Type="http://schemas.openxmlformats.org/officeDocument/2006/relationships/image" Target="../media/image15.jpeg"/><Relationship Id="rId19" Type="http://schemas.openxmlformats.org/officeDocument/2006/relationships/image" Target="../media/image22.jpeg"/><Relationship Id="rId4" Type="http://schemas.openxmlformats.org/officeDocument/2006/relationships/oleObject" Target="../embeddings/oleObject3.bin"/><Relationship Id="rId9" Type="http://schemas.openxmlformats.org/officeDocument/2006/relationships/image" Target="../media/image14.jpeg"/><Relationship Id="rId1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5.xml"/><Relationship Id="rId7" Type="http://schemas.openxmlformats.org/officeDocument/2006/relationships/image" Target="../media/image24.png"/><Relationship Id="rId2" Type="http://schemas.openxmlformats.org/officeDocument/2006/relationships/slideLayout" Target="../slideLayouts/slideLayout12.xml"/><Relationship Id="rId1" Type="http://schemas.openxmlformats.org/officeDocument/2006/relationships/tags" Target="../tags/tag7.xml"/><Relationship Id="rId6" Type="http://schemas.openxmlformats.org/officeDocument/2006/relationships/image" Target="../media/image23.png"/><Relationship Id="rId5" Type="http://schemas.openxmlformats.org/officeDocument/2006/relationships/image" Target="../media/image1.emf"/><Relationship Id="rId4" Type="http://schemas.openxmlformats.org/officeDocument/2006/relationships/oleObject" Target="../embeddings/oleObject3.bin"/><Relationship Id="rId9" Type="http://schemas.openxmlformats.org/officeDocument/2006/relationships/image" Target="../media/image26.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notesSlide" Target="../notesSlides/notesSlide6.xml"/><Relationship Id="rId7" Type="http://schemas.openxmlformats.org/officeDocument/2006/relationships/image" Target="../media/image28.png"/><Relationship Id="rId2" Type="http://schemas.openxmlformats.org/officeDocument/2006/relationships/slideLayout" Target="../slideLayouts/slideLayout12.xml"/><Relationship Id="rId1" Type="http://schemas.openxmlformats.org/officeDocument/2006/relationships/tags" Target="../tags/tag8.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1.emf"/><Relationship Id="rId10" Type="http://schemas.openxmlformats.org/officeDocument/2006/relationships/image" Target="../media/image31.png"/><Relationship Id="rId4" Type="http://schemas.openxmlformats.org/officeDocument/2006/relationships/oleObject" Target="../embeddings/oleObject4.bin"/><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35.jpeg"/><Relationship Id="rId13" Type="http://schemas.openxmlformats.org/officeDocument/2006/relationships/image" Target="../media/image40.jpeg"/><Relationship Id="rId3" Type="http://schemas.openxmlformats.org/officeDocument/2006/relationships/notesSlide" Target="../notesSlides/notesSlide7.xml"/><Relationship Id="rId7" Type="http://schemas.openxmlformats.org/officeDocument/2006/relationships/image" Target="../media/image34.jpeg"/><Relationship Id="rId12" Type="http://schemas.openxmlformats.org/officeDocument/2006/relationships/image" Target="../media/image39.jpeg"/><Relationship Id="rId2" Type="http://schemas.openxmlformats.org/officeDocument/2006/relationships/slideLayout" Target="../slideLayouts/slideLayout12.xml"/><Relationship Id="rId1" Type="http://schemas.openxmlformats.org/officeDocument/2006/relationships/tags" Target="../tags/tag9.xml"/><Relationship Id="rId6" Type="http://schemas.openxmlformats.org/officeDocument/2006/relationships/image" Target="../media/image33.jpeg"/><Relationship Id="rId11" Type="http://schemas.openxmlformats.org/officeDocument/2006/relationships/image" Target="../media/image38.jpeg"/><Relationship Id="rId5" Type="http://schemas.openxmlformats.org/officeDocument/2006/relationships/image" Target="../media/image1.emf"/><Relationship Id="rId15" Type="http://schemas.openxmlformats.org/officeDocument/2006/relationships/image" Target="../media/image42.jpeg"/><Relationship Id="rId10" Type="http://schemas.openxmlformats.org/officeDocument/2006/relationships/image" Target="../media/image37.jpeg"/><Relationship Id="rId4" Type="http://schemas.openxmlformats.org/officeDocument/2006/relationships/oleObject" Target="../embeddings/oleObject5.bin"/><Relationship Id="rId9" Type="http://schemas.openxmlformats.org/officeDocument/2006/relationships/image" Target="../media/image36.jpeg"/><Relationship Id="rId14" Type="http://schemas.openxmlformats.org/officeDocument/2006/relationships/image" Target="../media/image41.jpeg"/></Relationships>
</file>

<file path=ppt/slides/_rels/slide8.xml.rels><?xml version="1.0" encoding="UTF-8" standalone="yes"?>
<Relationships xmlns="http://schemas.openxmlformats.org/package/2006/relationships"><Relationship Id="rId8" Type="http://schemas.openxmlformats.org/officeDocument/2006/relationships/image" Target="../media/image45.jpeg"/><Relationship Id="rId13" Type="http://schemas.openxmlformats.org/officeDocument/2006/relationships/image" Target="../media/image50.jpeg"/><Relationship Id="rId3" Type="http://schemas.openxmlformats.org/officeDocument/2006/relationships/notesSlide" Target="../notesSlides/notesSlide8.xml"/><Relationship Id="rId7" Type="http://schemas.openxmlformats.org/officeDocument/2006/relationships/image" Target="../media/image44.jpeg"/><Relationship Id="rId12" Type="http://schemas.openxmlformats.org/officeDocument/2006/relationships/image" Target="../media/image49.jpeg"/><Relationship Id="rId2" Type="http://schemas.openxmlformats.org/officeDocument/2006/relationships/slideLayout" Target="../slideLayouts/slideLayout12.xml"/><Relationship Id="rId1" Type="http://schemas.openxmlformats.org/officeDocument/2006/relationships/tags" Target="../tags/tag10.xml"/><Relationship Id="rId6" Type="http://schemas.openxmlformats.org/officeDocument/2006/relationships/image" Target="../media/image43.jpeg"/><Relationship Id="rId11" Type="http://schemas.openxmlformats.org/officeDocument/2006/relationships/image" Target="../media/image48.jpeg"/><Relationship Id="rId5" Type="http://schemas.openxmlformats.org/officeDocument/2006/relationships/image" Target="../media/image1.emf"/><Relationship Id="rId15" Type="http://schemas.openxmlformats.org/officeDocument/2006/relationships/image" Target="../media/image52.jpeg"/><Relationship Id="rId10" Type="http://schemas.openxmlformats.org/officeDocument/2006/relationships/image" Target="../media/image47.jpeg"/><Relationship Id="rId4" Type="http://schemas.openxmlformats.org/officeDocument/2006/relationships/oleObject" Target="../embeddings/oleObject5.bin"/><Relationship Id="rId9" Type="http://schemas.openxmlformats.org/officeDocument/2006/relationships/image" Target="../media/image46.jpeg"/><Relationship Id="rId14" Type="http://schemas.openxmlformats.org/officeDocument/2006/relationships/image" Target="../media/image51.jpeg"/></Relationships>
</file>

<file path=ppt/slides/_rels/slide9.xml.rels><?xml version="1.0" encoding="UTF-8" standalone="yes"?>
<Relationships xmlns="http://schemas.openxmlformats.org/package/2006/relationships"><Relationship Id="rId8" Type="http://schemas.openxmlformats.org/officeDocument/2006/relationships/image" Target="../media/image55.jpeg"/><Relationship Id="rId13" Type="http://schemas.openxmlformats.org/officeDocument/2006/relationships/image" Target="../media/image60.jpeg"/><Relationship Id="rId3" Type="http://schemas.openxmlformats.org/officeDocument/2006/relationships/notesSlide" Target="../notesSlides/notesSlide9.xml"/><Relationship Id="rId7" Type="http://schemas.openxmlformats.org/officeDocument/2006/relationships/image" Target="../media/image54.jpeg"/><Relationship Id="rId12" Type="http://schemas.openxmlformats.org/officeDocument/2006/relationships/image" Target="../media/image59.jpeg"/><Relationship Id="rId2" Type="http://schemas.openxmlformats.org/officeDocument/2006/relationships/slideLayout" Target="../slideLayouts/slideLayout12.xml"/><Relationship Id="rId1" Type="http://schemas.openxmlformats.org/officeDocument/2006/relationships/tags" Target="../tags/tag11.xml"/><Relationship Id="rId6" Type="http://schemas.openxmlformats.org/officeDocument/2006/relationships/image" Target="../media/image53.jpeg"/><Relationship Id="rId11" Type="http://schemas.openxmlformats.org/officeDocument/2006/relationships/image" Target="../media/image58.jpeg"/><Relationship Id="rId5" Type="http://schemas.openxmlformats.org/officeDocument/2006/relationships/image" Target="../media/image1.emf"/><Relationship Id="rId15" Type="http://schemas.openxmlformats.org/officeDocument/2006/relationships/image" Target="../media/image62.jpeg"/><Relationship Id="rId10" Type="http://schemas.openxmlformats.org/officeDocument/2006/relationships/image" Target="../media/image57.jpeg"/><Relationship Id="rId4" Type="http://schemas.openxmlformats.org/officeDocument/2006/relationships/oleObject" Target="../embeddings/oleObject5.bin"/><Relationship Id="rId9" Type="http://schemas.openxmlformats.org/officeDocument/2006/relationships/image" Target="../media/image56.jpeg"/><Relationship Id="rId14" Type="http://schemas.openxmlformats.org/officeDocument/2006/relationships/image" Target="../media/image61.jpeg"/></Relationships>
</file>

<file path=ppt/slides/_rels/slide10.xml.rels><?xml version="1.0" encoding="UTF-8" standalone="yes"?>
<Relationships xmlns="http://schemas.openxmlformats.org/package/2006/relationships"><Relationship Id="rId8" Type="http://schemas.openxmlformats.org/officeDocument/2006/relationships/image" Target="../media/image65.jpeg"/><Relationship Id="rId13" Type="http://schemas.openxmlformats.org/officeDocument/2006/relationships/image" Target="../media/image70.jpeg"/><Relationship Id="rId3" Type="http://schemas.openxmlformats.org/officeDocument/2006/relationships/notesSlide" Target="../notesSlides/notesSlide10.xml"/><Relationship Id="rId7" Type="http://schemas.openxmlformats.org/officeDocument/2006/relationships/image" Target="../media/image64.jpeg"/><Relationship Id="rId12" Type="http://schemas.openxmlformats.org/officeDocument/2006/relationships/image" Target="../media/image69.jpeg"/><Relationship Id="rId2" Type="http://schemas.openxmlformats.org/officeDocument/2006/relationships/slideLayout" Target="../slideLayouts/slideLayout12.xml"/><Relationship Id="rId1" Type="http://schemas.openxmlformats.org/officeDocument/2006/relationships/tags" Target="../tags/tag12.xml"/><Relationship Id="rId6" Type="http://schemas.openxmlformats.org/officeDocument/2006/relationships/image" Target="../media/image63.jpeg"/><Relationship Id="rId11" Type="http://schemas.openxmlformats.org/officeDocument/2006/relationships/image" Target="../media/image68.jpeg"/><Relationship Id="rId5" Type="http://schemas.openxmlformats.org/officeDocument/2006/relationships/image" Target="../media/image1.emf"/><Relationship Id="rId15" Type="http://schemas.openxmlformats.org/officeDocument/2006/relationships/image" Target="../media/image72.jpeg"/><Relationship Id="rId10" Type="http://schemas.openxmlformats.org/officeDocument/2006/relationships/image" Target="../media/image67.jpeg"/><Relationship Id="rId4" Type="http://schemas.openxmlformats.org/officeDocument/2006/relationships/oleObject" Target="../embeddings/oleObject5.bin"/><Relationship Id="rId9" Type="http://schemas.openxmlformats.org/officeDocument/2006/relationships/image" Target="../media/image66.jpeg"/><Relationship Id="rId14" Type="http://schemas.openxmlformats.org/officeDocument/2006/relationships/image" Target="../media/image7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95B3-7B98-FEC0-B31A-741C2C4B8F0A}"/>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2100319-BDD1-2F63-9569-9E4ED0E3300C}"/>
              </a:ext>
            </a:extLst>
          </p:cNvPr>
          <p:cNvGraphicFramePr>
            <a:graphicFrameLocks noChangeAspect="1"/>
          </p:cNvGraphicFramePr>
          <p:nvPr>
            <p:custDataLst>
              <p:tags r:id="rId1"/>
            </p:custDataLst>
            <p:extLst>
              <p:ext uri="{D42A27DB-BD31-4B8C-83A1-F6EECF244321}">
                <p14:modId xmlns:p14="http://schemas.microsoft.com/office/powerpoint/2010/main" val="671539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2" name="think-cell data - do not delete" hidden="1">
                        <a:extLst>
                          <a:ext uri="{FF2B5EF4-FFF2-40B4-BE49-F238E27FC236}">
                            <a16:creationId xmlns:a16="http://schemas.microsoft.com/office/drawing/2014/main" id="{12100319-BDD1-2F63-9569-9E4ED0E3300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0" name="Rectangle: Rounded Corners 69">
            <a:extLst>
              <a:ext uri="{FF2B5EF4-FFF2-40B4-BE49-F238E27FC236}">
                <a16:creationId xmlns:a16="http://schemas.microsoft.com/office/drawing/2014/main" id="{E6DA23C8-69A3-351F-DEF6-DE321DAB73DD}"/>
              </a:ext>
            </a:extLst>
          </p:cNvPr>
          <p:cNvSpPr/>
          <p:nvPr/>
        </p:nvSpPr>
        <p:spPr>
          <a:xfrm>
            <a:off x="1084256" y="4605933"/>
            <a:ext cx="10347564" cy="1305695"/>
          </a:xfrm>
          <a:prstGeom prst="roundRect">
            <a:avLst/>
          </a:prstGeom>
          <a:solidFill>
            <a:schemeClr val="bg1">
              <a:lumMod val="75000"/>
              <a:alpha val="30000"/>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8" name="Rectangle: Rounded Corners 67">
            <a:extLst>
              <a:ext uri="{FF2B5EF4-FFF2-40B4-BE49-F238E27FC236}">
                <a16:creationId xmlns:a16="http://schemas.microsoft.com/office/drawing/2014/main" id="{0F0CA8C3-1A71-5768-EE20-2E20F68B5D52}"/>
              </a:ext>
            </a:extLst>
          </p:cNvPr>
          <p:cNvSpPr/>
          <p:nvPr/>
        </p:nvSpPr>
        <p:spPr>
          <a:xfrm>
            <a:off x="1084256" y="3221782"/>
            <a:ext cx="10347564" cy="1305695"/>
          </a:xfrm>
          <a:prstGeom prst="roundRect">
            <a:avLst/>
          </a:prstGeom>
          <a:solidFill>
            <a:schemeClr val="bg1">
              <a:lumMod val="75000"/>
              <a:alpha val="30000"/>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white"/>
              </a:solidFill>
              <a:latin typeface="Aptos" panose="020B0004020202020204"/>
            </a:endParaRPr>
          </a:p>
        </p:txBody>
      </p:sp>
      <p:sp>
        <p:nvSpPr>
          <p:cNvPr id="66" name="Rectangle: Rounded Corners 65">
            <a:extLst>
              <a:ext uri="{FF2B5EF4-FFF2-40B4-BE49-F238E27FC236}">
                <a16:creationId xmlns:a16="http://schemas.microsoft.com/office/drawing/2014/main" id="{9C5D11EF-4BEF-6B07-C4FF-1264E2906DF8}"/>
              </a:ext>
            </a:extLst>
          </p:cNvPr>
          <p:cNvSpPr/>
          <p:nvPr/>
        </p:nvSpPr>
        <p:spPr>
          <a:xfrm>
            <a:off x="1084256" y="1814211"/>
            <a:ext cx="10347564" cy="1305695"/>
          </a:xfrm>
          <a:prstGeom prst="roundRect">
            <a:avLst/>
          </a:prstGeom>
          <a:solidFill>
            <a:schemeClr val="bg1">
              <a:lumMod val="75000"/>
              <a:alpha val="30000"/>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prstClr val="white"/>
              </a:solidFill>
              <a:latin typeface="Aptos" panose="020B0004020202020204"/>
            </a:endParaRPr>
          </a:p>
        </p:txBody>
      </p:sp>
      <p:sp>
        <p:nvSpPr>
          <p:cNvPr id="7" name="Title 7">
            <a:extLst>
              <a:ext uri="{FF2B5EF4-FFF2-40B4-BE49-F238E27FC236}">
                <a16:creationId xmlns:a16="http://schemas.microsoft.com/office/drawing/2014/main" id="{992640B1-E7E2-9EAD-1B6B-471D24084D83}"/>
              </a:ext>
            </a:extLst>
          </p:cNvPr>
          <p:cNvSpPr txBox="1">
            <a:spLocks/>
          </p:cNvSpPr>
          <p:nvPr/>
        </p:nvSpPr>
        <p:spPr>
          <a:xfrm>
            <a:off x="599800" y="316277"/>
            <a:ext cx="11062949" cy="352179"/>
          </a:xfrm>
          <a:prstGeom prst="rect">
            <a:avLst/>
          </a:prstGeom>
        </p:spPr>
        <p:txBody>
          <a:bodyPr vert="horz"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lang="ar-LY" sz="1800" b="1" dirty="0">
                <a:solidFill>
                  <a:srgbClr val="7A2F84"/>
                </a:solidFill>
                <a:latin typeface="Tajawal" panose="00000500000000000000" pitchFamily="2" charset="-78"/>
                <a:cs typeface="Tajawal" panose="00000500000000000000" pitchFamily="2" charset="-78"/>
              </a:rPr>
              <a:t>المشروع بالأرقام</a:t>
            </a:r>
            <a:endParaRPr kumimoji="0" lang="en-US" sz="1800" b="1" i="0" u="none" strike="noStrike" kern="1200" cap="none" spc="0" normalizeH="0" baseline="0" noProof="0" dirty="0">
              <a:ln>
                <a:noFill/>
              </a:ln>
              <a:solidFill>
                <a:srgbClr val="7A2F84"/>
              </a:solidFill>
              <a:effectLst/>
              <a:uLnTx/>
              <a:uFillTx/>
              <a:latin typeface="Tajawal" panose="00000500000000000000" pitchFamily="2" charset="-78"/>
              <a:cs typeface="Tajawal" panose="00000500000000000000" pitchFamily="2" charset="-78"/>
            </a:endParaRPr>
          </a:p>
        </p:txBody>
      </p:sp>
      <p:grpSp>
        <p:nvGrpSpPr>
          <p:cNvPr id="20" name="Group 19">
            <a:extLst>
              <a:ext uri="{FF2B5EF4-FFF2-40B4-BE49-F238E27FC236}">
                <a16:creationId xmlns:a16="http://schemas.microsoft.com/office/drawing/2014/main" id="{9FDC1271-005D-2BE1-05F9-00BBF7B285FD}"/>
              </a:ext>
            </a:extLst>
          </p:cNvPr>
          <p:cNvGrpSpPr/>
          <p:nvPr/>
        </p:nvGrpSpPr>
        <p:grpSpPr>
          <a:xfrm>
            <a:off x="5713498" y="3382669"/>
            <a:ext cx="1959375" cy="1033292"/>
            <a:chOff x="6014338" y="3002132"/>
            <a:chExt cx="2155922" cy="1395170"/>
          </a:xfrm>
        </p:grpSpPr>
        <p:grpSp>
          <p:nvGrpSpPr>
            <p:cNvPr id="57" name="Group 56">
              <a:extLst>
                <a:ext uri="{FF2B5EF4-FFF2-40B4-BE49-F238E27FC236}">
                  <a16:creationId xmlns:a16="http://schemas.microsoft.com/office/drawing/2014/main" id="{26847288-2E99-12FB-A0A7-3E0B468B2AC8}"/>
                </a:ext>
              </a:extLst>
            </p:cNvPr>
            <p:cNvGrpSpPr/>
            <p:nvPr/>
          </p:nvGrpSpPr>
          <p:grpSpPr>
            <a:xfrm>
              <a:off x="6014338" y="3002132"/>
              <a:ext cx="2155922" cy="1395170"/>
              <a:chOff x="127755" y="5813915"/>
              <a:chExt cx="1270127" cy="239797"/>
            </a:xfrm>
            <a:solidFill>
              <a:srgbClr val="139CD3"/>
            </a:solidFill>
          </p:grpSpPr>
          <p:sp>
            <p:nvSpPr>
              <p:cNvPr id="59" name="object 54">
                <a:extLst>
                  <a:ext uri="{FF2B5EF4-FFF2-40B4-BE49-F238E27FC236}">
                    <a16:creationId xmlns:a16="http://schemas.microsoft.com/office/drawing/2014/main" id="{0F19CAFE-7650-C78C-60AA-360D659A59E0}"/>
                  </a:ext>
                </a:extLst>
              </p:cNvPr>
              <p:cNvSpPr/>
              <p:nvPr/>
            </p:nvSpPr>
            <p:spPr>
              <a:xfrm>
                <a:off x="127755" y="5813915"/>
                <a:ext cx="1270127" cy="239797"/>
              </a:xfrm>
              <a:custGeom>
                <a:avLst/>
                <a:gdLst/>
                <a:ahLst/>
                <a:cxnLst/>
                <a:rect l="l" t="t" r="r" b="b"/>
                <a:pathLst>
                  <a:path w="2451100" h="216535">
                    <a:moveTo>
                      <a:pt x="2414524" y="0"/>
                    </a:moveTo>
                    <a:lnTo>
                      <a:pt x="36067" y="0"/>
                    </a:lnTo>
                    <a:lnTo>
                      <a:pt x="22020" y="2831"/>
                    </a:lnTo>
                    <a:lnTo>
                      <a:pt x="10556" y="10556"/>
                    </a:lnTo>
                    <a:lnTo>
                      <a:pt x="2831" y="22020"/>
                    </a:lnTo>
                    <a:lnTo>
                      <a:pt x="0" y="36067"/>
                    </a:lnTo>
                    <a:lnTo>
                      <a:pt x="0" y="180339"/>
                    </a:lnTo>
                    <a:lnTo>
                      <a:pt x="2831" y="194387"/>
                    </a:lnTo>
                    <a:lnTo>
                      <a:pt x="10556" y="205851"/>
                    </a:lnTo>
                    <a:lnTo>
                      <a:pt x="22020" y="213576"/>
                    </a:lnTo>
                    <a:lnTo>
                      <a:pt x="36067" y="216407"/>
                    </a:lnTo>
                    <a:lnTo>
                      <a:pt x="2414524" y="216407"/>
                    </a:lnTo>
                    <a:lnTo>
                      <a:pt x="2428571" y="213576"/>
                    </a:lnTo>
                    <a:lnTo>
                      <a:pt x="2440035" y="205851"/>
                    </a:lnTo>
                    <a:lnTo>
                      <a:pt x="2447760" y="194387"/>
                    </a:lnTo>
                    <a:lnTo>
                      <a:pt x="2450592" y="180339"/>
                    </a:lnTo>
                    <a:lnTo>
                      <a:pt x="2450592" y="36067"/>
                    </a:lnTo>
                    <a:lnTo>
                      <a:pt x="2447760" y="22020"/>
                    </a:lnTo>
                    <a:lnTo>
                      <a:pt x="2440035" y="10556"/>
                    </a:lnTo>
                    <a:lnTo>
                      <a:pt x="2428571" y="2831"/>
                    </a:lnTo>
                    <a:lnTo>
                      <a:pt x="2414524" y="0"/>
                    </a:lnTo>
                    <a:close/>
                  </a:path>
                </a:pathLst>
              </a:custGeom>
              <a:solidFill>
                <a:srgbClr val="5C3666"/>
              </a:solidFill>
              <a:ln>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endParaRPr>
              </a:p>
            </p:txBody>
          </p:sp>
          <p:sp>
            <p:nvSpPr>
              <p:cNvPr id="60" name="object 55">
                <a:extLst>
                  <a:ext uri="{FF2B5EF4-FFF2-40B4-BE49-F238E27FC236}">
                    <a16:creationId xmlns:a16="http://schemas.microsoft.com/office/drawing/2014/main" id="{3114F4BB-5832-42EE-BC43-3649BCE75AAA}"/>
                  </a:ext>
                </a:extLst>
              </p:cNvPr>
              <p:cNvSpPr txBox="1"/>
              <p:nvPr/>
            </p:nvSpPr>
            <p:spPr>
              <a:xfrm>
                <a:off x="395365" y="5848398"/>
                <a:ext cx="702933" cy="88687"/>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fr-FR" sz="2400" b="1"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rPr>
                  <a:t>30</a:t>
                </a:r>
                <a:endParaRPr kumimoji="0" lang="fr-FR" sz="2400" b="0"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endParaRPr>
              </a:p>
            </p:txBody>
          </p:sp>
        </p:grpSp>
        <p:sp>
          <p:nvSpPr>
            <p:cNvPr id="58" name="object 55">
              <a:extLst>
                <a:ext uri="{FF2B5EF4-FFF2-40B4-BE49-F238E27FC236}">
                  <a16:creationId xmlns:a16="http://schemas.microsoft.com/office/drawing/2014/main" id="{3821DE0F-6884-32D0-965E-5C4E2AA22FF8}"/>
                </a:ext>
              </a:extLst>
            </p:cNvPr>
            <p:cNvSpPr txBox="1"/>
            <p:nvPr/>
          </p:nvSpPr>
          <p:spPr>
            <a:xfrm>
              <a:off x="6117083" y="3666387"/>
              <a:ext cx="2010535" cy="671831"/>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ar-LY" sz="105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rPr>
                <a:t>تمت ملاحظة الوكلاء ومراكز الخدمات أثناء تفاعلاتهم المباشرة مع  المشتركين</a:t>
              </a:r>
              <a:endParaRPr kumimoji="0" lang="en-US" sz="105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endParaRPr>
            </a:p>
          </p:txBody>
        </p:sp>
      </p:grpSp>
      <p:grpSp>
        <p:nvGrpSpPr>
          <p:cNvPr id="21" name="Group 20">
            <a:extLst>
              <a:ext uri="{FF2B5EF4-FFF2-40B4-BE49-F238E27FC236}">
                <a16:creationId xmlns:a16="http://schemas.microsoft.com/office/drawing/2014/main" id="{AB341A08-ED4F-9932-D1D1-03D1BA093E40}"/>
              </a:ext>
            </a:extLst>
          </p:cNvPr>
          <p:cNvGrpSpPr/>
          <p:nvPr/>
        </p:nvGrpSpPr>
        <p:grpSpPr>
          <a:xfrm>
            <a:off x="1319196" y="1962499"/>
            <a:ext cx="1959377" cy="1033292"/>
            <a:chOff x="4659574" y="1467526"/>
            <a:chExt cx="2352909" cy="1528418"/>
          </a:xfrm>
          <a:solidFill>
            <a:srgbClr val="139CD3"/>
          </a:solidFill>
        </p:grpSpPr>
        <p:grpSp>
          <p:nvGrpSpPr>
            <p:cNvPr id="53" name="Group 52">
              <a:extLst>
                <a:ext uri="{FF2B5EF4-FFF2-40B4-BE49-F238E27FC236}">
                  <a16:creationId xmlns:a16="http://schemas.microsoft.com/office/drawing/2014/main" id="{D5ABA614-7B54-08FB-53CB-84DFC3EFF05A}"/>
                </a:ext>
              </a:extLst>
            </p:cNvPr>
            <p:cNvGrpSpPr/>
            <p:nvPr/>
          </p:nvGrpSpPr>
          <p:grpSpPr>
            <a:xfrm>
              <a:off x="4659574" y="1467526"/>
              <a:ext cx="2352909" cy="1528418"/>
              <a:chOff x="131216" y="5810257"/>
              <a:chExt cx="1270127" cy="240706"/>
            </a:xfrm>
            <a:grpFill/>
          </p:grpSpPr>
          <p:sp>
            <p:nvSpPr>
              <p:cNvPr id="55" name="object 54">
                <a:extLst>
                  <a:ext uri="{FF2B5EF4-FFF2-40B4-BE49-F238E27FC236}">
                    <a16:creationId xmlns:a16="http://schemas.microsoft.com/office/drawing/2014/main" id="{68BBD3CE-2FBE-AB3A-705B-6146A6762959}"/>
                  </a:ext>
                </a:extLst>
              </p:cNvPr>
              <p:cNvSpPr/>
              <p:nvPr/>
            </p:nvSpPr>
            <p:spPr>
              <a:xfrm>
                <a:off x="131216" y="5810257"/>
                <a:ext cx="1270127" cy="240706"/>
              </a:xfrm>
              <a:custGeom>
                <a:avLst/>
                <a:gdLst/>
                <a:ahLst/>
                <a:cxnLst/>
                <a:rect l="l" t="t" r="r" b="b"/>
                <a:pathLst>
                  <a:path w="2451100" h="216535">
                    <a:moveTo>
                      <a:pt x="2414524" y="0"/>
                    </a:moveTo>
                    <a:lnTo>
                      <a:pt x="36067" y="0"/>
                    </a:lnTo>
                    <a:lnTo>
                      <a:pt x="22020" y="2831"/>
                    </a:lnTo>
                    <a:lnTo>
                      <a:pt x="10556" y="10556"/>
                    </a:lnTo>
                    <a:lnTo>
                      <a:pt x="2831" y="22020"/>
                    </a:lnTo>
                    <a:lnTo>
                      <a:pt x="0" y="36067"/>
                    </a:lnTo>
                    <a:lnTo>
                      <a:pt x="0" y="180339"/>
                    </a:lnTo>
                    <a:lnTo>
                      <a:pt x="2831" y="194387"/>
                    </a:lnTo>
                    <a:lnTo>
                      <a:pt x="10556" y="205851"/>
                    </a:lnTo>
                    <a:lnTo>
                      <a:pt x="22020" y="213576"/>
                    </a:lnTo>
                    <a:lnTo>
                      <a:pt x="36067" y="216407"/>
                    </a:lnTo>
                    <a:lnTo>
                      <a:pt x="2414524" y="216407"/>
                    </a:lnTo>
                    <a:lnTo>
                      <a:pt x="2428571" y="213576"/>
                    </a:lnTo>
                    <a:lnTo>
                      <a:pt x="2440035" y="205851"/>
                    </a:lnTo>
                    <a:lnTo>
                      <a:pt x="2447760" y="194387"/>
                    </a:lnTo>
                    <a:lnTo>
                      <a:pt x="2450592" y="180339"/>
                    </a:lnTo>
                    <a:lnTo>
                      <a:pt x="2450592" y="36067"/>
                    </a:lnTo>
                    <a:lnTo>
                      <a:pt x="2447760" y="22020"/>
                    </a:lnTo>
                    <a:lnTo>
                      <a:pt x="2440035" y="10556"/>
                    </a:lnTo>
                    <a:lnTo>
                      <a:pt x="2428571" y="2831"/>
                    </a:lnTo>
                    <a:lnTo>
                      <a:pt x="2414524" y="0"/>
                    </a:lnTo>
                    <a:close/>
                  </a:path>
                </a:pathLst>
              </a:custGeom>
              <a:solidFill>
                <a:srgbClr val="5C3666"/>
              </a:solidFill>
              <a:ln>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endParaRPr>
              </a:p>
            </p:txBody>
          </p:sp>
          <p:sp>
            <p:nvSpPr>
              <p:cNvPr id="56" name="object 55">
                <a:extLst>
                  <a:ext uri="{FF2B5EF4-FFF2-40B4-BE49-F238E27FC236}">
                    <a16:creationId xmlns:a16="http://schemas.microsoft.com/office/drawing/2014/main" id="{E4A1E2C0-1E06-4FEB-C526-E8D608F41EEC}"/>
                  </a:ext>
                </a:extLst>
              </p:cNvPr>
              <p:cNvSpPr txBox="1"/>
              <p:nvPr/>
            </p:nvSpPr>
            <p:spPr>
              <a:xfrm>
                <a:off x="374710" y="5836843"/>
                <a:ext cx="702933" cy="89023"/>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fr-FR" sz="2400" b="1"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rPr>
                  <a:t>+11</a:t>
                </a:r>
                <a:endParaRPr kumimoji="0" lang="fr-FR" sz="2400" b="0"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endParaRPr>
              </a:p>
            </p:txBody>
          </p:sp>
        </p:grpSp>
        <p:sp>
          <p:nvSpPr>
            <p:cNvPr id="54" name="object 55">
              <a:extLst>
                <a:ext uri="{FF2B5EF4-FFF2-40B4-BE49-F238E27FC236}">
                  <a16:creationId xmlns:a16="http://schemas.microsoft.com/office/drawing/2014/main" id="{6F0CA8DC-74EF-28F5-22F1-61D9B5FB86B8}"/>
                </a:ext>
              </a:extLst>
            </p:cNvPr>
            <p:cNvSpPr txBox="1"/>
            <p:nvPr/>
          </p:nvSpPr>
          <p:spPr>
            <a:xfrm>
              <a:off x="4983112" y="2146455"/>
              <a:ext cx="1687375" cy="337648"/>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ar-LY"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rPr>
                <a:t>مقابلة شخصية</a:t>
              </a:r>
              <a:endParaRPr kumimoji="0" lang="fr-FR"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endParaRPr>
            </a:p>
          </p:txBody>
        </p:sp>
      </p:grpSp>
      <p:grpSp>
        <p:nvGrpSpPr>
          <p:cNvPr id="22" name="Group 21">
            <a:extLst>
              <a:ext uri="{FF2B5EF4-FFF2-40B4-BE49-F238E27FC236}">
                <a16:creationId xmlns:a16="http://schemas.microsoft.com/office/drawing/2014/main" id="{A6B1F5E1-BAB0-D953-797C-0816C6B1C0A3}"/>
              </a:ext>
            </a:extLst>
          </p:cNvPr>
          <p:cNvGrpSpPr/>
          <p:nvPr/>
        </p:nvGrpSpPr>
        <p:grpSpPr>
          <a:xfrm>
            <a:off x="3516349" y="1958634"/>
            <a:ext cx="1959377" cy="1033293"/>
            <a:chOff x="3207354" y="1891825"/>
            <a:chExt cx="2352909" cy="1528430"/>
          </a:xfrm>
          <a:solidFill>
            <a:srgbClr val="FCB414"/>
          </a:solidFill>
        </p:grpSpPr>
        <p:grpSp>
          <p:nvGrpSpPr>
            <p:cNvPr id="49" name="Group 48">
              <a:extLst>
                <a:ext uri="{FF2B5EF4-FFF2-40B4-BE49-F238E27FC236}">
                  <a16:creationId xmlns:a16="http://schemas.microsoft.com/office/drawing/2014/main" id="{8CBBABA5-5EFD-2C2F-FC88-8FDF8878F41F}"/>
                </a:ext>
              </a:extLst>
            </p:cNvPr>
            <p:cNvGrpSpPr/>
            <p:nvPr/>
          </p:nvGrpSpPr>
          <p:grpSpPr>
            <a:xfrm>
              <a:off x="3207354" y="1891825"/>
              <a:ext cx="2352909" cy="1528430"/>
              <a:chOff x="131216" y="5811628"/>
              <a:chExt cx="1270127" cy="240708"/>
            </a:xfrm>
            <a:grpFill/>
          </p:grpSpPr>
          <p:sp>
            <p:nvSpPr>
              <p:cNvPr id="51" name="object 54">
                <a:extLst>
                  <a:ext uri="{FF2B5EF4-FFF2-40B4-BE49-F238E27FC236}">
                    <a16:creationId xmlns:a16="http://schemas.microsoft.com/office/drawing/2014/main" id="{6F91A0BC-2EB8-3D9E-5CA1-7F49A7C633EF}"/>
                  </a:ext>
                </a:extLst>
              </p:cNvPr>
              <p:cNvSpPr/>
              <p:nvPr/>
            </p:nvSpPr>
            <p:spPr>
              <a:xfrm>
                <a:off x="131216" y="5811628"/>
                <a:ext cx="1270127" cy="240708"/>
              </a:xfrm>
              <a:custGeom>
                <a:avLst/>
                <a:gdLst/>
                <a:ahLst/>
                <a:cxnLst/>
                <a:rect l="l" t="t" r="r" b="b"/>
                <a:pathLst>
                  <a:path w="2451100" h="216535">
                    <a:moveTo>
                      <a:pt x="2414524" y="0"/>
                    </a:moveTo>
                    <a:lnTo>
                      <a:pt x="36067" y="0"/>
                    </a:lnTo>
                    <a:lnTo>
                      <a:pt x="22020" y="2831"/>
                    </a:lnTo>
                    <a:lnTo>
                      <a:pt x="10556" y="10556"/>
                    </a:lnTo>
                    <a:lnTo>
                      <a:pt x="2831" y="22020"/>
                    </a:lnTo>
                    <a:lnTo>
                      <a:pt x="0" y="36067"/>
                    </a:lnTo>
                    <a:lnTo>
                      <a:pt x="0" y="180339"/>
                    </a:lnTo>
                    <a:lnTo>
                      <a:pt x="2831" y="194387"/>
                    </a:lnTo>
                    <a:lnTo>
                      <a:pt x="10556" y="205851"/>
                    </a:lnTo>
                    <a:lnTo>
                      <a:pt x="22020" y="213576"/>
                    </a:lnTo>
                    <a:lnTo>
                      <a:pt x="36067" y="216407"/>
                    </a:lnTo>
                    <a:lnTo>
                      <a:pt x="2414524" y="216407"/>
                    </a:lnTo>
                    <a:lnTo>
                      <a:pt x="2428571" y="213576"/>
                    </a:lnTo>
                    <a:lnTo>
                      <a:pt x="2440035" y="205851"/>
                    </a:lnTo>
                    <a:lnTo>
                      <a:pt x="2447760" y="194387"/>
                    </a:lnTo>
                    <a:lnTo>
                      <a:pt x="2450592" y="180339"/>
                    </a:lnTo>
                    <a:lnTo>
                      <a:pt x="2450592" y="36067"/>
                    </a:lnTo>
                    <a:lnTo>
                      <a:pt x="2447760" y="22020"/>
                    </a:lnTo>
                    <a:lnTo>
                      <a:pt x="2440035" y="10556"/>
                    </a:lnTo>
                    <a:lnTo>
                      <a:pt x="2428571" y="2831"/>
                    </a:lnTo>
                    <a:lnTo>
                      <a:pt x="2414524" y="0"/>
                    </a:lnTo>
                    <a:close/>
                  </a:path>
                </a:pathLst>
              </a:custGeom>
              <a:solidFill>
                <a:srgbClr val="92389E">
                  <a:alpha val="72000"/>
                </a:srgbClr>
              </a:solidFill>
              <a:ln>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Tajawal" panose="00000500000000000000" pitchFamily="2" charset="-78"/>
                  <a:cs typeface="Tajawal" panose="00000500000000000000" pitchFamily="2" charset="-78"/>
                </a:endParaRPr>
              </a:p>
            </p:txBody>
          </p:sp>
          <p:sp>
            <p:nvSpPr>
              <p:cNvPr id="52" name="object 55">
                <a:extLst>
                  <a:ext uri="{FF2B5EF4-FFF2-40B4-BE49-F238E27FC236}">
                    <a16:creationId xmlns:a16="http://schemas.microsoft.com/office/drawing/2014/main" id="{B582DFED-535A-AD45-B78D-8B9B64FD6FFA}"/>
                  </a:ext>
                </a:extLst>
              </p:cNvPr>
              <p:cNvSpPr txBox="1"/>
              <p:nvPr/>
            </p:nvSpPr>
            <p:spPr>
              <a:xfrm>
                <a:off x="379284" y="5843354"/>
                <a:ext cx="702933" cy="89024"/>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fr-FR" sz="2400" b="1"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rPr>
                  <a:t>08</a:t>
                </a:r>
                <a:endParaRPr kumimoji="0" lang="fr-FR" sz="2400" b="0"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endParaRPr>
              </a:p>
            </p:txBody>
          </p:sp>
        </p:grpSp>
        <p:sp>
          <p:nvSpPr>
            <p:cNvPr id="50" name="object 55">
              <a:extLst>
                <a:ext uri="{FF2B5EF4-FFF2-40B4-BE49-F238E27FC236}">
                  <a16:creationId xmlns:a16="http://schemas.microsoft.com/office/drawing/2014/main" id="{0C19BF25-7762-31E3-A757-9EE8587A38F5}"/>
                </a:ext>
              </a:extLst>
            </p:cNvPr>
            <p:cNvSpPr txBox="1"/>
            <p:nvPr/>
          </p:nvSpPr>
          <p:spPr>
            <a:xfrm>
              <a:off x="3232825" y="2620608"/>
              <a:ext cx="2318350" cy="337650"/>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lang="ar-LY" sz="1400" b="1" kern="0" dirty="0">
                  <a:solidFill>
                    <a:prstClr val="white"/>
                  </a:solidFill>
                  <a:latin typeface="Tajawal" panose="00000500000000000000" pitchFamily="2" charset="-78"/>
                  <a:cs typeface="Tajawal" panose="00000500000000000000" pitchFamily="2" charset="-78"/>
                </a:rPr>
                <a:t>قناة رقمية</a:t>
              </a:r>
              <a:endParaRPr kumimoji="0" lang="en-US"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endParaRPr>
            </a:p>
          </p:txBody>
        </p:sp>
      </p:grpSp>
      <p:grpSp>
        <p:nvGrpSpPr>
          <p:cNvPr id="23" name="Group 22">
            <a:extLst>
              <a:ext uri="{FF2B5EF4-FFF2-40B4-BE49-F238E27FC236}">
                <a16:creationId xmlns:a16="http://schemas.microsoft.com/office/drawing/2014/main" id="{4FE0B72B-3141-79CF-3C85-684BFCD6824A}"/>
              </a:ext>
            </a:extLst>
          </p:cNvPr>
          <p:cNvGrpSpPr/>
          <p:nvPr/>
        </p:nvGrpSpPr>
        <p:grpSpPr>
          <a:xfrm>
            <a:off x="3516347" y="3382675"/>
            <a:ext cx="1959377" cy="1021087"/>
            <a:chOff x="5585519" y="3752694"/>
            <a:chExt cx="2155922" cy="1400458"/>
          </a:xfrm>
          <a:solidFill>
            <a:schemeClr val="accent5"/>
          </a:solidFill>
        </p:grpSpPr>
        <p:sp>
          <p:nvSpPr>
            <p:cNvPr id="46" name="object 54">
              <a:extLst>
                <a:ext uri="{FF2B5EF4-FFF2-40B4-BE49-F238E27FC236}">
                  <a16:creationId xmlns:a16="http://schemas.microsoft.com/office/drawing/2014/main" id="{DEA4D669-A787-6B36-EB1D-50D05B750D4B}"/>
                </a:ext>
              </a:extLst>
            </p:cNvPr>
            <p:cNvSpPr/>
            <p:nvPr/>
          </p:nvSpPr>
          <p:spPr>
            <a:xfrm>
              <a:off x="5585519" y="3752694"/>
              <a:ext cx="2155922" cy="1400458"/>
            </a:xfrm>
            <a:custGeom>
              <a:avLst/>
              <a:gdLst/>
              <a:ahLst/>
              <a:cxnLst/>
              <a:rect l="l" t="t" r="r" b="b"/>
              <a:pathLst>
                <a:path w="2451100" h="216535">
                  <a:moveTo>
                    <a:pt x="2414524" y="0"/>
                  </a:moveTo>
                  <a:lnTo>
                    <a:pt x="36067" y="0"/>
                  </a:lnTo>
                  <a:lnTo>
                    <a:pt x="22020" y="2831"/>
                  </a:lnTo>
                  <a:lnTo>
                    <a:pt x="10556" y="10556"/>
                  </a:lnTo>
                  <a:lnTo>
                    <a:pt x="2831" y="22020"/>
                  </a:lnTo>
                  <a:lnTo>
                    <a:pt x="0" y="36067"/>
                  </a:lnTo>
                  <a:lnTo>
                    <a:pt x="0" y="180339"/>
                  </a:lnTo>
                  <a:lnTo>
                    <a:pt x="2831" y="194387"/>
                  </a:lnTo>
                  <a:lnTo>
                    <a:pt x="10556" y="205851"/>
                  </a:lnTo>
                  <a:lnTo>
                    <a:pt x="22020" y="213576"/>
                  </a:lnTo>
                  <a:lnTo>
                    <a:pt x="36067" y="216407"/>
                  </a:lnTo>
                  <a:lnTo>
                    <a:pt x="2414524" y="216407"/>
                  </a:lnTo>
                  <a:lnTo>
                    <a:pt x="2428571" y="213576"/>
                  </a:lnTo>
                  <a:lnTo>
                    <a:pt x="2440035" y="205851"/>
                  </a:lnTo>
                  <a:lnTo>
                    <a:pt x="2447760" y="194387"/>
                  </a:lnTo>
                  <a:lnTo>
                    <a:pt x="2450592" y="180339"/>
                  </a:lnTo>
                  <a:lnTo>
                    <a:pt x="2450592" y="36067"/>
                  </a:lnTo>
                  <a:lnTo>
                    <a:pt x="2447760" y="22020"/>
                  </a:lnTo>
                  <a:lnTo>
                    <a:pt x="2440035" y="10556"/>
                  </a:lnTo>
                  <a:lnTo>
                    <a:pt x="2428571" y="2831"/>
                  </a:lnTo>
                  <a:lnTo>
                    <a:pt x="2414524" y="0"/>
                  </a:lnTo>
                  <a:close/>
                </a:path>
              </a:pathLst>
            </a:custGeom>
            <a:grpFill/>
            <a:ln>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Tajawal" panose="00000500000000000000" pitchFamily="2" charset="-78"/>
                <a:cs typeface="Tajawal" panose="00000500000000000000" pitchFamily="2" charset="-78"/>
              </a:endParaRPr>
            </a:p>
          </p:txBody>
        </p:sp>
        <p:sp>
          <p:nvSpPr>
            <p:cNvPr id="47" name="object 55">
              <a:extLst>
                <a:ext uri="{FF2B5EF4-FFF2-40B4-BE49-F238E27FC236}">
                  <a16:creationId xmlns:a16="http://schemas.microsoft.com/office/drawing/2014/main" id="{36C73E9F-FB6C-3A56-CB40-3ADED1319105}"/>
                </a:ext>
              </a:extLst>
            </p:cNvPr>
            <p:cNvSpPr txBox="1"/>
            <p:nvPr/>
          </p:nvSpPr>
          <p:spPr>
            <a:xfrm>
              <a:off x="6080658" y="3955092"/>
              <a:ext cx="1193163" cy="524142"/>
            </a:xfrm>
            <a:prstGeom prst="rect">
              <a:avLst/>
            </a:prstGeom>
            <a:grp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fr-FR" sz="2400" b="1"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rPr>
                <a:t>6</a:t>
              </a:r>
              <a:endParaRPr kumimoji="0" lang="fr-FR" sz="2400" b="0"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endParaRPr>
            </a:p>
          </p:txBody>
        </p:sp>
        <p:sp>
          <p:nvSpPr>
            <p:cNvPr id="48" name="object 55">
              <a:extLst>
                <a:ext uri="{FF2B5EF4-FFF2-40B4-BE49-F238E27FC236}">
                  <a16:creationId xmlns:a16="http://schemas.microsoft.com/office/drawing/2014/main" id="{4D4DFDFE-1062-6190-84C7-1FF6C15C36D9}"/>
                </a:ext>
              </a:extLst>
            </p:cNvPr>
            <p:cNvSpPr txBox="1"/>
            <p:nvPr/>
          </p:nvSpPr>
          <p:spPr>
            <a:xfrm>
              <a:off x="5666925" y="4367712"/>
              <a:ext cx="2010536" cy="313078"/>
            </a:xfrm>
            <a:prstGeom prst="rect">
              <a:avLst/>
            </a:prstGeom>
            <a:grp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ar-LY"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rPr>
                <a:t>شخصيات تم تحديدها</a:t>
              </a:r>
              <a:endParaRPr kumimoji="0" lang="fr-FR"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endParaRPr>
            </a:p>
          </p:txBody>
        </p:sp>
      </p:grpSp>
      <p:grpSp>
        <p:nvGrpSpPr>
          <p:cNvPr id="24" name="Group 23">
            <a:extLst>
              <a:ext uri="{FF2B5EF4-FFF2-40B4-BE49-F238E27FC236}">
                <a16:creationId xmlns:a16="http://schemas.microsoft.com/office/drawing/2014/main" id="{88ACAA0B-720A-151D-F575-FA0A6C6E0BF8}"/>
              </a:ext>
            </a:extLst>
          </p:cNvPr>
          <p:cNvGrpSpPr/>
          <p:nvPr/>
        </p:nvGrpSpPr>
        <p:grpSpPr>
          <a:xfrm>
            <a:off x="1319196" y="3369812"/>
            <a:ext cx="1959377" cy="1033292"/>
            <a:chOff x="3393112" y="3758794"/>
            <a:chExt cx="2155924" cy="1394349"/>
          </a:xfrm>
        </p:grpSpPr>
        <p:sp>
          <p:nvSpPr>
            <p:cNvPr id="43" name="object 54">
              <a:extLst>
                <a:ext uri="{FF2B5EF4-FFF2-40B4-BE49-F238E27FC236}">
                  <a16:creationId xmlns:a16="http://schemas.microsoft.com/office/drawing/2014/main" id="{C95B0C53-C513-7ABC-8801-BF94984353F5}"/>
                </a:ext>
              </a:extLst>
            </p:cNvPr>
            <p:cNvSpPr/>
            <p:nvPr/>
          </p:nvSpPr>
          <p:spPr>
            <a:xfrm>
              <a:off x="3393112" y="3758794"/>
              <a:ext cx="2155922" cy="1394349"/>
            </a:xfrm>
            <a:custGeom>
              <a:avLst/>
              <a:gdLst/>
              <a:ahLst/>
              <a:cxnLst/>
              <a:rect l="l" t="t" r="r" b="b"/>
              <a:pathLst>
                <a:path w="2451100" h="216535">
                  <a:moveTo>
                    <a:pt x="2414524" y="0"/>
                  </a:moveTo>
                  <a:lnTo>
                    <a:pt x="36067" y="0"/>
                  </a:lnTo>
                  <a:lnTo>
                    <a:pt x="22020" y="2831"/>
                  </a:lnTo>
                  <a:lnTo>
                    <a:pt x="10556" y="10556"/>
                  </a:lnTo>
                  <a:lnTo>
                    <a:pt x="2831" y="22020"/>
                  </a:lnTo>
                  <a:lnTo>
                    <a:pt x="0" y="36067"/>
                  </a:lnTo>
                  <a:lnTo>
                    <a:pt x="0" y="180339"/>
                  </a:lnTo>
                  <a:lnTo>
                    <a:pt x="2831" y="194387"/>
                  </a:lnTo>
                  <a:lnTo>
                    <a:pt x="10556" y="205851"/>
                  </a:lnTo>
                  <a:lnTo>
                    <a:pt x="22020" y="213576"/>
                  </a:lnTo>
                  <a:lnTo>
                    <a:pt x="36067" y="216407"/>
                  </a:lnTo>
                  <a:lnTo>
                    <a:pt x="2414524" y="216407"/>
                  </a:lnTo>
                  <a:lnTo>
                    <a:pt x="2428571" y="213576"/>
                  </a:lnTo>
                  <a:lnTo>
                    <a:pt x="2440035" y="205851"/>
                  </a:lnTo>
                  <a:lnTo>
                    <a:pt x="2447760" y="194387"/>
                  </a:lnTo>
                  <a:lnTo>
                    <a:pt x="2450592" y="180339"/>
                  </a:lnTo>
                  <a:lnTo>
                    <a:pt x="2450592" y="36067"/>
                  </a:lnTo>
                  <a:lnTo>
                    <a:pt x="2447760" y="22020"/>
                  </a:lnTo>
                  <a:lnTo>
                    <a:pt x="2440035" y="10556"/>
                  </a:lnTo>
                  <a:lnTo>
                    <a:pt x="2428571" y="2831"/>
                  </a:lnTo>
                  <a:lnTo>
                    <a:pt x="2414524" y="0"/>
                  </a:lnTo>
                  <a:close/>
                </a:path>
              </a:pathLst>
            </a:custGeom>
            <a:solidFill>
              <a:srgbClr val="4A3CAE">
                <a:alpha val="72000"/>
              </a:srgbClr>
            </a:solidFill>
            <a:ln>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Tajawal" panose="00000500000000000000" pitchFamily="2" charset="-78"/>
                <a:cs typeface="Tajawal" panose="00000500000000000000" pitchFamily="2" charset="-78"/>
              </a:endParaRPr>
            </a:p>
          </p:txBody>
        </p:sp>
        <p:sp>
          <p:nvSpPr>
            <p:cNvPr id="44" name="object 55">
              <a:extLst>
                <a:ext uri="{FF2B5EF4-FFF2-40B4-BE49-F238E27FC236}">
                  <a16:creationId xmlns:a16="http://schemas.microsoft.com/office/drawing/2014/main" id="{98C307C9-81BB-ACBC-A5A7-4003EB39C40F}"/>
                </a:ext>
              </a:extLst>
            </p:cNvPr>
            <p:cNvSpPr txBox="1"/>
            <p:nvPr/>
          </p:nvSpPr>
          <p:spPr>
            <a:xfrm>
              <a:off x="3874491" y="3946762"/>
              <a:ext cx="1193163" cy="515690"/>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ar-LY" sz="2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rPr>
                <a:t>3</a:t>
              </a:r>
              <a:endParaRPr kumimoji="0" lang="fr-FR" sz="2400" b="0"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endParaRPr>
            </a:p>
          </p:txBody>
        </p:sp>
        <p:sp>
          <p:nvSpPr>
            <p:cNvPr id="45" name="object 55">
              <a:extLst>
                <a:ext uri="{FF2B5EF4-FFF2-40B4-BE49-F238E27FC236}">
                  <a16:creationId xmlns:a16="http://schemas.microsoft.com/office/drawing/2014/main" id="{992F5BC9-372D-CE30-F241-F690F85817C2}"/>
                </a:ext>
              </a:extLst>
            </p:cNvPr>
            <p:cNvSpPr txBox="1"/>
            <p:nvPr/>
          </p:nvSpPr>
          <p:spPr>
            <a:xfrm>
              <a:off x="3424780" y="4422230"/>
              <a:ext cx="2124256" cy="616059"/>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ar-LY"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rPr>
                <a:t>ورش عمل تفاعلية</a:t>
              </a:r>
              <a:endParaRPr kumimoji="0" lang="en-US"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endParaRPr>
            </a:p>
            <a:p>
              <a:pPr marL="12700" marR="0" lvl="0" indent="0" algn="ctr" defTabSz="914400" rtl="0" eaLnBrk="1" fontAlgn="auto" latinLnBrk="0" hangingPunct="1">
                <a:lnSpc>
                  <a:spcPct val="100000"/>
                </a:lnSpc>
                <a:spcBef>
                  <a:spcPts val="100"/>
                </a:spcBef>
                <a:spcAft>
                  <a:spcPts val="0"/>
                </a:spcAft>
                <a:buClrTx/>
                <a:buSzTx/>
                <a:buFontTx/>
                <a:buNone/>
                <a:tabLst/>
                <a:defRPr/>
              </a:pPr>
              <a:endParaRPr kumimoji="0" lang="fr-FR"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endParaRPr>
            </a:p>
          </p:txBody>
        </p:sp>
      </p:grpSp>
      <p:grpSp>
        <p:nvGrpSpPr>
          <p:cNvPr id="25" name="Group 24">
            <a:extLst>
              <a:ext uri="{FF2B5EF4-FFF2-40B4-BE49-F238E27FC236}">
                <a16:creationId xmlns:a16="http://schemas.microsoft.com/office/drawing/2014/main" id="{FD4E33FF-4960-D637-8C36-9084A34DF12D}"/>
              </a:ext>
            </a:extLst>
          </p:cNvPr>
          <p:cNvGrpSpPr/>
          <p:nvPr/>
        </p:nvGrpSpPr>
        <p:grpSpPr>
          <a:xfrm>
            <a:off x="5713498" y="1958634"/>
            <a:ext cx="1959377" cy="1033293"/>
            <a:chOff x="8225212" y="1538097"/>
            <a:chExt cx="2155922" cy="1408452"/>
          </a:xfrm>
        </p:grpSpPr>
        <p:sp>
          <p:nvSpPr>
            <p:cNvPr id="40" name="object 54">
              <a:extLst>
                <a:ext uri="{FF2B5EF4-FFF2-40B4-BE49-F238E27FC236}">
                  <a16:creationId xmlns:a16="http://schemas.microsoft.com/office/drawing/2014/main" id="{F1148C5D-806A-C48A-22DE-F13FE3457EA3}"/>
                </a:ext>
              </a:extLst>
            </p:cNvPr>
            <p:cNvSpPr/>
            <p:nvPr/>
          </p:nvSpPr>
          <p:spPr>
            <a:xfrm>
              <a:off x="8225212" y="1538097"/>
              <a:ext cx="2155922" cy="1408452"/>
            </a:xfrm>
            <a:custGeom>
              <a:avLst/>
              <a:gdLst/>
              <a:ahLst/>
              <a:cxnLst/>
              <a:rect l="l" t="t" r="r" b="b"/>
              <a:pathLst>
                <a:path w="2451100" h="216535">
                  <a:moveTo>
                    <a:pt x="2414524" y="0"/>
                  </a:moveTo>
                  <a:lnTo>
                    <a:pt x="36067" y="0"/>
                  </a:lnTo>
                  <a:lnTo>
                    <a:pt x="22020" y="2831"/>
                  </a:lnTo>
                  <a:lnTo>
                    <a:pt x="10556" y="10556"/>
                  </a:lnTo>
                  <a:lnTo>
                    <a:pt x="2831" y="22020"/>
                  </a:lnTo>
                  <a:lnTo>
                    <a:pt x="0" y="36067"/>
                  </a:lnTo>
                  <a:lnTo>
                    <a:pt x="0" y="180339"/>
                  </a:lnTo>
                  <a:lnTo>
                    <a:pt x="2831" y="194387"/>
                  </a:lnTo>
                  <a:lnTo>
                    <a:pt x="10556" y="205851"/>
                  </a:lnTo>
                  <a:lnTo>
                    <a:pt x="22020" y="213576"/>
                  </a:lnTo>
                  <a:lnTo>
                    <a:pt x="36067" y="216407"/>
                  </a:lnTo>
                  <a:lnTo>
                    <a:pt x="2414524" y="216407"/>
                  </a:lnTo>
                  <a:lnTo>
                    <a:pt x="2428571" y="213576"/>
                  </a:lnTo>
                  <a:lnTo>
                    <a:pt x="2440035" y="205851"/>
                  </a:lnTo>
                  <a:lnTo>
                    <a:pt x="2447760" y="194387"/>
                  </a:lnTo>
                  <a:lnTo>
                    <a:pt x="2450592" y="180339"/>
                  </a:lnTo>
                  <a:lnTo>
                    <a:pt x="2450592" y="36067"/>
                  </a:lnTo>
                  <a:lnTo>
                    <a:pt x="2447760" y="22020"/>
                  </a:lnTo>
                  <a:lnTo>
                    <a:pt x="2440035" y="10556"/>
                  </a:lnTo>
                  <a:lnTo>
                    <a:pt x="2428571" y="2831"/>
                  </a:lnTo>
                  <a:lnTo>
                    <a:pt x="2414524" y="0"/>
                  </a:lnTo>
                  <a:close/>
                </a:path>
              </a:pathLst>
            </a:custGeom>
            <a:solidFill>
              <a:srgbClr val="4A3CAE">
                <a:alpha val="72000"/>
              </a:srgbClr>
            </a:solidFill>
            <a:ln>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Tajawal" panose="00000500000000000000" pitchFamily="2" charset="-78"/>
                <a:cs typeface="Tajawal" panose="00000500000000000000" pitchFamily="2" charset="-78"/>
              </a:endParaRPr>
            </a:p>
          </p:txBody>
        </p:sp>
        <p:sp>
          <p:nvSpPr>
            <p:cNvPr id="41" name="object 55">
              <a:extLst>
                <a:ext uri="{FF2B5EF4-FFF2-40B4-BE49-F238E27FC236}">
                  <a16:creationId xmlns:a16="http://schemas.microsoft.com/office/drawing/2014/main" id="{8D35965F-9335-9613-0AB9-CEF796E91B01}"/>
                </a:ext>
              </a:extLst>
            </p:cNvPr>
            <p:cNvSpPr txBox="1"/>
            <p:nvPr/>
          </p:nvSpPr>
          <p:spPr>
            <a:xfrm>
              <a:off x="8725662" y="1731252"/>
              <a:ext cx="1193163" cy="520906"/>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fr-FR" sz="2400" b="1"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rPr>
                <a:t>65 </a:t>
              </a:r>
            </a:p>
          </p:txBody>
        </p:sp>
        <p:sp>
          <p:nvSpPr>
            <p:cNvPr id="42" name="object 55">
              <a:extLst>
                <a:ext uri="{FF2B5EF4-FFF2-40B4-BE49-F238E27FC236}">
                  <a16:creationId xmlns:a16="http://schemas.microsoft.com/office/drawing/2014/main" id="{32943F86-1F0A-3216-C3F2-76DA5E25D42C}"/>
                </a:ext>
              </a:extLst>
            </p:cNvPr>
            <p:cNvSpPr txBox="1"/>
            <p:nvPr/>
          </p:nvSpPr>
          <p:spPr>
            <a:xfrm>
              <a:off x="8330263" y="2205038"/>
              <a:ext cx="2003414" cy="622290"/>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ar-LY"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rPr>
                <a:t>مستند</a:t>
              </a:r>
              <a:endParaRPr kumimoji="0" lang="en-US"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endParaRPr>
            </a:p>
            <a:p>
              <a:pPr marL="12700" marR="0" lvl="0" indent="0" algn="ctr" defTabSz="914400" rtl="0" eaLnBrk="1" fontAlgn="auto" latinLnBrk="0" hangingPunct="1">
                <a:lnSpc>
                  <a:spcPct val="100000"/>
                </a:lnSpc>
                <a:spcBef>
                  <a:spcPts val="100"/>
                </a:spcBef>
                <a:spcAft>
                  <a:spcPts val="0"/>
                </a:spcAft>
                <a:buClrTx/>
                <a:buSzTx/>
                <a:buFontTx/>
                <a:buNone/>
                <a:tabLst/>
                <a:defRPr/>
              </a:pPr>
              <a:endParaRPr kumimoji="0" lang="fr-FR"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endParaRPr>
            </a:p>
          </p:txBody>
        </p:sp>
      </p:grpSp>
      <p:grpSp>
        <p:nvGrpSpPr>
          <p:cNvPr id="26" name="Group 25">
            <a:extLst>
              <a:ext uri="{FF2B5EF4-FFF2-40B4-BE49-F238E27FC236}">
                <a16:creationId xmlns:a16="http://schemas.microsoft.com/office/drawing/2014/main" id="{9DCEF729-12DD-F1E0-7A5F-3E5573F96312}"/>
              </a:ext>
            </a:extLst>
          </p:cNvPr>
          <p:cNvGrpSpPr/>
          <p:nvPr/>
        </p:nvGrpSpPr>
        <p:grpSpPr>
          <a:xfrm>
            <a:off x="3523169" y="4762500"/>
            <a:ext cx="1959377" cy="1033292"/>
            <a:chOff x="4676852" y="1467526"/>
            <a:chExt cx="2352909" cy="1528418"/>
          </a:xfrm>
          <a:solidFill>
            <a:srgbClr val="139CD3"/>
          </a:solidFill>
        </p:grpSpPr>
        <p:grpSp>
          <p:nvGrpSpPr>
            <p:cNvPr id="36" name="Group 35">
              <a:extLst>
                <a:ext uri="{FF2B5EF4-FFF2-40B4-BE49-F238E27FC236}">
                  <a16:creationId xmlns:a16="http://schemas.microsoft.com/office/drawing/2014/main" id="{77F7A671-B14D-C94C-AF31-05E06FE056ED}"/>
                </a:ext>
              </a:extLst>
            </p:cNvPr>
            <p:cNvGrpSpPr/>
            <p:nvPr/>
          </p:nvGrpSpPr>
          <p:grpSpPr>
            <a:xfrm>
              <a:off x="4676852" y="1467526"/>
              <a:ext cx="2352909" cy="1528418"/>
              <a:chOff x="140543" y="5810257"/>
              <a:chExt cx="1270127" cy="240706"/>
            </a:xfrm>
            <a:grpFill/>
          </p:grpSpPr>
          <p:sp>
            <p:nvSpPr>
              <p:cNvPr id="38" name="object 54">
                <a:extLst>
                  <a:ext uri="{FF2B5EF4-FFF2-40B4-BE49-F238E27FC236}">
                    <a16:creationId xmlns:a16="http://schemas.microsoft.com/office/drawing/2014/main" id="{159D9169-740D-CFF4-A98B-686BD7D7C56A}"/>
                  </a:ext>
                </a:extLst>
              </p:cNvPr>
              <p:cNvSpPr/>
              <p:nvPr/>
            </p:nvSpPr>
            <p:spPr>
              <a:xfrm>
                <a:off x="140543" y="5810257"/>
                <a:ext cx="1270127" cy="240706"/>
              </a:xfrm>
              <a:custGeom>
                <a:avLst/>
                <a:gdLst/>
                <a:ahLst/>
                <a:cxnLst/>
                <a:rect l="l" t="t" r="r" b="b"/>
                <a:pathLst>
                  <a:path w="2451100" h="216535">
                    <a:moveTo>
                      <a:pt x="2414524" y="0"/>
                    </a:moveTo>
                    <a:lnTo>
                      <a:pt x="36067" y="0"/>
                    </a:lnTo>
                    <a:lnTo>
                      <a:pt x="22020" y="2831"/>
                    </a:lnTo>
                    <a:lnTo>
                      <a:pt x="10556" y="10556"/>
                    </a:lnTo>
                    <a:lnTo>
                      <a:pt x="2831" y="22020"/>
                    </a:lnTo>
                    <a:lnTo>
                      <a:pt x="0" y="36067"/>
                    </a:lnTo>
                    <a:lnTo>
                      <a:pt x="0" y="180339"/>
                    </a:lnTo>
                    <a:lnTo>
                      <a:pt x="2831" y="194387"/>
                    </a:lnTo>
                    <a:lnTo>
                      <a:pt x="10556" y="205851"/>
                    </a:lnTo>
                    <a:lnTo>
                      <a:pt x="22020" y="213576"/>
                    </a:lnTo>
                    <a:lnTo>
                      <a:pt x="36067" y="216407"/>
                    </a:lnTo>
                    <a:lnTo>
                      <a:pt x="2414524" y="216407"/>
                    </a:lnTo>
                    <a:lnTo>
                      <a:pt x="2428571" y="213576"/>
                    </a:lnTo>
                    <a:lnTo>
                      <a:pt x="2440035" y="205851"/>
                    </a:lnTo>
                    <a:lnTo>
                      <a:pt x="2447760" y="194387"/>
                    </a:lnTo>
                    <a:lnTo>
                      <a:pt x="2450592" y="180339"/>
                    </a:lnTo>
                    <a:lnTo>
                      <a:pt x="2450592" y="36067"/>
                    </a:lnTo>
                    <a:lnTo>
                      <a:pt x="2447760" y="22020"/>
                    </a:lnTo>
                    <a:lnTo>
                      <a:pt x="2440035" y="10556"/>
                    </a:lnTo>
                    <a:lnTo>
                      <a:pt x="2428571" y="2831"/>
                    </a:lnTo>
                    <a:lnTo>
                      <a:pt x="2414524" y="0"/>
                    </a:lnTo>
                    <a:close/>
                  </a:path>
                </a:pathLst>
              </a:custGeom>
              <a:solidFill>
                <a:srgbClr val="5C3666"/>
              </a:solidFill>
              <a:ln>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endParaRPr>
              </a:p>
            </p:txBody>
          </p:sp>
          <p:sp>
            <p:nvSpPr>
              <p:cNvPr id="39" name="object 55">
                <a:extLst>
                  <a:ext uri="{FF2B5EF4-FFF2-40B4-BE49-F238E27FC236}">
                    <a16:creationId xmlns:a16="http://schemas.microsoft.com/office/drawing/2014/main" id="{714231F0-E212-12D7-A0C6-CE3A8C84E7F1}"/>
                  </a:ext>
                </a:extLst>
              </p:cNvPr>
              <p:cNvSpPr txBox="1"/>
              <p:nvPr/>
            </p:nvSpPr>
            <p:spPr>
              <a:xfrm>
                <a:off x="374710" y="5836843"/>
                <a:ext cx="702933" cy="89023"/>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fr-FR" sz="2400" b="1"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rPr>
                  <a:t>12</a:t>
                </a:r>
                <a:endParaRPr kumimoji="0" lang="fr-FR" sz="2400" b="0"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endParaRPr>
              </a:p>
            </p:txBody>
          </p:sp>
        </p:grpSp>
        <p:sp>
          <p:nvSpPr>
            <p:cNvPr id="37" name="object 55">
              <a:extLst>
                <a:ext uri="{FF2B5EF4-FFF2-40B4-BE49-F238E27FC236}">
                  <a16:creationId xmlns:a16="http://schemas.microsoft.com/office/drawing/2014/main" id="{AE036C53-49E1-A2C4-084B-2D85342FA4DC}"/>
                </a:ext>
              </a:extLst>
            </p:cNvPr>
            <p:cNvSpPr txBox="1"/>
            <p:nvPr/>
          </p:nvSpPr>
          <p:spPr>
            <a:xfrm>
              <a:off x="4983112" y="2146455"/>
              <a:ext cx="1687375" cy="314885"/>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ar-LY" sz="13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rPr>
                <a:t>مبادرة</a:t>
              </a:r>
              <a:endParaRPr kumimoji="0" lang="en-US" sz="13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endParaRPr>
            </a:p>
          </p:txBody>
        </p:sp>
      </p:grpSp>
      <p:grpSp>
        <p:nvGrpSpPr>
          <p:cNvPr id="27" name="Group 26">
            <a:extLst>
              <a:ext uri="{FF2B5EF4-FFF2-40B4-BE49-F238E27FC236}">
                <a16:creationId xmlns:a16="http://schemas.microsoft.com/office/drawing/2014/main" id="{57B6A6D3-106C-6BF2-F335-7F9347DA6878}"/>
              </a:ext>
            </a:extLst>
          </p:cNvPr>
          <p:cNvGrpSpPr/>
          <p:nvPr/>
        </p:nvGrpSpPr>
        <p:grpSpPr>
          <a:xfrm>
            <a:off x="1319194" y="4762499"/>
            <a:ext cx="1959374" cy="1033294"/>
            <a:chOff x="3216581" y="1867861"/>
            <a:chExt cx="2352905" cy="1528430"/>
          </a:xfrm>
          <a:solidFill>
            <a:srgbClr val="FCB414"/>
          </a:solidFill>
        </p:grpSpPr>
        <p:grpSp>
          <p:nvGrpSpPr>
            <p:cNvPr id="32" name="Group 31">
              <a:extLst>
                <a:ext uri="{FF2B5EF4-FFF2-40B4-BE49-F238E27FC236}">
                  <a16:creationId xmlns:a16="http://schemas.microsoft.com/office/drawing/2014/main" id="{7A953F6A-1813-2F68-E876-437F7902B782}"/>
                </a:ext>
              </a:extLst>
            </p:cNvPr>
            <p:cNvGrpSpPr/>
            <p:nvPr/>
          </p:nvGrpSpPr>
          <p:grpSpPr>
            <a:xfrm>
              <a:off x="3216581" y="1867861"/>
              <a:ext cx="2352905" cy="1528430"/>
              <a:chOff x="136197" y="5807854"/>
              <a:chExt cx="1270125" cy="240708"/>
            </a:xfrm>
            <a:grpFill/>
          </p:grpSpPr>
          <p:sp>
            <p:nvSpPr>
              <p:cNvPr id="34" name="object 54">
                <a:extLst>
                  <a:ext uri="{FF2B5EF4-FFF2-40B4-BE49-F238E27FC236}">
                    <a16:creationId xmlns:a16="http://schemas.microsoft.com/office/drawing/2014/main" id="{796E05F0-9C99-ED6D-E4DC-F2E75CF6953A}"/>
                  </a:ext>
                </a:extLst>
              </p:cNvPr>
              <p:cNvSpPr/>
              <p:nvPr/>
            </p:nvSpPr>
            <p:spPr>
              <a:xfrm>
                <a:off x="136197" y="5807854"/>
                <a:ext cx="1270125" cy="240708"/>
              </a:xfrm>
              <a:custGeom>
                <a:avLst/>
                <a:gdLst/>
                <a:ahLst/>
                <a:cxnLst/>
                <a:rect l="l" t="t" r="r" b="b"/>
                <a:pathLst>
                  <a:path w="2451100" h="216535">
                    <a:moveTo>
                      <a:pt x="2414524" y="0"/>
                    </a:moveTo>
                    <a:lnTo>
                      <a:pt x="36067" y="0"/>
                    </a:lnTo>
                    <a:lnTo>
                      <a:pt x="22020" y="2831"/>
                    </a:lnTo>
                    <a:lnTo>
                      <a:pt x="10556" y="10556"/>
                    </a:lnTo>
                    <a:lnTo>
                      <a:pt x="2831" y="22020"/>
                    </a:lnTo>
                    <a:lnTo>
                      <a:pt x="0" y="36067"/>
                    </a:lnTo>
                    <a:lnTo>
                      <a:pt x="0" y="180339"/>
                    </a:lnTo>
                    <a:lnTo>
                      <a:pt x="2831" y="194387"/>
                    </a:lnTo>
                    <a:lnTo>
                      <a:pt x="10556" y="205851"/>
                    </a:lnTo>
                    <a:lnTo>
                      <a:pt x="22020" y="213576"/>
                    </a:lnTo>
                    <a:lnTo>
                      <a:pt x="36067" y="216407"/>
                    </a:lnTo>
                    <a:lnTo>
                      <a:pt x="2414524" y="216407"/>
                    </a:lnTo>
                    <a:lnTo>
                      <a:pt x="2428571" y="213576"/>
                    </a:lnTo>
                    <a:lnTo>
                      <a:pt x="2440035" y="205851"/>
                    </a:lnTo>
                    <a:lnTo>
                      <a:pt x="2447760" y="194387"/>
                    </a:lnTo>
                    <a:lnTo>
                      <a:pt x="2450592" y="180339"/>
                    </a:lnTo>
                    <a:lnTo>
                      <a:pt x="2450592" y="36067"/>
                    </a:lnTo>
                    <a:lnTo>
                      <a:pt x="2447760" y="22020"/>
                    </a:lnTo>
                    <a:lnTo>
                      <a:pt x="2440035" y="10556"/>
                    </a:lnTo>
                    <a:lnTo>
                      <a:pt x="2428571" y="2831"/>
                    </a:lnTo>
                    <a:lnTo>
                      <a:pt x="2414524" y="0"/>
                    </a:lnTo>
                    <a:close/>
                  </a:path>
                </a:pathLst>
              </a:custGeom>
              <a:solidFill>
                <a:srgbClr val="92389E">
                  <a:alpha val="72000"/>
                </a:srgbClr>
              </a:solidFill>
              <a:ln>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Tajawal" panose="00000500000000000000" pitchFamily="2" charset="-78"/>
                  <a:cs typeface="Tajawal" panose="00000500000000000000" pitchFamily="2" charset="-78"/>
                </a:endParaRPr>
              </a:p>
            </p:txBody>
          </p:sp>
          <p:sp>
            <p:nvSpPr>
              <p:cNvPr id="35" name="object 55">
                <a:extLst>
                  <a:ext uri="{FF2B5EF4-FFF2-40B4-BE49-F238E27FC236}">
                    <a16:creationId xmlns:a16="http://schemas.microsoft.com/office/drawing/2014/main" id="{521594F6-74AD-D819-1B6F-B1A253C7B635}"/>
                  </a:ext>
                </a:extLst>
              </p:cNvPr>
              <p:cNvSpPr txBox="1"/>
              <p:nvPr/>
            </p:nvSpPr>
            <p:spPr>
              <a:xfrm>
                <a:off x="390803" y="5831520"/>
                <a:ext cx="702933" cy="89024"/>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2400" b="1"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sym typeface="EYInterstate Light" panose="02000506000000020004" pitchFamily="2" charset="0"/>
                  </a:rPr>
                  <a:t>45</a:t>
                </a:r>
                <a:endParaRPr kumimoji="0" lang="fr-FR" sz="2400" b="0"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endParaRPr>
              </a:p>
            </p:txBody>
          </p:sp>
        </p:grpSp>
        <p:sp>
          <p:nvSpPr>
            <p:cNvPr id="33" name="object 55">
              <a:extLst>
                <a:ext uri="{FF2B5EF4-FFF2-40B4-BE49-F238E27FC236}">
                  <a16:creationId xmlns:a16="http://schemas.microsoft.com/office/drawing/2014/main" id="{772A159D-B8E9-6E23-B575-5065206CD940}"/>
                </a:ext>
              </a:extLst>
            </p:cNvPr>
            <p:cNvSpPr txBox="1"/>
            <p:nvPr/>
          </p:nvSpPr>
          <p:spPr>
            <a:xfrm>
              <a:off x="3232825" y="2592134"/>
              <a:ext cx="2318349" cy="610805"/>
            </a:xfrm>
            <a:prstGeom prst="rect">
              <a:avLst/>
            </a:prstGeom>
            <a:noFill/>
            <a:ln>
              <a:noFill/>
            </a:ln>
          </p:spPr>
          <p:txBody>
            <a:bodyPr vert="horz" wrap="square" lIns="0" tIns="127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3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sym typeface="EYInterstate Light" panose="02000506000000020004" pitchFamily="2" charset="0"/>
                </a:rPr>
                <a:t>فرصة خلال مخطط هيكلة الخدمة</a:t>
              </a:r>
              <a:endParaRPr kumimoji="0" lang="en-US" sz="1300" b="0" i="0" u="none" strike="noStrike" kern="1200" cap="none" spc="0" normalizeH="0" baseline="0" noProof="0" dirty="0">
                <a:ln>
                  <a:noFill/>
                </a:ln>
                <a:solidFill>
                  <a:prstClr val="black"/>
                </a:solidFill>
                <a:effectLst/>
                <a:uLnTx/>
                <a:uFillTx/>
                <a:latin typeface="Tajawal" panose="00000500000000000000" pitchFamily="2" charset="-78"/>
                <a:cs typeface="Tajawal" panose="00000500000000000000" pitchFamily="2" charset="-78"/>
              </a:endParaRPr>
            </a:p>
          </p:txBody>
        </p:sp>
      </p:grpSp>
      <p:grpSp>
        <p:nvGrpSpPr>
          <p:cNvPr id="28" name="Group 27">
            <a:extLst>
              <a:ext uri="{FF2B5EF4-FFF2-40B4-BE49-F238E27FC236}">
                <a16:creationId xmlns:a16="http://schemas.microsoft.com/office/drawing/2014/main" id="{96EE2484-935F-711B-0B28-633AEF5879FF}"/>
              </a:ext>
            </a:extLst>
          </p:cNvPr>
          <p:cNvGrpSpPr/>
          <p:nvPr/>
        </p:nvGrpSpPr>
        <p:grpSpPr>
          <a:xfrm>
            <a:off x="5713496" y="4762499"/>
            <a:ext cx="1959374" cy="1033293"/>
            <a:chOff x="8225213" y="1538097"/>
            <a:chExt cx="2155919" cy="1408452"/>
          </a:xfrm>
        </p:grpSpPr>
        <p:sp>
          <p:nvSpPr>
            <p:cNvPr id="29" name="object 54">
              <a:extLst>
                <a:ext uri="{FF2B5EF4-FFF2-40B4-BE49-F238E27FC236}">
                  <a16:creationId xmlns:a16="http://schemas.microsoft.com/office/drawing/2014/main" id="{A62FB0F5-56A1-37F1-460E-2E5E63E9C851}"/>
                </a:ext>
              </a:extLst>
            </p:cNvPr>
            <p:cNvSpPr/>
            <p:nvPr/>
          </p:nvSpPr>
          <p:spPr>
            <a:xfrm>
              <a:off x="8225213" y="1538097"/>
              <a:ext cx="2155919" cy="1408452"/>
            </a:xfrm>
            <a:custGeom>
              <a:avLst/>
              <a:gdLst/>
              <a:ahLst/>
              <a:cxnLst/>
              <a:rect l="l" t="t" r="r" b="b"/>
              <a:pathLst>
                <a:path w="2451100" h="216535">
                  <a:moveTo>
                    <a:pt x="2414524" y="0"/>
                  </a:moveTo>
                  <a:lnTo>
                    <a:pt x="36067" y="0"/>
                  </a:lnTo>
                  <a:lnTo>
                    <a:pt x="22020" y="2831"/>
                  </a:lnTo>
                  <a:lnTo>
                    <a:pt x="10556" y="10556"/>
                  </a:lnTo>
                  <a:lnTo>
                    <a:pt x="2831" y="22020"/>
                  </a:lnTo>
                  <a:lnTo>
                    <a:pt x="0" y="36067"/>
                  </a:lnTo>
                  <a:lnTo>
                    <a:pt x="0" y="180339"/>
                  </a:lnTo>
                  <a:lnTo>
                    <a:pt x="2831" y="194387"/>
                  </a:lnTo>
                  <a:lnTo>
                    <a:pt x="10556" y="205851"/>
                  </a:lnTo>
                  <a:lnTo>
                    <a:pt x="22020" y="213576"/>
                  </a:lnTo>
                  <a:lnTo>
                    <a:pt x="36067" y="216407"/>
                  </a:lnTo>
                  <a:lnTo>
                    <a:pt x="2414524" y="216407"/>
                  </a:lnTo>
                  <a:lnTo>
                    <a:pt x="2428571" y="213576"/>
                  </a:lnTo>
                  <a:lnTo>
                    <a:pt x="2440035" y="205851"/>
                  </a:lnTo>
                  <a:lnTo>
                    <a:pt x="2447760" y="194387"/>
                  </a:lnTo>
                  <a:lnTo>
                    <a:pt x="2450592" y="180339"/>
                  </a:lnTo>
                  <a:lnTo>
                    <a:pt x="2450592" y="36067"/>
                  </a:lnTo>
                  <a:lnTo>
                    <a:pt x="2447760" y="22020"/>
                  </a:lnTo>
                  <a:lnTo>
                    <a:pt x="2440035" y="10556"/>
                  </a:lnTo>
                  <a:lnTo>
                    <a:pt x="2428571" y="2831"/>
                  </a:lnTo>
                  <a:lnTo>
                    <a:pt x="2414524" y="0"/>
                  </a:lnTo>
                  <a:close/>
                </a:path>
              </a:pathLst>
            </a:custGeom>
            <a:solidFill>
              <a:srgbClr val="4A3CAE">
                <a:alpha val="72000"/>
              </a:srgbClr>
            </a:solidFill>
            <a:ln>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Tajawal" panose="00000500000000000000" pitchFamily="2" charset="-78"/>
                <a:cs typeface="Tajawal" panose="00000500000000000000" pitchFamily="2" charset="-78"/>
              </a:endParaRPr>
            </a:p>
          </p:txBody>
        </p:sp>
        <p:sp>
          <p:nvSpPr>
            <p:cNvPr id="30" name="object 55">
              <a:extLst>
                <a:ext uri="{FF2B5EF4-FFF2-40B4-BE49-F238E27FC236}">
                  <a16:creationId xmlns:a16="http://schemas.microsoft.com/office/drawing/2014/main" id="{9C4E82AB-C329-106B-0FA7-401147E96228}"/>
                </a:ext>
              </a:extLst>
            </p:cNvPr>
            <p:cNvSpPr txBox="1"/>
            <p:nvPr/>
          </p:nvSpPr>
          <p:spPr>
            <a:xfrm>
              <a:off x="8735388" y="1745818"/>
              <a:ext cx="1193163" cy="520906"/>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fr-FR" sz="2400" b="1" i="0" u="none" strike="noStrike" kern="0" cap="none" spc="0" normalizeH="0" baseline="0" noProof="0">
                  <a:ln>
                    <a:noFill/>
                  </a:ln>
                  <a:solidFill>
                    <a:prstClr val="white"/>
                  </a:solidFill>
                  <a:effectLst/>
                  <a:uLnTx/>
                  <a:uFillTx/>
                  <a:latin typeface="Tajawal" panose="00000500000000000000" pitchFamily="2" charset="-78"/>
                  <a:cs typeface="Tajawal" panose="00000500000000000000" pitchFamily="2" charset="-78"/>
                </a:rPr>
                <a:t>05</a:t>
              </a:r>
            </a:p>
          </p:txBody>
        </p:sp>
        <p:sp>
          <p:nvSpPr>
            <p:cNvPr id="31" name="object 55">
              <a:extLst>
                <a:ext uri="{FF2B5EF4-FFF2-40B4-BE49-F238E27FC236}">
                  <a16:creationId xmlns:a16="http://schemas.microsoft.com/office/drawing/2014/main" id="{BDD90282-2722-6CE9-5E2F-813D24CF6B46}"/>
                </a:ext>
              </a:extLst>
            </p:cNvPr>
            <p:cNvSpPr txBox="1"/>
            <p:nvPr/>
          </p:nvSpPr>
          <p:spPr>
            <a:xfrm>
              <a:off x="8330263" y="2205038"/>
              <a:ext cx="2003414" cy="311146"/>
            </a:xfrm>
            <a:prstGeom prst="rect">
              <a:avLst/>
            </a:prstGeom>
            <a:noFill/>
            <a:ln>
              <a:noFill/>
            </a:ln>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ar-LY"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rPr>
                <a:t>نطاق تجربة مشتركين</a:t>
              </a:r>
              <a:endParaRPr kumimoji="0" lang="fr-FR" sz="1400" b="1" i="0" u="none" strike="noStrike" kern="0" cap="none" spc="0" normalizeH="0" baseline="0" noProof="0" dirty="0">
                <a:ln>
                  <a:noFill/>
                </a:ln>
                <a:solidFill>
                  <a:prstClr val="white"/>
                </a:solidFill>
                <a:effectLst/>
                <a:uLnTx/>
                <a:uFillTx/>
                <a:latin typeface="Tajawal" panose="00000500000000000000" pitchFamily="2" charset="-78"/>
                <a:cs typeface="Tajawal" panose="00000500000000000000" pitchFamily="2" charset="-78"/>
              </a:endParaRPr>
            </a:p>
          </p:txBody>
        </p:sp>
      </p:grpSp>
      <p:sp>
        <p:nvSpPr>
          <p:cNvPr id="65" name="TextBox 64">
            <a:extLst>
              <a:ext uri="{FF2B5EF4-FFF2-40B4-BE49-F238E27FC236}">
                <a16:creationId xmlns:a16="http://schemas.microsoft.com/office/drawing/2014/main" id="{90194A6F-AC01-4BE3-4975-353173CE9F1D}"/>
              </a:ext>
            </a:extLst>
          </p:cNvPr>
          <p:cNvSpPr txBox="1"/>
          <p:nvPr/>
        </p:nvSpPr>
        <p:spPr>
          <a:xfrm>
            <a:off x="649754" y="777138"/>
            <a:ext cx="10666670"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LY" sz="1800" b="0" i="0" u="none" strike="noStrike" kern="1200" cap="none" spc="0" normalizeH="0" baseline="0" noProof="0" dirty="0">
                <a:ln>
                  <a:noFill/>
                </a:ln>
                <a:solidFill>
                  <a:prstClr val="black"/>
                </a:solidFill>
                <a:effectLst/>
                <a:uLnTx/>
                <a:uFillTx/>
                <a:latin typeface="Tajawal" panose="00000500000000000000" pitchFamily="2" charset="-78"/>
                <a:cs typeface="Tajawal" panose="00000500000000000000" pitchFamily="2" charset="-78"/>
              </a:rPr>
              <a:t>تم تصميم وتنفيذ المشروع وفق منهجية منظمة متعددة المراحل، وتوضح الأشكال أدناه نطاق المشروع والأنشطة الرئيسية المرتبطة به بشكل واضح.</a:t>
            </a:r>
            <a:endParaRPr kumimoji="0" lang="fr-FR" sz="1800" b="0" i="0" u="none" strike="noStrike" kern="1200" cap="none" spc="0" normalizeH="0" baseline="0" noProof="0" dirty="0">
              <a:ln>
                <a:noFill/>
              </a:ln>
              <a:solidFill>
                <a:prstClr val="black"/>
              </a:solidFill>
              <a:effectLst/>
              <a:uLnTx/>
              <a:uFillTx/>
              <a:latin typeface="Tajawal" panose="00000500000000000000" pitchFamily="2" charset="-78"/>
              <a:cs typeface="Tajawal" panose="00000500000000000000" pitchFamily="2" charset="-78"/>
            </a:endParaRPr>
          </a:p>
        </p:txBody>
      </p:sp>
      <p:sp>
        <p:nvSpPr>
          <p:cNvPr id="67" name="object 55">
            <a:extLst>
              <a:ext uri="{FF2B5EF4-FFF2-40B4-BE49-F238E27FC236}">
                <a16:creationId xmlns:a16="http://schemas.microsoft.com/office/drawing/2014/main" id="{37F204B8-2D82-32EE-6A57-7B4741BAE495}"/>
              </a:ext>
            </a:extLst>
          </p:cNvPr>
          <p:cNvSpPr txBox="1"/>
          <p:nvPr/>
        </p:nvSpPr>
        <p:spPr>
          <a:xfrm>
            <a:off x="7899337" y="2152918"/>
            <a:ext cx="3318397" cy="843821"/>
          </a:xfrm>
          <a:prstGeom prst="rect">
            <a:avLst/>
          </a:prstGeom>
          <a:noFill/>
          <a:ln>
            <a:noFill/>
          </a:ln>
        </p:spPr>
        <p:txBody>
          <a:bodyPr vert="horz" wrap="square" lIns="0" tIns="12700" rIns="0" bIns="0" rtlCol="0" anchor="t">
            <a:spAutoFit/>
          </a:bodyPr>
          <a:lstStyle/>
          <a:p>
            <a:pPr marL="12700" marR="0" lvl="0" indent="0" algn="just" defTabSz="914400" rtl="1" eaLnBrk="1" fontAlgn="auto" latinLnBrk="0" hangingPunct="1">
              <a:lnSpc>
                <a:spcPct val="100000"/>
              </a:lnSpc>
              <a:spcBef>
                <a:spcPts val="100"/>
              </a:spcBef>
              <a:spcAft>
                <a:spcPts val="0"/>
              </a:spcAft>
              <a:buClrTx/>
              <a:buSzTx/>
              <a:buFontTx/>
              <a:buNone/>
              <a:tabLst/>
              <a:defRPr/>
            </a:pPr>
            <a:r>
              <a:rPr kumimoji="0" lang="ar-LY" b="1" i="0" u="none" strike="noStrike" kern="0" cap="none" spc="0" normalizeH="0" baseline="0" noProof="0" dirty="0">
                <a:ln>
                  <a:noFill/>
                </a:ln>
                <a:solidFill>
                  <a:srgbClr val="7030A0"/>
                </a:solidFill>
                <a:effectLst/>
                <a:uLnTx/>
                <a:uFillTx/>
                <a:latin typeface="Tajawal" panose="00000500000000000000" pitchFamily="2" charset="-78"/>
                <a:cs typeface="Tajawal" panose="00000500000000000000" pitchFamily="2" charset="-78"/>
              </a:rPr>
              <a:t>التشخيص وتقييم الحالة الحالية لنظام تجربة المشتركين في شركة ليبيانا والعناصر ذات الصلة</a:t>
            </a:r>
            <a:endParaRPr kumimoji="0" lang="en-US" sz="1400" b="1" i="0" u="none" strike="noStrike" kern="0" cap="none" spc="0" normalizeH="0" baseline="0" noProof="0" dirty="0">
              <a:ln>
                <a:noFill/>
              </a:ln>
              <a:effectLst/>
              <a:uLnTx/>
              <a:uFillTx/>
              <a:latin typeface="Tajawal" panose="00000500000000000000" pitchFamily="2" charset="-78"/>
              <a:cs typeface="Tajawal" panose="00000500000000000000" pitchFamily="2" charset="-78"/>
            </a:endParaRPr>
          </a:p>
        </p:txBody>
      </p:sp>
      <p:sp>
        <p:nvSpPr>
          <p:cNvPr id="69" name="object 55">
            <a:extLst>
              <a:ext uri="{FF2B5EF4-FFF2-40B4-BE49-F238E27FC236}">
                <a16:creationId xmlns:a16="http://schemas.microsoft.com/office/drawing/2014/main" id="{FFE40396-E554-3B87-2968-68CE1EA881F8}"/>
              </a:ext>
            </a:extLst>
          </p:cNvPr>
          <p:cNvSpPr txBox="1"/>
          <p:nvPr/>
        </p:nvSpPr>
        <p:spPr>
          <a:xfrm>
            <a:off x="7899337" y="3389039"/>
            <a:ext cx="3299221" cy="1120820"/>
          </a:xfrm>
          <a:prstGeom prst="rect">
            <a:avLst/>
          </a:prstGeom>
          <a:noFill/>
          <a:ln>
            <a:noFill/>
          </a:ln>
        </p:spPr>
        <p:txBody>
          <a:bodyPr vert="horz" wrap="square" lIns="0" tIns="12700" rIns="0" bIns="0" rtlCol="0" anchor="t">
            <a:spAutoFit/>
          </a:bodyPr>
          <a:lstStyle/>
          <a:p>
            <a:pPr marL="12700" marR="0" lvl="0" indent="0" algn="just" defTabSz="914400" rtl="1" eaLnBrk="1" fontAlgn="auto" latinLnBrk="0" hangingPunct="1">
              <a:lnSpc>
                <a:spcPct val="100000"/>
              </a:lnSpc>
              <a:spcBef>
                <a:spcPts val="100"/>
              </a:spcBef>
              <a:spcAft>
                <a:spcPts val="0"/>
              </a:spcAft>
              <a:buClrTx/>
              <a:buSzTx/>
              <a:buFontTx/>
              <a:buNone/>
              <a:tabLst/>
              <a:defRPr/>
            </a:pPr>
            <a:r>
              <a:rPr kumimoji="0" lang="ar-LY" b="1" i="0" u="none" strike="noStrike" kern="0" cap="none" spc="0" normalizeH="0" baseline="0" noProof="0" dirty="0">
                <a:ln>
                  <a:noFill/>
                </a:ln>
                <a:solidFill>
                  <a:srgbClr val="7030A0"/>
                </a:solidFill>
                <a:effectLst/>
                <a:uLnTx/>
                <a:uFillTx/>
                <a:latin typeface="Tajawal" panose="00000500000000000000" pitchFamily="2" charset="-78"/>
                <a:cs typeface="Tajawal" panose="00000500000000000000" pitchFamily="2" charset="-78"/>
              </a:rPr>
              <a:t>تنفيذ لقاءات تشاركية لتعزيز إشراك فرق العمل، وتحفيز التفاعل، واعتماد منهجية البناء المشترك ميدانياً</a:t>
            </a:r>
            <a:endParaRPr kumimoji="0" lang="en-US" sz="1400" b="1" i="0" u="none" strike="noStrike" kern="0" cap="none" spc="0" normalizeH="0" baseline="0" noProof="0" dirty="0">
              <a:ln>
                <a:noFill/>
              </a:ln>
              <a:effectLst/>
              <a:uLnTx/>
              <a:uFillTx/>
              <a:latin typeface="Tajawal" panose="00000500000000000000" pitchFamily="2" charset="-78"/>
              <a:cs typeface="Tajawal" panose="00000500000000000000" pitchFamily="2" charset="-78"/>
            </a:endParaRPr>
          </a:p>
        </p:txBody>
      </p:sp>
      <p:sp>
        <p:nvSpPr>
          <p:cNvPr id="71" name="object 55">
            <a:extLst>
              <a:ext uri="{FF2B5EF4-FFF2-40B4-BE49-F238E27FC236}">
                <a16:creationId xmlns:a16="http://schemas.microsoft.com/office/drawing/2014/main" id="{D2D33845-E34D-74B8-B3F4-0196CD5D5BEB}"/>
              </a:ext>
            </a:extLst>
          </p:cNvPr>
          <p:cNvSpPr txBox="1"/>
          <p:nvPr/>
        </p:nvSpPr>
        <p:spPr>
          <a:xfrm>
            <a:off x="7899337" y="4773190"/>
            <a:ext cx="3318397" cy="1120820"/>
          </a:xfrm>
          <a:prstGeom prst="rect">
            <a:avLst/>
          </a:prstGeom>
          <a:noFill/>
          <a:ln>
            <a:noFill/>
          </a:ln>
        </p:spPr>
        <p:txBody>
          <a:bodyPr vert="horz" wrap="square" lIns="0" tIns="12700" rIns="0" bIns="0" rtlCol="0" anchor="t">
            <a:spAutoFit/>
          </a:bodyPr>
          <a:lstStyle/>
          <a:p>
            <a:pPr marL="12700" marR="0" lvl="0" indent="0" algn="just" defTabSz="914400" rtl="1" eaLnBrk="1" fontAlgn="auto" latinLnBrk="0" hangingPunct="1">
              <a:lnSpc>
                <a:spcPct val="100000"/>
              </a:lnSpc>
              <a:spcBef>
                <a:spcPts val="100"/>
              </a:spcBef>
              <a:spcAft>
                <a:spcPts val="0"/>
              </a:spcAft>
              <a:buClrTx/>
              <a:buSzTx/>
              <a:buFontTx/>
              <a:buNone/>
              <a:tabLst/>
              <a:defRPr/>
            </a:pPr>
            <a:r>
              <a:rPr kumimoji="0" lang="ar-LY" b="1" i="0" u="none" strike="noStrike" kern="0" cap="none" spc="0" normalizeH="0" baseline="0" noProof="0" dirty="0">
                <a:ln>
                  <a:noFill/>
                </a:ln>
                <a:solidFill>
                  <a:srgbClr val="7030A0"/>
                </a:solidFill>
                <a:effectLst/>
                <a:uLnTx/>
                <a:uFillTx/>
                <a:latin typeface="Tajawal" panose="00000500000000000000" pitchFamily="2" charset="-78"/>
                <a:cs typeface="Tajawal" panose="00000500000000000000" pitchFamily="2" charset="-78"/>
              </a:rPr>
              <a:t>تنفيذ الأعمال الميدانية وتقديم خلاصة التوصيات والمقترحات الرامية إلى تحسين تجربة المشترك</a:t>
            </a:r>
            <a:endParaRPr kumimoji="0" lang="en-US" sz="1400" b="1" i="0" u="none" strike="noStrike" kern="0" cap="none" spc="0" normalizeH="0" baseline="0" noProof="0" dirty="0">
              <a:ln>
                <a:noFill/>
              </a:ln>
              <a:effectLst/>
              <a:uLnTx/>
              <a:uFillTx/>
              <a:latin typeface="Tajawal" panose="00000500000000000000" pitchFamily="2" charset="-78"/>
              <a:cs typeface="Tajawal" panose="00000500000000000000" pitchFamily="2" charset="-78"/>
            </a:endParaRPr>
          </a:p>
        </p:txBody>
      </p:sp>
    </p:spTree>
    <p:extLst>
      <p:ext uri="{BB962C8B-B14F-4D97-AF65-F5344CB8AC3E}">
        <p14:creationId xmlns:p14="http://schemas.microsoft.com/office/powerpoint/2010/main" val="4168569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F2C58-371D-6153-6311-0105D3E24617}"/>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7019BC8-7BC7-1477-8A8C-E84C43A483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4" name="think-cell data - do not delete" hidden="1">
                        <a:extLst>
                          <a:ext uri="{FF2B5EF4-FFF2-40B4-BE49-F238E27FC236}">
                            <a16:creationId xmlns:a16="http://schemas.microsoft.com/office/drawing/2014/main" id="{D7019BC8-7BC7-1477-8A8C-E84C43A483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2" name="Title 7">
            <a:extLst>
              <a:ext uri="{FF2B5EF4-FFF2-40B4-BE49-F238E27FC236}">
                <a16:creationId xmlns:a16="http://schemas.microsoft.com/office/drawing/2014/main" id="{EFE38E5F-73DB-6709-E6A9-90E58B7CF11A}"/>
              </a:ext>
            </a:extLst>
          </p:cNvPr>
          <p:cNvSpPr txBox="1">
            <a:spLocks/>
          </p:cNvSpPr>
          <p:nvPr/>
        </p:nvSpPr>
        <p:spPr>
          <a:xfrm>
            <a:off x="599800" y="316277"/>
            <a:ext cx="11062949" cy="313033"/>
          </a:xfrm>
          <a:prstGeom prst="rect">
            <a:avLst/>
          </a:prstGeom>
        </p:spPr>
        <p:txBody>
          <a:bodyPr vert="horz"/>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rtl="1">
              <a:defRPr/>
            </a:pPr>
            <a:r>
              <a:rPr lang="ar-LY" sz="1799" b="1" dirty="0">
                <a:solidFill>
                  <a:srgbClr val="7F3381"/>
                </a:solidFill>
                <a:latin typeface="Tajawal" panose="00000500000000000000" pitchFamily="2" charset="-78"/>
                <a:cs typeface="Tajawal" panose="00000500000000000000" pitchFamily="2" charset="-78"/>
              </a:rPr>
              <a:t>من البيانات إلى رحلات المشتركين: بناء الأساس المرتكز على المشترك في ليبيانا</a:t>
            </a:r>
            <a:endParaRPr kumimoji="0" lang="en-US" sz="1799" b="1" i="0" u="none" strike="noStrike" kern="1200" cap="none" spc="0" normalizeH="0" baseline="0" noProof="0" dirty="0">
              <a:ln>
                <a:noFill/>
              </a:ln>
              <a:solidFill>
                <a:srgbClr val="7F3381"/>
              </a:solidFill>
              <a:effectLst/>
              <a:uLnTx/>
              <a:uFillTx/>
              <a:latin typeface="Tajawal" panose="00000500000000000000" pitchFamily="2" charset="-78"/>
              <a:cs typeface="Tajawal" panose="00000500000000000000" pitchFamily="2" charset="-78"/>
            </a:endParaRPr>
          </a:p>
        </p:txBody>
      </p:sp>
      <p:sp>
        <p:nvSpPr>
          <p:cNvPr id="23" name="TextBox 22">
            <a:extLst>
              <a:ext uri="{FF2B5EF4-FFF2-40B4-BE49-F238E27FC236}">
                <a16:creationId xmlns:a16="http://schemas.microsoft.com/office/drawing/2014/main" id="{2CC53CF2-FC28-C2B1-DB70-40FE53D88261}"/>
              </a:ext>
            </a:extLst>
          </p:cNvPr>
          <p:cNvSpPr txBox="1"/>
          <p:nvPr/>
        </p:nvSpPr>
        <p:spPr>
          <a:xfrm>
            <a:off x="699182" y="619368"/>
            <a:ext cx="11338905" cy="554112"/>
          </a:xfrm>
          <a:prstGeom prst="rect">
            <a:avLst/>
          </a:prstGeom>
          <a:noFill/>
          <a:ln w="9525" cap="flat" cmpd="sng" algn="ctr">
            <a:noFill/>
            <a:prstDash val="solid"/>
          </a:ln>
          <a:effectLst/>
        </p:spPr>
        <p:txBody>
          <a:bodyPr lIns="45648" rIns="0" rtlCol="0" anchor="t"/>
          <a:lstStyle>
            <a:defPPr>
              <a:defRPr lang="fr-FR"/>
            </a:defPPr>
            <a:lvl1pPr defTabSz="1220470">
              <a:spcAft>
                <a:spcPts val="1199"/>
              </a:spcAft>
              <a:defRPr sz="999">
                <a:solidFill>
                  <a:srgbClr val="000000">
                    <a:lumMod val="65000"/>
                    <a:lumOff val="35000"/>
                  </a:srgbClr>
                </a:solidFill>
                <a:cs typeface="Calibri Light" panose="020F0302020204030204" pitchFamily="34" charset="0"/>
              </a:defRPr>
            </a:lvl1pPr>
          </a:lstStyle>
          <a:p>
            <a:pPr algn="r" rtl="1">
              <a:defRPr/>
            </a:pPr>
            <a:r>
              <a:rPr lang="ar-LY" sz="1400" dirty="0">
                <a:solidFill>
                  <a:srgbClr val="7F3381"/>
                </a:solidFill>
                <a:latin typeface="Tajawal" panose="00000500000000000000" pitchFamily="2" charset="-78"/>
                <a:cs typeface="Tajawal" panose="00000500000000000000" pitchFamily="2" charset="-78"/>
              </a:rPr>
              <a:t>أسهمت هذه المرحلة في تحويل ذكاء العملاء في شركة ليبيانا إلى رؤى قابلة للتنفيذ، من خلال الانتقال من البيانات الخام إلى بناء شخصيات المشتركين، ورحلاتهم، ومخططات تصميم الخدمة وقد حققت هذه المخرجات توازناً بين فهم احتياجات المشتركين وأولويات الأعمال، وأسست قاعدة راسخة للتميّز في تجربة المشترك (</a:t>
            </a:r>
            <a:r>
              <a:rPr lang="en-US" sz="1400" dirty="0">
                <a:solidFill>
                  <a:srgbClr val="7F3381"/>
                </a:solidFill>
                <a:latin typeface="Tajawal" panose="00000500000000000000" pitchFamily="2" charset="-78"/>
                <a:cs typeface="Tajawal" panose="00000500000000000000" pitchFamily="2" charset="-78"/>
              </a:rPr>
              <a:t>CX).</a:t>
            </a:r>
            <a:endParaRPr kumimoji="0" lang="en-US" sz="1400" b="0" i="0" u="none" strike="noStrike" kern="1200" cap="none" spc="0" normalizeH="0" baseline="0" noProof="0" dirty="0">
              <a:ln>
                <a:noFill/>
              </a:ln>
              <a:solidFill>
                <a:srgbClr val="7F3381"/>
              </a:solidFill>
              <a:effectLst/>
              <a:uLnTx/>
              <a:uFillTx/>
              <a:latin typeface="Tajawal" panose="00000500000000000000" pitchFamily="2" charset="-78"/>
              <a:cs typeface="Tajawal" panose="00000500000000000000" pitchFamily="2" charset="-78"/>
            </a:endParaRPr>
          </a:p>
        </p:txBody>
      </p:sp>
      <p:grpSp>
        <p:nvGrpSpPr>
          <p:cNvPr id="103" name="Graphic 24">
            <a:extLst>
              <a:ext uri="{FF2B5EF4-FFF2-40B4-BE49-F238E27FC236}">
                <a16:creationId xmlns:a16="http://schemas.microsoft.com/office/drawing/2014/main" id="{F775FDE3-48D0-9698-441C-FF709EB9EB94}"/>
              </a:ext>
            </a:extLst>
          </p:cNvPr>
          <p:cNvGrpSpPr/>
          <p:nvPr/>
        </p:nvGrpSpPr>
        <p:grpSpPr>
          <a:xfrm>
            <a:off x="1827696" y="3664407"/>
            <a:ext cx="236792" cy="279654"/>
            <a:chOff x="2322051" y="2789156"/>
            <a:chExt cx="236792" cy="279654"/>
          </a:xfrm>
          <a:solidFill>
            <a:srgbClr val="FFFFFF"/>
          </a:solidFill>
        </p:grpSpPr>
        <p:sp>
          <p:nvSpPr>
            <p:cNvPr id="121" name="Freeform: Shape 120">
              <a:extLst>
                <a:ext uri="{FF2B5EF4-FFF2-40B4-BE49-F238E27FC236}">
                  <a16:creationId xmlns:a16="http://schemas.microsoft.com/office/drawing/2014/main" id="{6E79AF95-E0B6-C3FE-33A5-6D080921C712}"/>
                </a:ext>
              </a:extLst>
            </p:cNvPr>
            <p:cNvSpPr/>
            <p:nvPr/>
          </p:nvSpPr>
          <p:spPr>
            <a:xfrm>
              <a:off x="2322051" y="2789156"/>
              <a:ext cx="236792" cy="279654"/>
            </a:xfrm>
            <a:custGeom>
              <a:avLst/>
              <a:gdLst>
                <a:gd name="connsiteX0" fmla="*/ 139630 w 236792"/>
                <a:gd name="connsiteY0" fmla="*/ 279654 h 279654"/>
                <a:gd name="connsiteX1" fmla="*/ 133056 w 236792"/>
                <a:gd name="connsiteY1" fmla="*/ 279654 h 279654"/>
                <a:gd name="connsiteX2" fmla="*/ 133056 w 236792"/>
                <a:gd name="connsiteY2" fmla="*/ 221935 h 279654"/>
                <a:gd name="connsiteX3" fmla="*/ 196560 w 236792"/>
                <a:gd name="connsiteY3" fmla="*/ 221935 h 279654"/>
                <a:gd name="connsiteX4" fmla="*/ 196560 w 236792"/>
                <a:gd name="connsiteY4" fmla="*/ 221935 h 279654"/>
                <a:gd name="connsiteX5" fmla="*/ 199584 w 236792"/>
                <a:gd name="connsiteY5" fmla="*/ 221146 h 279654"/>
                <a:gd name="connsiteX6" fmla="*/ 202477 w 236792"/>
                <a:gd name="connsiteY6" fmla="*/ 219043 h 279654"/>
                <a:gd name="connsiteX7" fmla="*/ 204712 w 236792"/>
                <a:gd name="connsiteY7" fmla="*/ 216150 h 279654"/>
                <a:gd name="connsiteX8" fmla="*/ 205369 w 236792"/>
                <a:gd name="connsiteY8" fmla="*/ 213126 h 279654"/>
                <a:gd name="connsiteX9" fmla="*/ 205369 w 236792"/>
                <a:gd name="connsiteY9" fmla="*/ 165794 h 279654"/>
                <a:gd name="connsiteX10" fmla="*/ 227326 w 236792"/>
                <a:gd name="connsiteY10" fmla="*/ 165794 h 279654"/>
                <a:gd name="connsiteX11" fmla="*/ 227326 w 236792"/>
                <a:gd name="connsiteY11" fmla="*/ 165794 h 279654"/>
                <a:gd name="connsiteX12" fmla="*/ 229561 w 236792"/>
                <a:gd name="connsiteY12" fmla="*/ 165005 h 279654"/>
                <a:gd name="connsiteX13" fmla="*/ 230219 w 236792"/>
                <a:gd name="connsiteY13" fmla="*/ 164216 h 279654"/>
                <a:gd name="connsiteX14" fmla="*/ 230219 w 236792"/>
                <a:gd name="connsiteY14" fmla="*/ 164216 h 279654"/>
                <a:gd name="connsiteX15" fmla="*/ 230219 w 236792"/>
                <a:gd name="connsiteY15" fmla="*/ 162770 h 279654"/>
                <a:gd name="connsiteX16" fmla="*/ 229561 w 236792"/>
                <a:gd name="connsiteY16" fmla="*/ 160666 h 279654"/>
                <a:gd name="connsiteX17" fmla="*/ 205369 w 236792"/>
                <a:gd name="connsiteY17" fmla="*/ 123458 h 279654"/>
                <a:gd name="connsiteX18" fmla="*/ 205369 w 236792"/>
                <a:gd name="connsiteY18" fmla="*/ 104394 h 279654"/>
                <a:gd name="connsiteX19" fmla="*/ 205369 w 236792"/>
                <a:gd name="connsiteY19" fmla="*/ 104394 h 279654"/>
                <a:gd name="connsiteX20" fmla="*/ 204712 w 236792"/>
                <a:gd name="connsiteY20" fmla="*/ 94270 h 279654"/>
                <a:gd name="connsiteX21" fmla="*/ 203265 w 236792"/>
                <a:gd name="connsiteY21" fmla="*/ 84672 h 279654"/>
                <a:gd name="connsiteX22" fmla="*/ 200241 w 236792"/>
                <a:gd name="connsiteY22" fmla="*/ 75206 h 279654"/>
                <a:gd name="connsiteX23" fmla="*/ 197349 w 236792"/>
                <a:gd name="connsiteY23" fmla="*/ 66528 h 279654"/>
                <a:gd name="connsiteX24" fmla="*/ 193010 w 236792"/>
                <a:gd name="connsiteY24" fmla="*/ 57719 h 279654"/>
                <a:gd name="connsiteX25" fmla="*/ 187883 w 236792"/>
                <a:gd name="connsiteY25" fmla="*/ 49699 h 279654"/>
                <a:gd name="connsiteX26" fmla="*/ 181966 w 236792"/>
                <a:gd name="connsiteY26" fmla="*/ 42336 h 279654"/>
                <a:gd name="connsiteX27" fmla="*/ 175392 w 236792"/>
                <a:gd name="connsiteY27" fmla="*/ 35105 h 279654"/>
                <a:gd name="connsiteX28" fmla="*/ 168818 w 236792"/>
                <a:gd name="connsiteY28" fmla="*/ 28531 h 279654"/>
                <a:gd name="connsiteX29" fmla="*/ 160798 w 236792"/>
                <a:gd name="connsiteY29" fmla="*/ 23403 h 279654"/>
                <a:gd name="connsiteX30" fmla="*/ 152778 w 236792"/>
                <a:gd name="connsiteY30" fmla="*/ 18275 h 279654"/>
                <a:gd name="connsiteX31" fmla="*/ 143969 w 236792"/>
                <a:gd name="connsiteY31" fmla="*/ 13937 h 279654"/>
                <a:gd name="connsiteX32" fmla="*/ 135160 w 236792"/>
                <a:gd name="connsiteY32" fmla="*/ 11044 h 279654"/>
                <a:gd name="connsiteX33" fmla="*/ 125693 w 236792"/>
                <a:gd name="connsiteY33" fmla="*/ 8152 h 279654"/>
                <a:gd name="connsiteX34" fmla="*/ 116227 w 236792"/>
                <a:gd name="connsiteY34" fmla="*/ 6574 h 279654"/>
                <a:gd name="connsiteX35" fmla="*/ 105971 w 236792"/>
                <a:gd name="connsiteY35" fmla="*/ 6574 h 279654"/>
                <a:gd name="connsiteX36" fmla="*/ 105971 w 236792"/>
                <a:gd name="connsiteY36" fmla="*/ 6574 h 279654"/>
                <a:gd name="connsiteX37" fmla="*/ 95716 w 236792"/>
                <a:gd name="connsiteY37" fmla="*/ 6574 h 279654"/>
                <a:gd name="connsiteX38" fmla="*/ 86250 w 236792"/>
                <a:gd name="connsiteY38" fmla="*/ 8152 h 279654"/>
                <a:gd name="connsiteX39" fmla="*/ 76783 w 236792"/>
                <a:gd name="connsiteY39" fmla="*/ 11044 h 279654"/>
                <a:gd name="connsiteX40" fmla="*/ 67185 w 236792"/>
                <a:gd name="connsiteY40" fmla="*/ 13937 h 279654"/>
                <a:gd name="connsiteX41" fmla="*/ 58508 w 236792"/>
                <a:gd name="connsiteY41" fmla="*/ 18275 h 279654"/>
                <a:gd name="connsiteX42" fmla="*/ 50488 w 236792"/>
                <a:gd name="connsiteY42" fmla="*/ 23403 h 279654"/>
                <a:gd name="connsiteX43" fmla="*/ 43125 w 236792"/>
                <a:gd name="connsiteY43" fmla="*/ 29320 h 279654"/>
                <a:gd name="connsiteX44" fmla="*/ 35762 w 236792"/>
                <a:gd name="connsiteY44" fmla="*/ 35105 h 279654"/>
                <a:gd name="connsiteX45" fmla="*/ 29188 w 236792"/>
                <a:gd name="connsiteY45" fmla="*/ 42336 h 279654"/>
                <a:gd name="connsiteX46" fmla="*/ 23403 w 236792"/>
                <a:gd name="connsiteY46" fmla="*/ 50356 h 279654"/>
                <a:gd name="connsiteX47" fmla="*/ 18933 w 236792"/>
                <a:gd name="connsiteY47" fmla="*/ 58508 h 279654"/>
                <a:gd name="connsiteX48" fmla="*/ 14594 w 236792"/>
                <a:gd name="connsiteY48" fmla="*/ 67185 h 279654"/>
                <a:gd name="connsiteX49" fmla="*/ 10913 w 236792"/>
                <a:gd name="connsiteY49" fmla="*/ 75994 h 279654"/>
                <a:gd name="connsiteX50" fmla="*/ 8809 w 236792"/>
                <a:gd name="connsiteY50" fmla="*/ 85461 h 279654"/>
                <a:gd name="connsiteX51" fmla="*/ 7231 w 236792"/>
                <a:gd name="connsiteY51" fmla="*/ 95716 h 279654"/>
                <a:gd name="connsiteX52" fmla="*/ 6574 w 236792"/>
                <a:gd name="connsiteY52" fmla="*/ 105183 h 279654"/>
                <a:gd name="connsiteX53" fmla="*/ 6574 w 236792"/>
                <a:gd name="connsiteY53" fmla="*/ 105183 h 279654"/>
                <a:gd name="connsiteX54" fmla="*/ 7231 w 236792"/>
                <a:gd name="connsiteY54" fmla="*/ 114649 h 279654"/>
                <a:gd name="connsiteX55" fmla="*/ 8809 w 236792"/>
                <a:gd name="connsiteY55" fmla="*/ 123458 h 279654"/>
                <a:gd name="connsiteX56" fmla="*/ 10255 w 236792"/>
                <a:gd name="connsiteY56" fmla="*/ 132136 h 279654"/>
                <a:gd name="connsiteX57" fmla="*/ 13148 w 236792"/>
                <a:gd name="connsiteY57" fmla="*/ 140945 h 279654"/>
                <a:gd name="connsiteX58" fmla="*/ 16829 w 236792"/>
                <a:gd name="connsiteY58" fmla="*/ 148965 h 279654"/>
                <a:gd name="connsiteX59" fmla="*/ 21168 w 236792"/>
                <a:gd name="connsiteY59" fmla="*/ 156985 h 279654"/>
                <a:gd name="connsiteX60" fmla="*/ 26296 w 236792"/>
                <a:gd name="connsiteY60" fmla="*/ 164216 h 279654"/>
                <a:gd name="connsiteX61" fmla="*/ 32212 w 236792"/>
                <a:gd name="connsiteY61" fmla="*/ 171579 h 279654"/>
                <a:gd name="connsiteX62" fmla="*/ 32870 w 236792"/>
                <a:gd name="connsiteY62" fmla="*/ 172368 h 279654"/>
                <a:gd name="connsiteX63" fmla="*/ 32870 w 236792"/>
                <a:gd name="connsiteY63" fmla="*/ 279654 h 279654"/>
                <a:gd name="connsiteX64" fmla="*/ 26296 w 236792"/>
                <a:gd name="connsiteY64" fmla="*/ 279654 h 279654"/>
                <a:gd name="connsiteX65" fmla="*/ 26296 w 236792"/>
                <a:gd name="connsiteY65" fmla="*/ 175261 h 279654"/>
                <a:gd name="connsiteX66" fmla="*/ 26296 w 236792"/>
                <a:gd name="connsiteY66" fmla="*/ 175261 h 279654"/>
                <a:gd name="connsiteX67" fmla="*/ 20511 w 236792"/>
                <a:gd name="connsiteY67" fmla="*/ 167898 h 279654"/>
                <a:gd name="connsiteX68" fmla="*/ 15383 w 236792"/>
                <a:gd name="connsiteY68" fmla="*/ 159878 h 279654"/>
                <a:gd name="connsiteX69" fmla="*/ 10913 w 236792"/>
                <a:gd name="connsiteY69" fmla="*/ 151200 h 279654"/>
                <a:gd name="connsiteX70" fmla="*/ 7231 w 236792"/>
                <a:gd name="connsiteY70" fmla="*/ 142391 h 279654"/>
                <a:gd name="connsiteX71" fmla="*/ 4339 w 236792"/>
                <a:gd name="connsiteY71" fmla="*/ 133582 h 279654"/>
                <a:gd name="connsiteX72" fmla="*/ 2235 w 236792"/>
                <a:gd name="connsiteY72" fmla="*/ 124904 h 279654"/>
                <a:gd name="connsiteX73" fmla="*/ 657 w 236792"/>
                <a:gd name="connsiteY73" fmla="*/ 115438 h 279654"/>
                <a:gd name="connsiteX74" fmla="*/ 0 w 236792"/>
                <a:gd name="connsiteY74" fmla="*/ 105183 h 279654"/>
                <a:gd name="connsiteX75" fmla="*/ 0 w 236792"/>
                <a:gd name="connsiteY75" fmla="*/ 105183 h 279654"/>
                <a:gd name="connsiteX76" fmla="*/ 657 w 236792"/>
                <a:gd name="connsiteY76" fmla="*/ 94927 h 279654"/>
                <a:gd name="connsiteX77" fmla="*/ 2235 w 236792"/>
                <a:gd name="connsiteY77" fmla="*/ 84015 h 279654"/>
                <a:gd name="connsiteX78" fmla="*/ 5128 w 236792"/>
                <a:gd name="connsiteY78" fmla="*/ 73759 h 279654"/>
                <a:gd name="connsiteX79" fmla="*/ 8809 w 236792"/>
                <a:gd name="connsiteY79" fmla="*/ 64293 h 279654"/>
                <a:gd name="connsiteX80" fmla="*/ 13148 w 236792"/>
                <a:gd name="connsiteY80" fmla="*/ 54826 h 279654"/>
                <a:gd name="connsiteX81" fmla="*/ 18275 w 236792"/>
                <a:gd name="connsiteY81" fmla="*/ 46806 h 279654"/>
                <a:gd name="connsiteX82" fmla="*/ 24061 w 236792"/>
                <a:gd name="connsiteY82" fmla="*/ 37997 h 279654"/>
                <a:gd name="connsiteX83" fmla="*/ 31423 w 236792"/>
                <a:gd name="connsiteY83" fmla="*/ 30766 h 279654"/>
                <a:gd name="connsiteX84" fmla="*/ 38786 w 236792"/>
                <a:gd name="connsiteY84" fmla="*/ 24192 h 279654"/>
                <a:gd name="connsiteX85" fmla="*/ 46806 w 236792"/>
                <a:gd name="connsiteY85" fmla="*/ 17618 h 279654"/>
                <a:gd name="connsiteX86" fmla="*/ 55484 w 236792"/>
                <a:gd name="connsiteY86" fmla="*/ 12490 h 279654"/>
                <a:gd name="connsiteX87" fmla="*/ 65082 w 236792"/>
                <a:gd name="connsiteY87" fmla="*/ 8152 h 279654"/>
                <a:gd name="connsiteX88" fmla="*/ 74548 w 236792"/>
                <a:gd name="connsiteY88" fmla="*/ 4470 h 279654"/>
                <a:gd name="connsiteX89" fmla="*/ 84804 w 236792"/>
                <a:gd name="connsiteY89" fmla="*/ 2235 h 279654"/>
                <a:gd name="connsiteX90" fmla="*/ 95059 w 236792"/>
                <a:gd name="connsiteY90" fmla="*/ 0 h 279654"/>
                <a:gd name="connsiteX91" fmla="*/ 105971 w 236792"/>
                <a:gd name="connsiteY91" fmla="*/ 0 h 279654"/>
                <a:gd name="connsiteX92" fmla="*/ 105971 w 236792"/>
                <a:gd name="connsiteY92" fmla="*/ 0 h 279654"/>
                <a:gd name="connsiteX93" fmla="*/ 116227 w 236792"/>
                <a:gd name="connsiteY93" fmla="*/ 0 h 279654"/>
                <a:gd name="connsiteX94" fmla="*/ 126482 w 236792"/>
                <a:gd name="connsiteY94" fmla="*/ 1578 h 279654"/>
                <a:gd name="connsiteX95" fmla="*/ 136738 w 236792"/>
                <a:gd name="connsiteY95" fmla="*/ 4470 h 279654"/>
                <a:gd name="connsiteX96" fmla="*/ 146204 w 236792"/>
                <a:gd name="connsiteY96" fmla="*/ 8152 h 279654"/>
                <a:gd name="connsiteX97" fmla="*/ 155013 w 236792"/>
                <a:gd name="connsiteY97" fmla="*/ 11702 h 279654"/>
                <a:gd name="connsiteX98" fmla="*/ 163690 w 236792"/>
                <a:gd name="connsiteY98" fmla="*/ 16829 h 279654"/>
                <a:gd name="connsiteX99" fmla="*/ 171711 w 236792"/>
                <a:gd name="connsiteY99" fmla="*/ 22746 h 279654"/>
                <a:gd name="connsiteX100" fmla="*/ 179074 w 236792"/>
                <a:gd name="connsiteY100" fmla="*/ 29320 h 279654"/>
                <a:gd name="connsiteX101" fmla="*/ 185647 w 236792"/>
                <a:gd name="connsiteY101" fmla="*/ 36551 h 279654"/>
                <a:gd name="connsiteX102" fmla="*/ 192221 w 236792"/>
                <a:gd name="connsiteY102" fmla="*/ 44571 h 279654"/>
                <a:gd name="connsiteX103" fmla="*/ 197349 w 236792"/>
                <a:gd name="connsiteY103" fmla="*/ 52591 h 279654"/>
                <a:gd name="connsiteX104" fmla="*/ 202477 w 236792"/>
                <a:gd name="connsiteY104" fmla="*/ 61400 h 279654"/>
                <a:gd name="connsiteX105" fmla="*/ 206158 w 236792"/>
                <a:gd name="connsiteY105" fmla="*/ 70867 h 279654"/>
                <a:gd name="connsiteX106" fmla="*/ 209051 w 236792"/>
                <a:gd name="connsiteY106" fmla="*/ 80333 h 279654"/>
                <a:gd name="connsiteX107" fmla="*/ 210497 w 236792"/>
                <a:gd name="connsiteY107" fmla="*/ 90589 h 279654"/>
                <a:gd name="connsiteX108" fmla="*/ 211943 w 236792"/>
                <a:gd name="connsiteY108" fmla="*/ 100844 h 279654"/>
                <a:gd name="connsiteX109" fmla="*/ 211943 w 236792"/>
                <a:gd name="connsiteY109" fmla="*/ 100844 h 279654"/>
                <a:gd name="connsiteX110" fmla="*/ 211943 w 236792"/>
                <a:gd name="connsiteY110" fmla="*/ 121880 h 279654"/>
                <a:gd name="connsiteX111" fmla="*/ 235346 w 236792"/>
                <a:gd name="connsiteY111" fmla="*/ 156985 h 279654"/>
                <a:gd name="connsiteX112" fmla="*/ 235346 w 236792"/>
                <a:gd name="connsiteY112" fmla="*/ 156985 h 279654"/>
                <a:gd name="connsiteX113" fmla="*/ 236792 w 236792"/>
                <a:gd name="connsiteY113" fmla="*/ 159878 h 279654"/>
                <a:gd name="connsiteX114" fmla="*/ 236792 w 236792"/>
                <a:gd name="connsiteY114" fmla="*/ 162113 h 279654"/>
                <a:gd name="connsiteX115" fmla="*/ 236792 w 236792"/>
                <a:gd name="connsiteY115" fmla="*/ 165005 h 279654"/>
                <a:gd name="connsiteX116" fmla="*/ 236135 w 236792"/>
                <a:gd name="connsiteY116" fmla="*/ 167240 h 279654"/>
                <a:gd name="connsiteX117" fmla="*/ 236135 w 236792"/>
                <a:gd name="connsiteY117" fmla="*/ 167240 h 279654"/>
                <a:gd name="connsiteX118" fmla="*/ 233900 w 236792"/>
                <a:gd name="connsiteY118" fmla="*/ 169344 h 279654"/>
                <a:gd name="connsiteX119" fmla="*/ 232454 w 236792"/>
                <a:gd name="connsiteY119" fmla="*/ 170790 h 279654"/>
                <a:gd name="connsiteX120" fmla="*/ 229561 w 236792"/>
                <a:gd name="connsiteY120" fmla="*/ 171579 h 279654"/>
                <a:gd name="connsiteX121" fmla="*/ 227326 w 236792"/>
                <a:gd name="connsiteY121" fmla="*/ 172368 h 279654"/>
                <a:gd name="connsiteX122" fmla="*/ 211943 w 236792"/>
                <a:gd name="connsiteY122" fmla="*/ 172368 h 279654"/>
                <a:gd name="connsiteX123" fmla="*/ 211943 w 236792"/>
                <a:gd name="connsiteY123" fmla="*/ 213126 h 279654"/>
                <a:gd name="connsiteX124" fmla="*/ 211943 w 236792"/>
                <a:gd name="connsiteY124" fmla="*/ 213126 h 279654"/>
                <a:gd name="connsiteX125" fmla="*/ 211286 w 236792"/>
                <a:gd name="connsiteY125" fmla="*/ 216150 h 279654"/>
                <a:gd name="connsiteX126" fmla="*/ 210497 w 236792"/>
                <a:gd name="connsiteY126" fmla="*/ 219043 h 279654"/>
                <a:gd name="connsiteX127" fmla="*/ 209051 w 236792"/>
                <a:gd name="connsiteY127" fmla="*/ 221146 h 279654"/>
                <a:gd name="connsiteX128" fmla="*/ 207604 w 236792"/>
                <a:gd name="connsiteY128" fmla="*/ 224170 h 279654"/>
                <a:gd name="connsiteX129" fmla="*/ 204712 w 236792"/>
                <a:gd name="connsiteY129" fmla="*/ 225617 h 279654"/>
                <a:gd name="connsiteX130" fmla="*/ 202477 w 236792"/>
                <a:gd name="connsiteY130" fmla="*/ 227063 h 279654"/>
                <a:gd name="connsiteX131" fmla="*/ 199584 w 236792"/>
                <a:gd name="connsiteY131" fmla="*/ 227720 h 279654"/>
                <a:gd name="connsiteX132" fmla="*/ 196560 w 236792"/>
                <a:gd name="connsiteY132" fmla="*/ 228509 h 279654"/>
                <a:gd name="connsiteX133" fmla="*/ 139630 w 236792"/>
                <a:gd name="connsiteY133" fmla="*/ 228509 h 279654"/>
                <a:gd name="connsiteX134" fmla="*/ 139630 w 236792"/>
                <a:gd name="connsiteY134" fmla="*/ 279654 h 279654"/>
                <a:gd name="connsiteX135" fmla="*/ 139630 w 236792"/>
                <a:gd name="connsiteY135" fmla="*/ 279654 h 279654"/>
                <a:gd name="connsiteX136" fmla="*/ 139630 w 236792"/>
                <a:gd name="connsiteY136" fmla="*/ 279654 h 27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236792" h="279654">
                  <a:moveTo>
                    <a:pt x="139630" y="279654"/>
                  </a:moveTo>
                  <a:lnTo>
                    <a:pt x="133056" y="279654"/>
                  </a:lnTo>
                  <a:lnTo>
                    <a:pt x="133056" y="221935"/>
                  </a:lnTo>
                  <a:lnTo>
                    <a:pt x="196560" y="221935"/>
                  </a:lnTo>
                  <a:lnTo>
                    <a:pt x="196560" y="221935"/>
                  </a:lnTo>
                  <a:lnTo>
                    <a:pt x="199584" y="221146"/>
                  </a:lnTo>
                  <a:lnTo>
                    <a:pt x="202477" y="219043"/>
                  </a:lnTo>
                  <a:lnTo>
                    <a:pt x="204712" y="216150"/>
                  </a:lnTo>
                  <a:lnTo>
                    <a:pt x="205369" y="213126"/>
                  </a:lnTo>
                  <a:lnTo>
                    <a:pt x="205369" y="165794"/>
                  </a:lnTo>
                  <a:lnTo>
                    <a:pt x="227326" y="165794"/>
                  </a:lnTo>
                  <a:lnTo>
                    <a:pt x="227326" y="165794"/>
                  </a:lnTo>
                  <a:lnTo>
                    <a:pt x="229561" y="165005"/>
                  </a:lnTo>
                  <a:lnTo>
                    <a:pt x="230219" y="164216"/>
                  </a:lnTo>
                  <a:lnTo>
                    <a:pt x="230219" y="164216"/>
                  </a:lnTo>
                  <a:lnTo>
                    <a:pt x="230219" y="162770"/>
                  </a:lnTo>
                  <a:lnTo>
                    <a:pt x="229561" y="160666"/>
                  </a:lnTo>
                  <a:lnTo>
                    <a:pt x="205369" y="123458"/>
                  </a:lnTo>
                  <a:lnTo>
                    <a:pt x="205369" y="104394"/>
                  </a:lnTo>
                  <a:lnTo>
                    <a:pt x="205369" y="104394"/>
                  </a:lnTo>
                  <a:lnTo>
                    <a:pt x="204712" y="94270"/>
                  </a:lnTo>
                  <a:lnTo>
                    <a:pt x="203265" y="84672"/>
                  </a:lnTo>
                  <a:lnTo>
                    <a:pt x="200241" y="75206"/>
                  </a:lnTo>
                  <a:lnTo>
                    <a:pt x="197349" y="66528"/>
                  </a:lnTo>
                  <a:lnTo>
                    <a:pt x="193010" y="57719"/>
                  </a:lnTo>
                  <a:lnTo>
                    <a:pt x="187883" y="49699"/>
                  </a:lnTo>
                  <a:lnTo>
                    <a:pt x="181966" y="42336"/>
                  </a:lnTo>
                  <a:lnTo>
                    <a:pt x="175392" y="35105"/>
                  </a:lnTo>
                  <a:lnTo>
                    <a:pt x="168818" y="28531"/>
                  </a:lnTo>
                  <a:lnTo>
                    <a:pt x="160798" y="23403"/>
                  </a:lnTo>
                  <a:lnTo>
                    <a:pt x="152778" y="18275"/>
                  </a:lnTo>
                  <a:lnTo>
                    <a:pt x="143969" y="13937"/>
                  </a:lnTo>
                  <a:lnTo>
                    <a:pt x="135160" y="11044"/>
                  </a:lnTo>
                  <a:lnTo>
                    <a:pt x="125693" y="8152"/>
                  </a:lnTo>
                  <a:lnTo>
                    <a:pt x="116227" y="6574"/>
                  </a:lnTo>
                  <a:lnTo>
                    <a:pt x="105971" y="6574"/>
                  </a:lnTo>
                  <a:lnTo>
                    <a:pt x="105971" y="6574"/>
                  </a:lnTo>
                  <a:lnTo>
                    <a:pt x="95716" y="6574"/>
                  </a:lnTo>
                  <a:lnTo>
                    <a:pt x="86250" y="8152"/>
                  </a:lnTo>
                  <a:lnTo>
                    <a:pt x="76783" y="11044"/>
                  </a:lnTo>
                  <a:lnTo>
                    <a:pt x="67185" y="13937"/>
                  </a:lnTo>
                  <a:lnTo>
                    <a:pt x="58508" y="18275"/>
                  </a:lnTo>
                  <a:lnTo>
                    <a:pt x="50488" y="23403"/>
                  </a:lnTo>
                  <a:lnTo>
                    <a:pt x="43125" y="29320"/>
                  </a:lnTo>
                  <a:lnTo>
                    <a:pt x="35762" y="35105"/>
                  </a:lnTo>
                  <a:lnTo>
                    <a:pt x="29188" y="42336"/>
                  </a:lnTo>
                  <a:lnTo>
                    <a:pt x="23403" y="50356"/>
                  </a:lnTo>
                  <a:lnTo>
                    <a:pt x="18933" y="58508"/>
                  </a:lnTo>
                  <a:lnTo>
                    <a:pt x="14594" y="67185"/>
                  </a:lnTo>
                  <a:lnTo>
                    <a:pt x="10913" y="75994"/>
                  </a:lnTo>
                  <a:lnTo>
                    <a:pt x="8809" y="85461"/>
                  </a:lnTo>
                  <a:lnTo>
                    <a:pt x="7231" y="95716"/>
                  </a:lnTo>
                  <a:lnTo>
                    <a:pt x="6574" y="105183"/>
                  </a:lnTo>
                  <a:lnTo>
                    <a:pt x="6574" y="105183"/>
                  </a:lnTo>
                  <a:lnTo>
                    <a:pt x="7231" y="114649"/>
                  </a:lnTo>
                  <a:lnTo>
                    <a:pt x="8809" y="123458"/>
                  </a:lnTo>
                  <a:lnTo>
                    <a:pt x="10255" y="132136"/>
                  </a:lnTo>
                  <a:lnTo>
                    <a:pt x="13148" y="140945"/>
                  </a:lnTo>
                  <a:lnTo>
                    <a:pt x="16829" y="148965"/>
                  </a:lnTo>
                  <a:lnTo>
                    <a:pt x="21168" y="156985"/>
                  </a:lnTo>
                  <a:lnTo>
                    <a:pt x="26296" y="164216"/>
                  </a:lnTo>
                  <a:lnTo>
                    <a:pt x="32212" y="171579"/>
                  </a:lnTo>
                  <a:lnTo>
                    <a:pt x="32870" y="172368"/>
                  </a:lnTo>
                  <a:lnTo>
                    <a:pt x="32870" y="279654"/>
                  </a:lnTo>
                  <a:lnTo>
                    <a:pt x="26296" y="279654"/>
                  </a:lnTo>
                  <a:lnTo>
                    <a:pt x="26296" y="175261"/>
                  </a:lnTo>
                  <a:lnTo>
                    <a:pt x="26296" y="175261"/>
                  </a:lnTo>
                  <a:lnTo>
                    <a:pt x="20511" y="167898"/>
                  </a:lnTo>
                  <a:lnTo>
                    <a:pt x="15383" y="159878"/>
                  </a:lnTo>
                  <a:lnTo>
                    <a:pt x="10913" y="151200"/>
                  </a:lnTo>
                  <a:lnTo>
                    <a:pt x="7231" y="142391"/>
                  </a:lnTo>
                  <a:lnTo>
                    <a:pt x="4339" y="133582"/>
                  </a:lnTo>
                  <a:lnTo>
                    <a:pt x="2235" y="124904"/>
                  </a:lnTo>
                  <a:lnTo>
                    <a:pt x="657" y="115438"/>
                  </a:lnTo>
                  <a:lnTo>
                    <a:pt x="0" y="105183"/>
                  </a:lnTo>
                  <a:lnTo>
                    <a:pt x="0" y="105183"/>
                  </a:lnTo>
                  <a:lnTo>
                    <a:pt x="657" y="94927"/>
                  </a:lnTo>
                  <a:lnTo>
                    <a:pt x="2235" y="84015"/>
                  </a:lnTo>
                  <a:lnTo>
                    <a:pt x="5128" y="73759"/>
                  </a:lnTo>
                  <a:lnTo>
                    <a:pt x="8809" y="64293"/>
                  </a:lnTo>
                  <a:lnTo>
                    <a:pt x="13148" y="54826"/>
                  </a:lnTo>
                  <a:lnTo>
                    <a:pt x="18275" y="46806"/>
                  </a:lnTo>
                  <a:lnTo>
                    <a:pt x="24061" y="37997"/>
                  </a:lnTo>
                  <a:lnTo>
                    <a:pt x="31423" y="30766"/>
                  </a:lnTo>
                  <a:lnTo>
                    <a:pt x="38786" y="24192"/>
                  </a:lnTo>
                  <a:lnTo>
                    <a:pt x="46806" y="17618"/>
                  </a:lnTo>
                  <a:lnTo>
                    <a:pt x="55484" y="12490"/>
                  </a:lnTo>
                  <a:lnTo>
                    <a:pt x="65082" y="8152"/>
                  </a:lnTo>
                  <a:lnTo>
                    <a:pt x="74548" y="4470"/>
                  </a:lnTo>
                  <a:lnTo>
                    <a:pt x="84804" y="2235"/>
                  </a:lnTo>
                  <a:lnTo>
                    <a:pt x="95059" y="0"/>
                  </a:lnTo>
                  <a:lnTo>
                    <a:pt x="105971" y="0"/>
                  </a:lnTo>
                  <a:lnTo>
                    <a:pt x="105971" y="0"/>
                  </a:lnTo>
                  <a:lnTo>
                    <a:pt x="116227" y="0"/>
                  </a:lnTo>
                  <a:lnTo>
                    <a:pt x="126482" y="1578"/>
                  </a:lnTo>
                  <a:lnTo>
                    <a:pt x="136738" y="4470"/>
                  </a:lnTo>
                  <a:lnTo>
                    <a:pt x="146204" y="8152"/>
                  </a:lnTo>
                  <a:lnTo>
                    <a:pt x="155013" y="11702"/>
                  </a:lnTo>
                  <a:lnTo>
                    <a:pt x="163690" y="16829"/>
                  </a:lnTo>
                  <a:lnTo>
                    <a:pt x="171711" y="22746"/>
                  </a:lnTo>
                  <a:lnTo>
                    <a:pt x="179074" y="29320"/>
                  </a:lnTo>
                  <a:lnTo>
                    <a:pt x="185647" y="36551"/>
                  </a:lnTo>
                  <a:lnTo>
                    <a:pt x="192221" y="44571"/>
                  </a:lnTo>
                  <a:lnTo>
                    <a:pt x="197349" y="52591"/>
                  </a:lnTo>
                  <a:lnTo>
                    <a:pt x="202477" y="61400"/>
                  </a:lnTo>
                  <a:lnTo>
                    <a:pt x="206158" y="70867"/>
                  </a:lnTo>
                  <a:lnTo>
                    <a:pt x="209051" y="80333"/>
                  </a:lnTo>
                  <a:lnTo>
                    <a:pt x="210497" y="90589"/>
                  </a:lnTo>
                  <a:lnTo>
                    <a:pt x="211943" y="100844"/>
                  </a:lnTo>
                  <a:lnTo>
                    <a:pt x="211943" y="100844"/>
                  </a:lnTo>
                  <a:lnTo>
                    <a:pt x="211943" y="121880"/>
                  </a:lnTo>
                  <a:lnTo>
                    <a:pt x="235346" y="156985"/>
                  </a:lnTo>
                  <a:lnTo>
                    <a:pt x="235346" y="156985"/>
                  </a:lnTo>
                  <a:lnTo>
                    <a:pt x="236792" y="159878"/>
                  </a:lnTo>
                  <a:lnTo>
                    <a:pt x="236792" y="162113"/>
                  </a:lnTo>
                  <a:lnTo>
                    <a:pt x="236792" y="165005"/>
                  </a:lnTo>
                  <a:lnTo>
                    <a:pt x="236135" y="167240"/>
                  </a:lnTo>
                  <a:lnTo>
                    <a:pt x="236135" y="167240"/>
                  </a:lnTo>
                  <a:lnTo>
                    <a:pt x="233900" y="169344"/>
                  </a:lnTo>
                  <a:lnTo>
                    <a:pt x="232454" y="170790"/>
                  </a:lnTo>
                  <a:lnTo>
                    <a:pt x="229561" y="171579"/>
                  </a:lnTo>
                  <a:lnTo>
                    <a:pt x="227326" y="172368"/>
                  </a:lnTo>
                  <a:lnTo>
                    <a:pt x="211943" y="172368"/>
                  </a:lnTo>
                  <a:lnTo>
                    <a:pt x="211943" y="213126"/>
                  </a:lnTo>
                  <a:lnTo>
                    <a:pt x="211943" y="213126"/>
                  </a:lnTo>
                  <a:lnTo>
                    <a:pt x="211286" y="216150"/>
                  </a:lnTo>
                  <a:lnTo>
                    <a:pt x="210497" y="219043"/>
                  </a:lnTo>
                  <a:lnTo>
                    <a:pt x="209051" y="221146"/>
                  </a:lnTo>
                  <a:lnTo>
                    <a:pt x="207604" y="224170"/>
                  </a:lnTo>
                  <a:lnTo>
                    <a:pt x="204712" y="225617"/>
                  </a:lnTo>
                  <a:lnTo>
                    <a:pt x="202477" y="227063"/>
                  </a:lnTo>
                  <a:lnTo>
                    <a:pt x="199584" y="227720"/>
                  </a:lnTo>
                  <a:lnTo>
                    <a:pt x="196560" y="228509"/>
                  </a:lnTo>
                  <a:lnTo>
                    <a:pt x="139630" y="228509"/>
                  </a:lnTo>
                  <a:lnTo>
                    <a:pt x="139630" y="279654"/>
                  </a:lnTo>
                  <a:lnTo>
                    <a:pt x="139630" y="279654"/>
                  </a:lnTo>
                  <a:lnTo>
                    <a:pt x="139630" y="279654"/>
                  </a:lnTo>
                  <a:close/>
                </a:path>
              </a:pathLst>
            </a:custGeom>
            <a:solidFill>
              <a:srgbClr val="FFFFFF"/>
            </a:solidFill>
            <a:ln w="328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22" name="Freeform: Shape 121">
              <a:extLst>
                <a:ext uri="{FF2B5EF4-FFF2-40B4-BE49-F238E27FC236}">
                  <a16:creationId xmlns:a16="http://schemas.microsoft.com/office/drawing/2014/main" id="{903B750A-1AF3-04D1-3AE4-FFC0DD24AE8B}"/>
                </a:ext>
              </a:extLst>
            </p:cNvPr>
            <p:cNvSpPr/>
            <p:nvPr/>
          </p:nvSpPr>
          <p:spPr>
            <a:xfrm>
              <a:off x="2346243" y="2808484"/>
              <a:ext cx="83751" cy="82042"/>
            </a:xfrm>
            <a:custGeom>
              <a:avLst/>
              <a:gdLst>
                <a:gd name="connsiteX0" fmla="*/ 6705 w 83751"/>
                <a:gd name="connsiteY0" fmla="*/ 82042 h 82042"/>
                <a:gd name="connsiteX1" fmla="*/ 0 w 83751"/>
                <a:gd name="connsiteY1" fmla="*/ 82042 h 82042"/>
                <a:gd name="connsiteX2" fmla="*/ 0 w 83751"/>
                <a:gd name="connsiteY2" fmla="*/ 79150 h 82042"/>
                <a:gd name="connsiteX3" fmla="*/ 0 w 83751"/>
                <a:gd name="connsiteY3" fmla="*/ 79150 h 82042"/>
                <a:gd name="connsiteX4" fmla="*/ 0 w 83751"/>
                <a:gd name="connsiteY4" fmla="*/ 71130 h 82042"/>
                <a:gd name="connsiteX5" fmla="*/ 1578 w 83751"/>
                <a:gd name="connsiteY5" fmla="*/ 63110 h 82042"/>
                <a:gd name="connsiteX6" fmla="*/ 3681 w 83751"/>
                <a:gd name="connsiteY6" fmla="*/ 55089 h 82042"/>
                <a:gd name="connsiteX7" fmla="*/ 5916 w 83751"/>
                <a:gd name="connsiteY7" fmla="*/ 47858 h 82042"/>
                <a:gd name="connsiteX8" fmla="*/ 9598 w 83751"/>
                <a:gd name="connsiteY8" fmla="*/ 41416 h 82042"/>
                <a:gd name="connsiteX9" fmla="*/ 14068 w 83751"/>
                <a:gd name="connsiteY9" fmla="*/ 34842 h 82042"/>
                <a:gd name="connsiteX10" fmla="*/ 18407 w 83751"/>
                <a:gd name="connsiteY10" fmla="*/ 28268 h 82042"/>
                <a:gd name="connsiteX11" fmla="*/ 23535 w 83751"/>
                <a:gd name="connsiteY11" fmla="*/ 23272 h 82042"/>
                <a:gd name="connsiteX12" fmla="*/ 29451 w 83751"/>
                <a:gd name="connsiteY12" fmla="*/ 18144 h 82042"/>
                <a:gd name="connsiteX13" fmla="*/ 35236 w 83751"/>
                <a:gd name="connsiteY13" fmla="*/ 13016 h 82042"/>
                <a:gd name="connsiteX14" fmla="*/ 41942 w 83751"/>
                <a:gd name="connsiteY14" fmla="*/ 9466 h 82042"/>
                <a:gd name="connsiteX15" fmla="*/ 49304 w 83751"/>
                <a:gd name="connsiteY15" fmla="*/ 5785 h 82042"/>
                <a:gd name="connsiteX16" fmla="*/ 56536 w 83751"/>
                <a:gd name="connsiteY16" fmla="*/ 2893 h 82042"/>
                <a:gd name="connsiteX17" fmla="*/ 63898 w 83751"/>
                <a:gd name="connsiteY17" fmla="*/ 1446 h 82042"/>
                <a:gd name="connsiteX18" fmla="*/ 72050 w 83751"/>
                <a:gd name="connsiteY18" fmla="*/ 0 h 82042"/>
                <a:gd name="connsiteX19" fmla="*/ 80070 w 83751"/>
                <a:gd name="connsiteY19" fmla="*/ 0 h 82042"/>
                <a:gd name="connsiteX20" fmla="*/ 83752 w 83751"/>
                <a:gd name="connsiteY20" fmla="*/ 0 h 82042"/>
                <a:gd name="connsiteX21" fmla="*/ 83752 w 83751"/>
                <a:gd name="connsiteY21" fmla="*/ 6574 h 82042"/>
                <a:gd name="connsiteX22" fmla="*/ 80070 w 83751"/>
                <a:gd name="connsiteY22" fmla="*/ 6574 h 82042"/>
                <a:gd name="connsiteX23" fmla="*/ 80070 w 83751"/>
                <a:gd name="connsiteY23" fmla="*/ 6574 h 82042"/>
                <a:gd name="connsiteX24" fmla="*/ 72707 w 83751"/>
                <a:gd name="connsiteY24" fmla="*/ 6574 h 82042"/>
                <a:gd name="connsiteX25" fmla="*/ 65345 w 83751"/>
                <a:gd name="connsiteY25" fmla="*/ 8020 h 82042"/>
                <a:gd name="connsiteX26" fmla="*/ 58113 w 83751"/>
                <a:gd name="connsiteY26" fmla="*/ 9466 h 82042"/>
                <a:gd name="connsiteX27" fmla="*/ 51408 w 83751"/>
                <a:gd name="connsiteY27" fmla="*/ 11570 h 82042"/>
                <a:gd name="connsiteX28" fmla="*/ 44834 w 83751"/>
                <a:gd name="connsiteY28" fmla="*/ 15251 h 82042"/>
                <a:gd name="connsiteX29" fmla="*/ 38918 w 83751"/>
                <a:gd name="connsiteY29" fmla="*/ 18801 h 82042"/>
                <a:gd name="connsiteX30" fmla="*/ 33132 w 83751"/>
                <a:gd name="connsiteY30" fmla="*/ 22483 h 82042"/>
                <a:gd name="connsiteX31" fmla="*/ 28005 w 83751"/>
                <a:gd name="connsiteY31" fmla="*/ 27610 h 82042"/>
                <a:gd name="connsiteX32" fmla="*/ 23535 w 83751"/>
                <a:gd name="connsiteY32" fmla="*/ 32607 h 82042"/>
                <a:gd name="connsiteX33" fmla="*/ 19196 w 83751"/>
                <a:gd name="connsiteY33" fmla="*/ 38392 h 82042"/>
                <a:gd name="connsiteX34" fmla="*/ 15514 w 83751"/>
                <a:gd name="connsiteY34" fmla="*/ 44308 h 82042"/>
                <a:gd name="connsiteX35" fmla="*/ 12490 w 83751"/>
                <a:gd name="connsiteY35" fmla="*/ 50751 h 82042"/>
                <a:gd name="connsiteX36" fmla="*/ 9598 w 83751"/>
                <a:gd name="connsiteY36" fmla="*/ 57325 h 82042"/>
                <a:gd name="connsiteX37" fmla="*/ 8152 w 83751"/>
                <a:gd name="connsiteY37" fmla="*/ 64556 h 82042"/>
                <a:gd name="connsiteX38" fmla="*/ 6705 w 83751"/>
                <a:gd name="connsiteY38" fmla="*/ 71787 h 82042"/>
                <a:gd name="connsiteX39" fmla="*/ 6705 w 83751"/>
                <a:gd name="connsiteY39" fmla="*/ 79150 h 82042"/>
                <a:gd name="connsiteX40" fmla="*/ 6705 w 83751"/>
                <a:gd name="connsiteY40" fmla="*/ 82042 h 82042"/>
                <a:gd name="connsiteX41" fmla="*/ 6705 w 83751"/>
                <a:gd name="connsiteY41" fmla="*/ 82042 h 82042"/>
                <a:gd name="connsiteX42" fmla="*/ 6705 w 83751"/>
                <a:gd name="connsiteY42" fmla="*/ 82042 h 8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3751" h="82042">
                  <a:moveTo>
                    <a:pt x="6705" y="82042"/>
                  </a:moveTo>
                  <a:lnTo>
                    <a:pt x="0" y="82042"/>
                  </a:lnTo>
                  <a:lnTo>
                    <a:pt x="0" y="79150"/>
                  </a:lnTo>
                  <a:lnTo>
                    <a:pt x="0" y="79150"/>
                  </a:lnTo>
                  <a:lnTo>
                    <a:pt x="0" y="71130"/>
                  </a:lnTo>
                  <a:lnTo>
                    <a:pt x="1578" y="63110"/>
                  </a:lnTo>
                  <a:lnTo>
                    <a:pt x="3681" y="55089"/>
                  </a:lnTo>
                  <a:lnTo>
                    <a:pt x="5916" y="47858"/>
                  </a:lnTo>
                  <a:lnTo>
                    <a:pt x="9598" y="41416"/>
                  </a:lnTo>
                  <a:lnTo>
                    <a:pt x="14068" y="34842"/>
                  </a:lnTo>
                  <a:lnTo>
                    <a:pt x="18407" y="28268"/>
                  </a:lnTo>
                  <a:lnTo>
                    <a:pt x="23535" y="23272"/>
                  </a:lnTo>
                  <a:lnTo>
                    <a:pt x="29451" y="18144"/>
                  </a:lnTo>
                  <a:lnTo>
                    <a:pt x="35236" y="13016"/>
                  </a:lnTo>
                  <a:lnTo>
                    <a:pt x="41942" y="9466"/>
                  </a:lnTo>
                  <a:lnTo>
                    <a:pt x="49304" y="5785"/>
                  </a:lnTo>
                  <a:lnTo>
                    <a:pt x="56536" y="2893"/>
                  </a:lnTo>
                  <a:lnTo>
                    <a:pt x="63898" y="1446"/>
                  </a:lnTo>
                  <a:lnTo>
                    <a:pt x="72050" y="0"/>
                  </a:lnTo>
                  <a:lnTo>
                    <a:pt x="80070" y="0"/>
                  </a:lnTo>
                  <a:lnTo>
                    <a:pt x="83752" y="0"/>
                  </a:lnTo>
                  <a:lnTo>
                    <a:pt x="83752" y="6574"/>
                  </a:lnTo>
                  <a:lnTo>
                    <a:pt x="80070" y="6574"/>
                  </a:lnTo>
                  <a:lnTo>
                    <a:pt x="80070" y="6574"/>
                  </a:lnTo>
                  <a:lnTo>
                    <a:pt x="72707" y="6574"/>
                  </a:lnTo>
                  <a:lnTo>
                    <a:pt x="65345" y="8020"/>
                  </a:lnTo>
                  <a:lnTo>
                    <a:pt x="58113" y="9466"/>
                  </a:lnTo>
                  <a:lnTo>
                    <a:pt x="51408" y="11570"/>
                  </a:lnTo>
                  <a:lnTo>
                    <a:pt x="44834" y="15251"/>
                  </a:lnTo>
                  <a:lnTo>
                    <a:pt x="38918" y="18801"/>
                  </a:lnTo>
                  <a:lnTo>
                    <a:pt x="33132" y="22483"/>
                  </a:lnTo>
                  <a:lnTo>
                    <a:pt x="28005" y="27610"/>
                  </a:lnTo>
                  <a:lnTo>
                    <a:pt x="23535" y="32607"/>
                  </a:lnTo>
                  <a:lnTo>
                    <a:pt x="19196" y="38392"/>
                  </a:lnTo>
                  <a:lnTo>
                    <a:pt x="15514" y="44308"/>
                  </a:lnTo>
                  <a:lnTo>
                    <a:pt x="12490" y="50751"/>
                  </a:lnTo>
                  <a:lnTo>
                    <a:pt x="9598" y="57325"/>
                  </a:lnTo>
                  <a:lnTo>
                    <a:pt x="8152" y="64556"/>
                  </a:lnTo>
                  <a:lnTo>
                    <a:pt x="6705" y="71787"/>
                  </a:lnTo>
                  <a:lnTo>
                    <a:pt x="6705" y="79150"/>
                  </a:lnTo>
                  <a:lnTo>
                    <a:pt x="6705" y="82042"/>
                  </a:lnTo>
                  <a:lnTo>
                    <a:pt x="6705" y="82042"/>
                  </a:lnTo>
                  <a:lnTo>
                    <a:pt x="6705" y="82042"/>
                  </a:lnTo>
                  <a:close/>
                </a:path>
              </a:pathLst>
            </a:custGeom>
            <a:solidFill>
              <a:srgbClr val="FFFFFF"/>
            </a:solidFill>
            <a:ln w="328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23" name="Freeform: Shape 122">
              <a:extLst>
                <a:ext uri="{FF2B5EF4-FFF2-40B4-BE49-F238E27FC236}">
                  <a16:creationId xmlns:a16="http://schemas.microsoft.com/office/drawing/2014/main" id="{B8DC28B2-E05F-67A3-FD75-0FBD14FAF744}"/>
                </a:ext>
              </a:extLst>
            </p:cNvPr>
            <p:cNvSpPr/>
            <p:nvPr/>
          </p:nvSpPr>
          <p:spPr>
            <a:xfrm>
              <a:off x="2376483" y="2838592"/>
              <a:ext cx="76914" cy="51933"/>
            </a:xfrm>
            <a:custGeom>
              <a:avLst/>
              <a:gdLst>
                <a:gd name="connsiteX0" fmla="*/ 6443 w 76914"/>
                <a:gd name="connsiteY0" fmla="*/ 51934 h 51933"/>
                <a:gd name="connsiteX1" fmla="*/ 0 w 76914"/>
                <a:gd name="connsiteY1" fmla="*/ 51934 h 51933"/>
                <a:gd name="connsiteX2" fmla="*/ 0 w 76914"/>
                <a:gd name="connsiteY2" fmla="*/ 49041 h 51933"/>
                <a:gd name="connsiteX3" fmla="*/ 0 w 76914"/>
                <a:gd name="connsiteY3" fmla="*/ 49041 h 51933"/>
                <a:gd name="connsiteX4" fmla="*/ 0 w 76914"/>
                <a:gd name="connsiteY4" fmla="*/ 43914 h 51933"/>
                <a:gd name="connsiteX5" fmla="*/ 657 w 76914"/>
                <a:gd name="connsiteY5" fmla="*/ 38918 h 51933"/>
                <a:gd name="connsiteX6" fmla="*/ 2104 w 76914"/>
                <a:gd name="connsiteY6" fmla="*/ 34579 h 51933"/>
                <a:gd name="connsiteX7" fmla="*/ 3550 w 76914"/>
                <a:gd name="connsiteY7" fmla="*/ 29583 h 51933"/>
                <a:gd name="connsiteX8" fmla="*/ 5785 w 76914"/>
                <a:gd name="connsiteY8" fmla="*/ 25244 h 51933"/>
                <a:gd name="connsiteX9" fmla="*/ 8678 w 76914"/>
                <a:gd name="connsiteY9" fmla="*/ 21562 h 51933"/>
                <a:gd name="connsiteX10" fmla="*/ 11570 w 76914"/>
                <a:gd name="connsiteY10" fmla="*/ 18013 h 51933"/>
                <a:gd name="connsiteX11" fmla="*/ 14463 w 76914"/>
                <a:gd name="connsiteY11" fmla="*/ 14463 h 51933"/>
                <a:gd name="connsiteX12" fmla="*/ 18144 w 76914"/>
                <a:gd name="connsiteY12" fmla="*/ 10781 h 51933"/>
                <a:gd name="connsiteX13" fmla="*/ 21694 w 76914"/>
                <a:gd name="connsiteY13" fmla="*/ 7889 h 51933"/>
                <a:gd name="connsiteX14" fmla="*/ 26164 w 76914"/>
                <a:gd name="connsiteY14" fmla="*/ 5785 h 51933"/>
                <a:gd name="connsiteX15" fmla="*/ 30503 w 76914"/>
                <a:gd name="connsiteY15" fmla="*/ 3550 h 51933"/>
                <a:gd name="connsiteX16" fmla="*/ 34842 w 76914"/>
                <a:gd name="connsiteY16" fmla="*/ 2104 h 51933"/>
                <a:gd name="connsiteX17" fmla="*/ 39181 w 76914"/>
                <a:gd name="connsiteY17" fmla="*/ 789 h 51933"/>
                <a:gd name="connsiteX18" fmla="*/ 44308 w 76914"/>
                <a:gd name="connsiteY18" fmla="*/ 0 h 51933"/>
                <a:gd name="connsiteX19" fmla="*/ 49304 w 76914"/>
                <a:gd name="connsiteY19" fmla="*/ 0 h 51933"/>
                <a:gd name="connsiteX20" fmla="*/ 49304 w 76914"/>
                <a:gd name="connsiteY20" fmla="*/ 0 h 51933"/>
                <a:gd name="connsiteX21" fmla="*/ 55878 w 76914"/>
                <a:gd name="connsiteY21" fmla="*/ 0 h 51933"/>
                <a:gd name="connsiteX22" fmla="*/ 62452 w 76914"/>
                <a:gd name="connsiteY22" fmla="*/ 1446 h 51933"/>
                <a:gd name="connsiteX23" fmla="*/ 68237 w 76914"/>
                <a:gd name="connsiteY23" fmla="*/ 3550 h 51933"/>
                <a:gd name="connsiteX24" fmla="*/ 74022 w 76914"/>
                <a:gd name="connsiteY24" fmla="*/ 6442 h 51933"/>
                <a:gd name="connsiteX25" fmla="*/ 76915 w 76914"/>
                <a:gd name="connsiteY25" fmla="*/ 7889 h 51933"/>
                <a:gd name="connsiteX26" fmla="*/ 74022 w 76914"/>
                <a:gd name="connsiteY26" fmla="*/ 13674 h 51933"/>
                <a:gd name="connsiteX27" fmla="*/ 71130 w 76914"/>
                <a:gd name="connsiteY27" fmla="*/ 12227 h 51933"/>
                <a:gd name="connsiteX28" fmla="*/ 71130 w 76914"/>
                <a:gd name="connsiteY28" fmla="*/ 12227 h 51933"/>
                <a:gd name="connsiteX29" fmla="*/ 66002 w 76914"/>
                <a:gd name="connsiteY29" fmla="*/ 9335 h 51933"/>
                <a:gd name="connsiteX30" fmla="*/ 61006 w 76914"/>
                <a:gd name="connsiteY30" fmla="*/ 7889 h 51933"/>
                <a:gd name="connsiteX31" fmla="*/ 55221 w 76914"/>
                <a:gd name="connsiteY31" fmla="*/ 6442 h 51933"/>
                <a:gd name="connsiteX32" fmla="*/ 49304 w 76914"/>
                <a:gd name="connsiteY32" fmla="*/ 6442 h 51933"/>
                <a:gd name="connsiteX33" fmla="*/ 49304 w 76914"/>
                <a:gd name="connsiteY33" fmla="*/ 6442 h 51933"/>
                <a:gd name="connsiteX34" fmla="*/ 44966 w 76914"/>
                <a:gd name="connsiteY34" fmla="*/ 6442 h 51933"/>
                <a:gd name="connsiteX35" fmla="*/ 40627 w 76914"/>
                <a:gd name="connsiteY35" fmla="*/ 7231 h 51933"/>
                <a:gd name="connsiteX36" fmla="*/ 32607 w 76914"/>
                <a:gd name="connsiteY36" fmla="*/ 9335 h 51933"/>
                <a:gd name="connsiteX37" fmla="*/ 25375 w 76914"/>
                <a:gd name="connsiteY37" fmla="*/ 13674 h 51933"/>
                <a:gd name="connsiteX38" fmla="*/ 18801 w 76914"/>
                <a:gd name="connsiteY38" fmla="*/ 18801 h 51933"/>
                <a:gd name="connsiteX39" fmla="*/ 13805 w 76914"/>
                <a:gd name="connsiteY39" fmla="*/ 25244 h 51933"/>
                <a:gd name="connsiteX40" fmla="*/ 10124 w 76914"/>
                <a:gd name="connsiteY40" fmla="*/ 32475 h 51933"/>
                <a:gd name="connsiteX41" fmla="*/ 7231 w 76914"/>
                <a:gd name="connsiteY41" fmla="*/ 40364 h 51933"/>
                <a:gd name="connsiteX42" fmla="*/ 6443 w 76914"/>
                <a:gd name="connsiteY42" fmla="*/ 44703 h 51933"/>
                <a:gd name="connsiteX43" fmla="*/ 6443 w 76914"/>
                <a:gd name="connsiteY43" fmla="*/ 49041 h 51933"/>
                <a:gd name="connsiteX44" fmla="*/ 6443 w 76914"/>
                <a:gd name="connsiteY44" fmla="*/ 51934 h 51933"/>
                <a:gd name="connsiteX45" fmla="*/ 6443 w 76914"/>
                <a:gd name="connsiteY45" fmla="*/ 51934 h 51933"/>
                <a:gd name="connsiteX46" fmla="*/ 6443 w 76914"/>
                <a:gd name="connsiteY46" fmla="*/ 51934 h 51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6914" h="51933">
                  <a:moveTo>
                    <a:pt x="6443" y="51934"/>
                  </a:moveTo>
                  <a:lnTo>
                    <a:pt x="0" y="51934"/>
                  </a:lnTo>
                  <a:lnTo>
                    <a:pt x="0" y="49041"/>
                  </a:lnTo>
                  <a:lnTo>
                    <a:pt x="0" y="49041"/>
                  </a:lnTo>
                  <a:lnTo>
                    <a:pt x="0" y="43914"/>
                  </a:lnTo>
                  <a:lnTo>
                    <a:pt x="657" y="38918"/>
                  </a:lnTo>
                  <a:lnTo>
                    <a:pt x="2104" y="34579"/>
                  </a:lnTo>
                  <a:lnTo>
                    <a:pt x="3550" y="29583"/>
                  </a:lnTo>
                  <a:lnTo>
                    <a:pt x="5785" y="25244"/>
                  </a:lnTo>
                  <a:lnTo>
                    <a:pt x="8678" y="21562"/>
                  </a:lnTo>
                  <a:lnTo>
                    <a:pt x="11570" y="18013"/>
                  </a:lnTo>
                  <a:lnTo>
                    <a:pt x="14463" y="14463"/>
                  </a:lnTo>
                  <a:lnTo>
                    <a:pt x="18144" y="10781"/>
                  </a:lnTo>
                  <a:lnTo>
                    <a:pt x="21694" y="7889"/>
                  </a:lnTo>
                  <a:lnTo>
                    <a:pt x="26164" y="5785"/>
                  </a:lnTo>
                  <a:lnTo>
                    <a:pt x="30503" y="3550"/>
                  </a:lnTo>
                  <a:lnTo>
                    <a:pt x="34842" y="2104"/>
                  </a:lnTo>
                  <a:lnTo>
                    <a:pt x="39181" y="789"/>
                  </a:lnTo>
                  <a:lnTo>
                    <a:pt x="44308" y="0"/>
                  </a:lnTo>
                  <a:lnTo>
                    <a:pt x="49304" y="0"/>
                  </a:lnTo>
                  <a:lnTo>
                    <a:pt x="49304" y="0"/>
                  </a:lnTo>
                  <a:lnTo>
                    <a:pt x="55878" y="0"/>
                  </a:lnTo>
                  <a:lnTo>
                    <a:pt x="62452" y="1446"/>
                  </a:lnTo>
                  <a:lnTo>
                    <a:pt x="68237" y="3550"/>
                  </a:lnTo>
                  <a:lnTo>
                    <a:pt x="74022" y="6442"/>
                  </a:lnTo>
                  <a:lnTo>
                    <a:pt x="76915" y="7889"/>
                  </a:lnTo>
                  <a:lnTo>
                    <a:pt x="74022" y="13674"/>
                  </a:lnTo>
                  <a:lnTo>
                    <a:pt x="71130" y="12227"/>
                  </a:lnTo>
                  <a:lnTo>
                    <a:pt x="71130" y="12227"/>
                  </a:lnTo>
                  <a:lnTo>
                    <a:pt x="66002" y="9335"/>
                  </a:lnTo>
                  <a:lnTo>
                    <a:pt x="61006" y="7889"/>
                  </a:lnTo>
                  <a:lnTo>
                    <a:pt x="55221" y="6442"/>
                  </a:lnTo>
                  <a:lnTo>
                    <a:pt x="49304" y="6442"/>
                  </a:lnTo>
                  <a:lnTo>
                    <a:pt x="49304" y="6442"/>
                  </a:lnTo>
                  <a:lnTo>
                    <a:pt x="44966" y="6442"/>
                  </a:lnTo>
                  <a:lnTo>
                    <a:pt x="40627" y="7231"/>
                  </a:lnTo>
                  <a:lnTo>
                    <a:pt x="32607" y="9335"/>
                  </a:lnTo>
                  <a:lnTo>
                    <a:pt x="25375" y="13674"/>
                  </a:lnTo>
                  <a:lnTo>
                    <a:pt x="18801" y="18801"/>
                  </a:lnTo>
                  <a:lnTo>
                    <a:pt x="13805" y="25244"/>
                  </a:lnTo>
                  <a:lnTo>
                    <a:pt x="10124" y="32475"/>
                  </a:lnTo>
                  <a:lnTo>
                    <a:pt x="7231" y="40364"/>
                  </a:lnTo>
                  <a:lnTo>
                    <a:pt x="6443" y="44703"/>
                  </a:lnTo>
                  <a:lnTo>
                    <a:pt x="6443" y="49041"/>
                  </a:lnTo>
                  <a:lnTo>
                    <a:pt x="6443" y="51934"/>
                  </a:lnTo>
                  <a:lnTo>
                    <a:pt x="6443" y="51934"/>
                  </a:lnTo>
                  <a:lnTo>
                    <a:pt x="6443" y="51934"/>
                  </a:lnTo>
                  <a:close/>
                </a:path>
              </a:pathLst>
            </a:custGeom>
            <a:solidFill>
              <a:srgbClr val="FFFFFF"/>
            </a:solidFill>
            <a:ln w="328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24" name="Freeform: Shape 123">
              <a:extLst>
                <a:ext uri="{FF2B5EF4-FFF2-40B4-BE49-F238E27FC236}">
                  <a16:creationId xmlns:a16="http://schemas.microsoft.com/office/drawing/2014/main" id="{B12F0CD6-A350-933F-C8D9-D44F4726C486}"/>
                </a:ext>
              </a:extLst>
            </p:cNvPr>
            <p:cNvSpPr/>
            <p:nvPr/>
          </p:nvSpPr>
          <p:spPr>
            <a:xfrm>
              <a:off x="2456685" y="2814269"/>
              <a:ext cx="49830" cy="68631"/>
            </a:xfrm>
            <a:custGeom>
              <a:avLst/>
              <a:gdLst>
                <a:gd name="connsiteX0" fmla="*/ 42993 w 49830"/>
                <a:gd name="connsiteY0" fmla="*/ 65739 h 68631"/>
                <a:gd name="connsiteX1" fmla="*/ 42993 w 49830"/>
                <a:gd name="connsiteY1" fmla="*/ 65739 h 68631"/>
                <a:gd name="connsiteX2" fmla="*/ 42993 w 49830"/>
                <a:gd name="connsiteY2" fmla="*/ 64293 h 68631"/>
                <a:gd name="connsiteX3" fmla="*/ 43782 w 49830"/>
                <a:gd name="connsiteY3" fmla="*/ 63504 h 68631"/>
                <a:gd name="connsiteX4" fmla="*/ 44571 w 49830"/>
                <a:gd name="connsiteY4" fmla="*/ 62715 h 68631"/>
                <a:gd name="connsiteX5" fmla="*/ 46017 w 49830"/>
                <a:gd name="connsiteY5" fmla="*/ 61926 h 68631"/>
                <a:gd name="connsiteX6" fmla="*/ 47464 w 49830"/>
                <a:gd name="connsiteY6" fmla="*/ 61926 h 68631"/>
                <a:gd name="connsiteX7" fmla="*/ 48253 w 49830"/>
                <a:gd name="connsiteY7" fmla="*/ 62715 h 68631"/>
                <a:gd name="connsiteX8" fmla="*/ 49041 w 49830"/>
                <a:gd name="connsiteY8" fmla="*/ 64161 h 68631"/>
                <a:gd name="connsiteX9" fmla="*/ 49830 w 49830"/>
                <a:gd name="connsiteY9" fmla="*/ 64950 h 68631"/>
                <a:gd name="connsiteX10" fmla="*/ 49830 w 49830"/>
                <a:gd name="connsiteY10" fmla="*/ 64950 h 68631"/>
                <a:gd name="connsiteX11" fmla="*/ 49830 w 49830"/>
                <a:gd name="connsiteY11" fmla="*/ 66397 h 68631"/>
                <a:gd name="connsiteX12" fmla="*/ 49041 w 49830"/>
                <a:gd name="connsiteY12" fmla="*/ 67843 h 68631"/>
                <a:gd name="connsiteX13" fmla="*/ 48253 w 49830"/>
                <a:gd name="connsiteY13" fmla="*/ 68632 h 68631"/>
                <a:gd name="connsiteX14" fmla="*/ 45360 w 49830"/>
                <a:gd name="connsiteY14" fmla="*/ 68632 h 68631"/>
                <a:gd name="connsiteX15" fmla="*/ 43914 w 49830"/>
                <a:gd name="connsiteY15" fmla="*/ 67843 h 68631"/>
                <a:gd name="connsiteX16" fmla="*/ 43125 w 49830"/>
                <a:gd name="connsiteY16" fmla="*/ 67054 h 68631"/>
                <a:gd name="connsiteX17" fmla="*/ 43125 w 49830"/>
                <a:gd name="connsiteY17" fmla="*/ 65608 h 68631"/>
                <a:gd name="connsiteX18" fmla="*/ 43125 w 49830"/>
                <a:gd name="connsiteY18" fmla="*/ 65608 h 68631"/>
                <a:gd name="connsiteX19" fmla="*/ 40758 w 49830"/>
                <a:gd name="connsiteY19" fmla="*/ 53380 h 68631"/>
                <a:gd name="connsiteX20" fmla="*/ 40758 w 49830"/>
                <a:gd name="connsiteY20" fmla="*/ 53380 h 68631"/>
                <a:gd name="connsiteX21" fmla="*/ 40758 w 49830"/>
                <a:gd name="connsiteY21" fmla="*/ 51145 h 68631"/>
                <a:gd name="connsiteX22" fmla="*/ 42204 w 49830"/>
                <a:gd name="connsiteY22" fmla="*/ 50356 h 68631"/>
                <a:gd name="connsiteX23" fmla="*/ 42993 w 49830"/>
                <a:gd name="connsiteY23" fmla="*/ 49567 h 68631"/>
                <a:gd name="connsiteX24" fmla="*/ 45886 w 49830"/>
                <a:gd name="connsiteY24" fmla="*/ 49567 h 68631"/>
                <a:gd name="connsiteX25" fmla="*/ 46675 w 49830"/>
                <a:gd name="connsiteY25" fmla="*/ 50356 h 68631"/>
                <a:gd name="connsiteX26" fmla="*/ 47464 w 49830"/>
                <a:gd name="connsiteY26" fmla="*/ 51802 h 68631"/>
                <a:gd name="connsiteX27" fmla="*/ 47464 w 49830"/>
                <a:gd name="connsiteY27" fmla="*/ 51802 h 68631"/>
                <a:gd name="connsiteX28" fmla="*/ 47464 w 49830"/>
                <a:gd name="connsiteY28" fmla="*/ 53249 h 68631"/>
                <a:gd name="connsiteX29" fmla="*/ 46675 w 49830"/>
                <a:gd name="connsiteY29" fmla="*/ 54038 h 68631"/>
                <a:gd name="connsiteX30" fmla="*/ 45886 w 49830"/>
                <a:gd name="connsiteY30" fmla="*/ 55484 h 68631"/>
                <a:gd name="connsiteX31" fmla="*/ 44440 w 49830"/>
                <a:gd name="connsiteY31" fmla="*/ 55484 h 68631"/>
                <a:gd name="connsiteX32" fmla="*/ 43651 w 49830"/>
                <a:gd name="connsiteY32" fmla="*/ 56273 h 68631"/>
                <a:gd name="connsiteX33" fmla="*/ 43651 w 49830"/>
                <a:gd name="connsiteY33" fmla="*/ 56273 h 68631"/>
                <a:gd name="connsiteX34" fmla="*/ 42204 w 49830"/>
                <a:gd name="connsiteY34" fmla="*/ 55484 h 68631"/>
                <a:gd name="connsiteX35" fmla="*/ 40758 w 49830"/>
                <a:gd name="connsiteY35" fmla="*/ 53249 h 68631"/>
                <a:gd name="connsiteX36" fmla="*/ 40758 w 49830"/>
                <a:gd name="connsiteY36" fmla="*/ 53249 h 68631"/>
                <a:gd name="connsiteX37" fmla="*/ 36420 w 49830"/>
                <a:gd name="connsiteY37" fmla="*/ 41679 h 68631"/>
                <a:gd name="connsiteX38" fmla="*/ 36420 w 49830"/>
                <a:gd name="connsiteY38" fmla="*/ 41679 h 68631"/>
                <a:gd name="connsiteX39" fmla="*/ 36420 w 49830"/>
                <a:gd name="connsiteY39" fmla="*/ 39443 h 68631"/>
                <a:gd name="connsiteX40" fmla="*/ 37208 w 49830"/>
                <a:gd name="connsiteY40" fmla="*/ 37997 h 68631"/>
                <a:gd name="connsiteX41" fmla="*/ 37997 w 49830"/>
                <a:gd name="connsiteY41" fmla="*/ 37208 h 68631"/>
                <a:gd name="connsiteX42" fmla="*/ 40890 w 49830"/>
                <a:gd name="connsiteY42" fmla="*/ 37208 h 68631"/>
                <a:gd name="connsiteX43" fmla="*/ 41679 w 49830"/>
                <a:gd name="connsiteY43" fmla="*/ 37997 h 68631"/>
                <a:gd name="connsiteX44" fmla="*/ 42467 w 49830"/>
                <a:gd name="connsiteY44" fmla="*/ 38786 h 68631"/>
                <a:gd name="connsiteX45" fmla="*/ 42467 w 49830"/>
                <a:gd name="connsiteY45" fmla="*/ 38786 h 68631"/>
                <a:gd name="connsiteX46" fmla="*/ 43256 w 49830"/>
                <a:gd name="connsiteY46" fmla="*/ 40232 h 68631"/>
                <a:gd name="connsiteX47" fmla="*/ 42467 w 49830"/>
                <a:gd name="connsiteY47" fmla="*/ 41679 h 68631"/>
                <a:gd name="connsiteX48" fmla="*/ 42467 w 49830"/>
                <a:gd name="connsiteY48" fmla="*/ 42467 h 68631"/>
                <a:gd name="connsiteX49" fmla="*/ 41021 w 49830"/>
                <a:gd name="connsiteY49" fmla="*/ 43256 h 68631"/>
                <a:gd name="connsiteX50" fmla="*/ 41021 w 49830"/>
                <a:gd name="connsiteY50" fmla="*/ 43256 h 68631"/>
                <a:gd name="connsiteX51" fmla="*/ 39575 w 49830"/>
                <a:gd name="connsiteY51" fmla="*/ 44045 h 68631"/>
                <a:gd name="connsiteX52" fmla="*/ 39575 w 49830"/>
                <a:gd name="connsiteY52" fmla="*/ 44045 h 68631"/>
                <a:gd name="connsiteX53" fmla="*/ 38129 w 49830"/>
                <a:gd name="connsiteY53" fmla="*/ 43256 h 68631"/>
                <a:gd name="connsiteX54" fmla="*/ 36682 w 49830"/>
                <a:gd name="connsiteY54" fmla="*/ 41810 h 68631"/>
                <a:gd name="connsiteX55" fmla="*/ 36682 w 49830"/>
                <a:gd name="connsiteY55" fmla="*/ 41810 h 68631"/>
                <a:gd name="connsiteX56" fmla="*/ 30634 w 49830"/>
                <a:gd name="connsiteY56" fmla="*/ 30766 h 68631"/>
                <a:gd name="connsiteX57" fmla="*/ 30634 w 49830"/>
                <a:gd name="connsiteY57" fmla="*/ 30766 h 68631"/>
                <a:gd name="connsiteX58" fmla="*/ 29846 w 49830"/>
                <a:gd name="connsiteY58" fmla="*/ 29320 h 68631"/>
                <a:gd name="connsiteX59" fmla="*/ 29846 w 49830"/>
                <a:gd name="connsiteY59" fmla="*/ 27085 h 68631"/>
                <a:gd name="connsiteX60" fmla="*/ 31292 w 49830"/>
                <a:gd name="connsiteY60" fmla="*/ 26296 h 68631"/>
                <a:gd name="connsiteX61" fmla="*/ 31292 w 49830"/>
                <a:gd name="connsiteY61" fmla="*/ 26296 h 68631"/>
                <a:gd name="connsiteX62" fmla="*/ 32081 w 49830"/>
                <a:gd name="connsiteY62" fmla="*/ 25507 h 68631"/>
                <a:gd name="connsiteX63" fmla="*/ 33527 w 49830"/>
                <a:gd name="connsiteY63" fmla="*/ 25507 h 68631"/>
                <a:gd name="connsiteX64" fmla="*/ 34973 w 49830"/>
                <a:gd name="connsiteY64" fmla="*/ 26296 h 68631"/>
                <a:gd name="connsiteX65" fmla="*/ 35762 w 49830"/>
                <a:gd name="connsiteY65" fmla="*/ 27085 h 68631"/>
                <a:gd name="connsiteX66" fmla="*/ 35762 w 49830"/>
                <a:gd name="connsiteY66" fmla="*/ 27085 h 68631"/>
                <a:gd name="connsiteX67" fmla="*/ 36551 w 49830"/>
                <a:gd name="connsiteY67" fmla="*/ 28531 h 68631"/>
                <a:gd name="connsiteX68" fmla="*/ 36551 w 49830"/>
                <a:gd name="connsiteY68" fmla="*/ 29320 h 68631"/>
                <a:gd name="connsiteX69" fmla="*/ 35762 w 49830"/>
                <a:gd name="connsiteY69" fmla="*/ 30766 h 68631"/>
                <a:gd name="connsiteX70" fmla="*/ 34973 w 49830"/>
                <a:gd name="connsiteY70" fmla="*/ 31555 h 68631"/>
                <a:gd name="connsiteX71" fmla="*/ 34973 w 49830"/>
                <a:gd name="connsiteY71" fmla="*/ 31555 h 68631"/>
                <a:gd name="connsiteX72" fmla="*/ 32738 w 49830"/>
                <a:gd name="connsiteY72" fmla="*/ 32344 h 68631"/>
                <a:gd name="connsiteX73" fmla="*/ 31292 w 49830"/>
                <a:gd name="connsiteY73" fmla="*/ 32344 h 68631"/>
                <a:gd name="connsiteX74" fmla="*/ 30503 w 49830"/>
                <a:gd name="connsiteY74" fmla="*/ 30897 h 68631"/>
                <a:gd name="connsiteX75" fmla="*/ 30503 w 49830"/>
                <a:gd name="connsiteY75" fmla="*/ 30897 h 68631"/>
                <a:gd name="connsiteX76" fmla="*/ 22614 w 49830"/>
                <a:gd name="connsiteY76" fmla="*/ 21300 h 68631"/>
                <a:gd name="connsiteX77" fmla="*/ 22614 w 49830"/>
                <a:gd name="connsiteY77" fmla="*/ 21300 h 68631"/>
                <a:gd name="connsiteX78" fmla="*/ 21825 w 49830"/>
                <a:gd name="connsiteY78" fmla="*/ 19853 h 68631"/>
                <a:gd name="connsiteX79" fmla="*/ 21036 w 49830"/>
                <a:gd name="connsiteY79" fmla="*/ 19064 h 68631"/>
                <a:gd name="connsiteX80" fmla="*/ 21825 w 49830"/>
                <a:gd name="connsiteY80" fmla="*/ 17618 h 68631"/>
                <a:gd name="connsiteX81" fmla="*/ 22614 w 49830"/>
                <a:gd name="connsiteY81" fmla="*/ 16172 h 68631"/>
                <a:gd name="connsiteX82" fmla="*/ 23403 w 49830"/>
                <a:gd name="connsiteY82" fmla="*/ 16172 h 68631"/>
                <a:gd name="connsiteX83" fmla="*/ 24849 w 49830"/>
                <a:gd name="connsiteY83" fmla="*/ 15383 h 68631"/>
                <a:gd name="connsiteX84" fmla="*/ 26296 w 49830"/>
                <a:gd name="connsiteY84" fmla="*/ 16172 h 68631"/>
                <a:gd name="connsiteX85" fmla="*/ 27084 w 49830"/>
                <a:gd name="connsiteY85" fmla="*/ 16961 h 68631"/>
                <a:gd name="connsiteX86" fmla="*/ 27084 w 49830"/>
                <a:gd name="connsiteY86" fmla="*/ 16961 h 68631"/>
                <a:gd name="connsiteX87" fmla="*/ 27873 w 49830"/>
                <a:gd name="connsiteY87" fmla="*/ 17750 h 68631"/>
                <a:gd name="connsiteX88" fmla="*/ 27873 w 49830"/>
                <a:gd name="connsiteY88" fmla="*/ 19985 h 68631"/>
                <a:gd name="connsiteX89" fmla="*/ 27084 w 49830"/>
                <a:gd name="connsiteY89" fmla="*/ 21431 h 68631"/>
                <a:gd name="connsiteX90" fmla="*/ 27084 w 49830"/>
                <a:gd name="connsiteY90" fmla="*/ 21431 h 68631"/>
                <a:gd name="connsiteX91" fmla="*/ 25638 w 49830"/>
                <a:gd name="connsiteY91" fmla="*/ 22220 h 68631"/>
                <a:gd name="connsiteX92" fmla="*/ 23403 w 49830"/>
                <a:gd name="connsiteY92" fmla="*/ 22220 h 68631"/>
                <a:gd name="connsiteX93" fmla="*/ 22614 w 49830"/>
                <a:gd name="connsiteY93" fmla="*/ 21431 h 68631"/>
                <a:gd name="connsiteX94" fmla="*/ 22614 w 49830"/>
                <a:gd name="connsiteY94" fmla="*/ 21431 h 68631"/>
                <a:gd name="connsiteX95" fmla="*/ 13148 w 49830"/>
                <a:gd name="connsiteY95" fmla="*/ 13279 h 68631"/>
                <a:gd name="connsiteX96" fmla="*/ 13148 w 49830"/>
                <a:gd name="connsiteY96" fmla="*/ 13279 h 68631"/>
                <a:gd name="connsiteX97" fmla="*/ 11702 w 49830"/>
                <a:gd name="connsiteY97" fmla="*/ 11833 h 68631"/>
                <a:gd name="connsiteX98" fmla="*/ 11702 w 49830"/>
                <a:gd name="connsiteY98" fmla="*/ 8152 h 68631"/>
                <a:gd name="connsiteX99" fmla="*/ 11702 w 49830"/>
                <a:gd name="connsiteY99" fmla="*/ 8152 h 68631"/>
                <a:gd name="connsiteX100" fmla="*/ 13148 w 49830"/>
                <a:gd name="connsiteY100" fmla="*/ 7363 h 68631"/>
                <a:gd name="connsiteX101" fmla="*/ 16829 w 49830"/>
                <a:gd name="connsiteY101" fmla="*/ 7363 h 68631"/>
                <a:gd name="connsiteX102" fmla="*/ 17618 w 49830"/>
                <a:gd name="connsiteY102" fmla="*/ 8809 h 68631"/>
                <a:gd name="connsiteX103" fmla="*/ 18407 w 49830"/>
                <a:gd name="connsiteY103" fmla="*/ 9598 h 68631"/>
                <a:gd name="connsiteX104" fmla="*/ 18407 w 49830"/>
                <a:gd name="connsiteY104" fmla="*/ 11044 h 68631"/>
                <a:gd name="connsiteX105" fmla="*/ 17618 w 49830"/>
                <a:gd name="connsiteY105" fmla="*/ 12490 h 68631"/>
                <a:gd name="connsiteX106" fmla="*/ 17618 w 49830"/>
                <a:gd name="connsiteY106" fmla="*/ 12490 h 68631"/>
                <a:gd name="connsiteX107" fmla="*/ 16172 w 49830"/>
                <a:gd name="connsiteY107" fmla="*/ 13279 h 68631"/>
                <a:gd name="connsiteX108" fmla="*/ 13279 w 49830"/>
                <a:gd name="connsiteY108" fmla="*/ 13279 h 68631"/>
                <a:gd name="connsiteX109" fmla="*/ 2235 w 49830"/>
                <a:gd name="connsiteY109" fmla="*/ 6705 h 68631"/>
                <a:gd name="connsiteX110" fmla="*/ 2235 w 49830"/>
                <a:gd name="connsiteY110" fmla="*/ 6705 h 68631"/>
                <a:gd name="connsiteX111" fmla="*/ 789 w 49830"/>
                <a:gd name="connsiteY111" fmla="*/ 5917 h 68631"/>
                <a:gd name="connsiteX112" fmla="*/ 789 w 49830"/>
                <a:gd name="connsiteY112" fmla="*/ 4470 h 68631"/>
                <a:gd name="connsiteX113" fmla="*/ 0 w 49830"/>
                <a:gd name="connsiteY113" fmla="*/ 3024 h 68631"/>
                <a:gd name="connsiteX114" fmla="*/ 789 w 49830"/>
                <a:gd name="connsiteY114" fmla="*/ 2235 h 68631"/>
                <a:gd name="connsiteX115" fmla="*/ 789 w 49830"/>
                <a:gd name="connsiteY115" fmla="*/ 2235 h 68631"/>
                <a:gd name="connsiteX116" fmla="*/ 1578 w 49830"/>
                <a:gd name="connsiteY116" fmla="*/ 789 h 68631"/>
                <a:gd name="connsiteX117" fmla="*/ 2367 w 49830"/>
                <a:gd name="connsiteY117" fmla="*/ 0 h 68631"/>
                <a:gd name="connsiteX118" fmla="*/ 3813 w 49830"/>
                <a:gd name="connsiteY118" fmla="*/ 0 h 68631"/>
                <a:gd name="connsiteX119" fmla="*/ 5259 w 49830"/>
                <a:gd name="connsiteY119" fmla="*/ 789 h 68631"/>
                <a:gd name="connsiteX120" fmla="*/ 5259 w 49830"/>
                <a:gd name="connsiteY120" fmla="*/ 789 h 68631"/>
                <a:gd name="connsiteX121" fmla="*/ 6048 w 49830"/>
                <a:gd name="connsiteY121" fmla="*/ 1578 h 68631"/>
                <a:gd name="connsiteX122" fmla="*/ 6837 w 49830"/>
                <a:gd name="connsiteY122" fmla="*/ 2367 h 68631"/>
                <a:gd name="connsiteX123" fmla="*/ 6837 w 49830"/>
                <a:gd name="connsiteY123" fmla="*/ 5259 h 68631"/>
                <a:gd name="connsiteX124" fmla="*/ 6837 w 49830"/>
                <a:gd name="connsiteY124" fmla="*/ 5259 h 68631"/>
                <a:gd name="connsiteX125" fmla="*/ 5391 w 49830"/>
                <a:gd name="connsiteY125" fmla="*/ 6705 h 68631"/>
                <a:gd name="connsiteX126" fmla="*/ 2498 w 49830"/>
                <a:gd name="connsiteY126" fmla="*/ 6705 h 6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49830" h="68631">
                  <a:moveTo>
                    <a:pt x="42993" y="65739"/>
                  </a:moveTo>
                  <a:lnTo>
                    <a:pt x="42993" y="65739"/>
                  </a:lnTo>
                  <a:lnTo>
                    <a:pt x="42993" y="64293"/>
                  </a:lnTo>
                  <a:lnTo>
                    <a:pt x="43782" y="63504"/>
                  </a:lnTo>
                  <a:lnTo>
                    <a:pt x="44571" y="62715"/>
                  </a:lnTo>
                  <a:lnTo>
                    <a:pt x="46017" y="61926"/>
                  </a:lnTo>
                  <a:lnTo>
                    <a:pt x="47464" y="61926"/>
                  </a:lnTo>
                  <a:lnTo>
                    <a:pt x="48253" y="62715"/>
                  </a:lnTo>
                  <a:lnTo>
                    <a:pt x="49041" y="64161"/>
                  </a:lnTo>
                  <a:lnTo>
                    <a:pt x="49830" y="64950"/>
                  </a:lnTo>
                  <a:lnTo>
                    <a:pt x="49830" y="64950"/>
                  </a:lnTo>
                  <a:lnTo>
                    <a:pt x="49830" y="66397"/>
                  </a:lnTo>
                  <a:lnTo>
                    <a:pt x="49041" y="67843"/>
                  </a:lnTo>
                  <a:lnTo>
                    <a:pt x="48253" y="68632"/>
                  </a:lnTo>
                  <a:lnTo>
                    <a:pt x="45360" y="68632"/>
                  </a:lnTo>
                  <a:lnTo>
                    <a:pt x="43914" y="67843"/>
                  </a:lnTo>
                  <a:lnTo>
                    <a:pt x="43125" y="67054"/>
                  </a:lnTo>
                  <a:lnTo>
                    <a:pt x="43125" y="65608"/>
                  </a:lnTo>
                  <a:lnTo>
                    <a:pt x="43125" y="65608"/>
                  </a:lnTo>
                  <a:close/>
                  <a:moveTo>
                    <a:pt x="40758" y="53380"/>
                  </a:moveTo>
                  <a:lnTo>
                    <a:pt x="40758" y="53380"/>
                  </a:lnTo>
                  <a:lnTo>
                    <a:pt x="40758" y="51145"/>
                  </a:lnTo>
                  <a:lnTo>
                    <a:pt x="42204" y="50356"/>
                  </a:lnTo>
                  <a:lnTo>
                    <a:pt x="42993" y="49567"/>
                  </a:lnTo>
                  <a:lnTo>
                    <a:pt x="45886" y="49567"/>
                  </a:lnTo>
                  <a:lnTo>
                    <a:pt x="46675" y="50356"/>
                  </a:lnTo>
                  <a:lnTo>
                    <a:pt x="47464" y="51802"/>
                  </a:lnTo>
                  <a:lnTo>
                    <a:pt x="47464" y="51802"/>
                  </a:lnTo>
                  <a:lnTo>
                    <a:pt x="47464" y="53249"/>
                  </a:lnTo>
                  <a:lnTo>
                    <a:pt x="46675" y="54038"/>
                  </a:lnTo>
                  <a:lnTo>
                    <a:pt x="45886" y="55484"/>
                  </a:lnTo>
                  <a:lnTo>
                    <a:pt x="44440" y="55484"/>
                  </a:lnTo>
                  <a:lnTo>
                    <a:pt x="43651" y="56273"/>
                  </a:lnTo>
                  <a:lnTo>
                    <a:pt x="43651" y="56273"/>
                  </a:lnTo>
                  <a:lnTo>
                    <a:pt x="42204" y="55484"/>
                  </a:lnTo>
                  <a:lnTo>
                    <a:pt x="40758" y="53249"/>
                  </a:lnTo>
                  <a:lnTo>
                    <a:pt x="40758" y="53249"/>
                  </a:lnTo>
                  <a:close/>
                  <a:moveTo>
                    <a:pt x="36420" y="41679"/>
                  </a:moveTo>
                  <a:lnTo>
                    <a:pt x="36420" y="41679"/>
                  </a:lnTo>
                  <a:lnTo>
                    <a:pt x="36420" y="39443"/>
                  </a:lnTo>
                  <a:lnTo>
                    <a:pt x="37208" y="37997"/>
                  </a:lnTo>
                  <a:lnTo>
                    <a:pt x="37997" y="37208"/>
                  </a:lnTo>
                  <a:lnTo>
                    <a:pt x="40890" y="37208"/>
                  </a:lnTo>
                  <a:lnTo>
                    <a:pt x="41679" y="37997"/>
                  </a:lnTo>
                  <a:lnTo>
                    <a:pt x="42467" y="38786"/>
                  </a:lnTo>
                  <a:lnTo>
                    <a:pt x="42467" y="38786"/>
                  </a:lnTo>
                  <a:lnTo>
                    <a:pt x="43256" y="40232"/>
                  </a:lnTo>
                  <a:lnTo>
                    <a:pt x="42467" y="41679"/>
                  </a:lnTo>
                  <a:lnTo>
                    <a:pt x="42467" y="42467"/>
                  </a:lnTo>
                  <a:lnTo>
                    <a:pt x="41021" y="43256"/>
                  </a:lnTo>
                  <a:lnTo>
                    <a:pt x="41021" y="43256"/>
                  </a:lnTo>
                  <a:lnTo>
                    <a:pt x="39575" y="44045"/>
                  </a:lnTo>
                  <a:lnTo>
                    <a:pt x="39575" y="44045"/>
                  </a:lnTo>
                  <a:lnTo>
                    <a:pt x="38129" y="43256"/>
                  </a:lnTo>
                  <a:lnTo>
                    <a:pt x="36682" y="41810"/>
                  </a:lnTo>
                  <a:lnTo>
                    <a:pt x="36682" y="41810"/>
                  </a:lnTo>
                  <a:close/>
                  <a:moveTo>
                    <a:pt x="30634" y="30766"/>
                  </a:moveTo>
                  <a:lnTo>
                    <a:pt x="30634" y="30766"/>
                  </a:lnTo>
                  <a:lnTo>
                    <a:pt x="29846" y="29320"/>
                  </a:lnTo>
                  <a:lnTo>
                    <a:pt x="29846" y="27085"/>
                  </a:lnTo>
                  <a:lnTo>
                    <a:pt x="31292" y="26296"/>
                  </a:lnTo>
                  <a:lnTo>
                    <a:pt x="31292" y="26296"/>
                  </a:lnTo>
                  <a:lnTo>
                    <a:pt x="32081" y="25507"/>
                  </a:lnTo>
                  <a:lnTo>
                    <a:pt x="33527" y="25507"/>
                  </a:lnTo>
                  <a:lnTo>
                    <a:pt x="34973" y="26296"/>
                  </a:lnTo>
                  <a:lnTo>
                    <a:pt x="35762" y="27085"/>
                  </a:lnTo>
                  <a:lnTo>
                    <a:pt x="35762" y="27085"/>
                  </a:lnTo>
                  <a:lnTo>
                    <a:pt x="36551" y="28531"/>
                  </a:lnTo>
                  <a:lnTo>
                    <a:pt x="36551" y="29320"/>
                  </a:lnTo>
                  <a:lnTo>
                    <a:pt x="35762" y="30766"/>
                  </a:lnTo>
                  <a:lnTo>
                    <a:pt x="34973" y="31555"/>
                  </a:lnTo>
                  <a:lnTo>
                    <a:pt x="34973" y="31555"/>
                  </a:lnTo>
                  <a:lnTo>
                    <a:pt x="32738" y="32344"/>
                  </a:lnTo>
                  <a:lnTo>
                    <a:pt x="31292" y="32344"/>
                  </a:lnTo>
                  <a:lnTo>
                    <a:pt x="30503" y="30897"/>
                  </a:lnTo>
                  <a:lnTo>
                    <a:pt x="30503" y="30897"/>
                  </a:lnTo>
                  <a:close/>
                  <a:moveTo>
                    <a:pt x="22614" y="21300"/>
                  </a:moveTo>
                  <a:lnTo>
                    <a:pt x="22614" y="21300"/>
                  </a:lnTo>
                  <a:lnTo>
                    <a:pt x="21825" y="19853"/>
                  </a:lnTo>
                  <a:lnTo>
                    <a:pt x="21036" y="19064"/>
                  </a:lnTo>
                  <a:lnTo>
                    <a:pt x="21825" y="17618"/>
                  </a:lnTo>
                  <a:lnTo>
                    <a:pt x="22614" y="16172"/>
                  </a:lnTo>
                  <a:lnTo>
                    <a:pt x="23403" y="16172"/>
                  </a:lnTo>
                  <a:lnTo>
                    <a:pt x="24849" y="15383"/>
                  </a:lnTo>
                  <a:lnTo>
                    <a:pt x="26296" y="16172"/>
                  </a:lnTo>
                  <a:lnTo>
                    <a:pt x="27084" y="16961"/>
                  </a:lnTo>
                  <a:lnTo>
                    <a:pt x="27084" y="16961"/>
                  </a:lnTo>
                  <a:lnTo>
                    <a:pt x="27873" y="17750"/>
                  </a:lnTo>
                  <a:lnTo>
                    <a:pt x="27873" y="19985"/>
                  </a:lnTo>
                  <a:lnTo>
                    <a:pt x="27084" y="21431"/>
                  </a:lnTo>
                  <a:lnTo>
                    <a:pt x="27084" y="21431"/>
                  </a:lnTo>
                  <a:lnTo>
                    <a:pt x="25638" y="22220"/>
                  </a:lnTo>
                  <a:lnTo>
                    <a:pt x="23403" y="22220"/>
                  </a:lnTo>
                  <a:lnTo>
                    <a:pt x="22614" y="21431"/>
                  </a:lnTo>
                  <a:lnTo>
                    <a:pt x="22614" y="21431"/>
                  </a:lnTo>
                  <a:close/>
                  <a:moveTo>
                    <a:pt x="13148" y="13279"/>
                  </a:moveTo>
                  <a:lnTo>
                    <a:pt x="13148" y="13279"/>
                  </a:lnTo>
                  <a:lnTo>
                    <a:pt x="11702" y="11833"/>
                  </a:lnTo>
                  <a:lnTo>
                    <a:pt x="11702" y="8152"/>
                  </a:lnTo>
                  <a:lnTo>
                    <a:pt x="11702" y="8152"/>
                  </a:lnTo>
                  <a:lnTo>
                    <a:pt x="13148" y="7363"/>
                  </a:lnTo>
                  <a:lnTo>
                    <a:pt x="16829" y="7363"/>
                  </a:lnTo>
                  <a:lnTo>
                    <a:pt x="17618" y="8809"/>
                  </a:lnTo>
                  <a:lnTo>
                    <a:pt x="18407" y="9598"/>
                  </a:lnTo>
                  <a:lnTo>
                    <a:pt x="18407" y="11044"/>
                  </a:lnTo>
                  <a:lnTo>
                    <a:pt x="17618" y="12490"/>
                  </a:lnTo>
                  <a:lnTo>
                    <a:pt x="17618" y="12490"/>
                  </a:lnTo>
                  <a:lnTo>
                    <a:pt x="16172" y="13279"/>
                  </a:lnTo>
                  <a:lnTo>
                    <a:pt x="13279" y="13279"/>
                  </a:lnTo>
                  <a:close/>
                  <a:moveTo>
                    <a:pt x="2235" y="6705"/>
                  </a:moveTo>
                  <a:lnTo>
                    <a:pt x="2235" y="6705"/>
                  </a:lnTo>
                  <a:lnTo>
                    <a:pt x="789" y="5917"/>
                  </a:lnTo>
                  <a:lnTo>
                    <a:pt x="789" y="4470"/>
                  </a:lnTo>
                  <a:lnTo>
                    <a:pt x="0" y="3024"/>
                  </a:lnTo>
                  <a:lnTo>
                    <a:pt x="789" y="2235"/>
                  </a:lnTo>
                  <a:lnTo>
                    <a:pt x="789" y="2235"/>
                  </a:lnTo>
                  <a:lnTo>
                    <a:pt x="1578" y="789"/>
                  </a:lnTo>
                  <a:lnTo>
                    <a:pt x="2367" y="0"/>
                  </a:lnTo>
                  <a:lnTo>
                    <a:pt x="3813" y="0"/>
                  </a:lnTo>
                  <a:lnTo>
                    <a:pt x="5259" y="789"/>
                  </a:lnTo>
                  <a:lnTo>
                    <a:pt x="5259" y="789"/>
                  </a:lnTo>
                  <a:lnTo>
                    <a:pt x="6048" y="1578"/>
                  </a:lnTo>
                  <a:lnTo>
                    <a:pt x="6837" y="2367"/>
                  </a:lnTo>
                  <a:lnTo>
                    <a:pt x="6837" y="5259"/>
                  </a:lnTo>
                  <a:lnTo>
                    <a:pt x="6837" y="5259"/>
                  </a:lnTo>
                  <a:lnTo>
                    <a:pt x="5391" y="6705"/>
                  </a:lnTo>
                  <a:lnTo>
                    <a:pt x="2498" y="6705"/>
                  </a:lnTo>
                  <a:close/>
                </a:path>
              </a:pathLst>
            </a:custGeom>
            <a:solidFill>
              <a:srgbClr val="FFFFFF"/>
            </a:solidFill>
            <a:ln w="328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25" name="Freeform: Shape 124">
              <a:extLst>
                <a:ext uri="{FF2B5EF4-FFF2-40B4-BE49-F238E27FC236}">
                  <a16:creationId xmlns:a16="http://schemas.microsoft.com/office/drawing/2014/main" id="{8C2D680C-96D1-765D-2A65-5B56E228019E}"/>
                </a:ext>
              </a:extLst>
            </p:cNvPr>
            <p:cNvSpPr/>
            <p:nvPr/>
          </p:nvSpPr>
          <p:spPr>
            <a:xfrm>
              <a:off x="2396600" y="2865019"/>
              <a:ext cx="77177" cy="74942"/>
            </a:xfrm>
            <a:custGeom>
              <a:avLst/>
              <a:gdLst>
                <a:gd name="connsiteX0" fmla="*/ 17355 w 77177"/>
                <a:gd name="connsiteY0" fmla="*/ 74811 h 74942"/>
                <a:gd name="connsiteX1" fmla="*/ 17355 w 77177"/>
                <a:gd name="connsiteY1" fmla="*/ 74811 h 74942"/>
                <a:gd name="connsiteX2" fmla="*/ 14463 w 77177"/>
                <a:gd name="connsiteY2" fmla="*/ 73365 h 74942"/>
                <a:gd name="connsiteX3" fmla="*/ 14463 w 77177"/>
                <a:gd name="connsiteY3" fmla="*/ 73365 h 74942"/>
                <a:gd name="connsiteX4" fmla="*/ 13016 w 77177"/>
                <a:gd name="connsiteY4" fmla="*/ 71919 h 74942"/>
                <a:gd name="connsiteX5" fmla="*/ 13016 w 77177"/>
                <a:gd name="connsiteY5" fmla="*/ 69684 h 74942"/>
                <a:gd name="connsiteX6" fmla="*/ 16698 w 77177"/>
                <a:gd name="connsiteY6" fmla="*/ 47727 h 74942"/>
                <a:gd name="connsiteX7" fmla="*/ 1446 w 77177"/>
                <a:gd name="connsiteY7" fmla="*/ 32344 h 74942"/>
                <a:gd name="connsiteX8" fmla="*/ 1446 w 77177"/>
                <a:gd name="connsiteY8" fmla="*/ 32344 h 74942"/>
                <a:gd name="connsiteX9" fmla="*/ 0 w 77177"/>
                <a:gd name="connsiteY9" fmla="*/ 30109 h 74942"/>
                <a:gd name="connsiteX10" fmla="*/ 0 w 77177"/>
                <a:gd name="connsiteY10" fmla="*/ 27873 h 74942"/>
                <a:gd name="connsiteX11" fmla="*/ 0 w 77177"/>
                <a:gd name="connsiteY11" fmla="*/ 27873 h 74942"/>
                <a:gd name="connsiteX12" fmla="*/ 1446 w 77177"/>
                <a:gd name="connsiteY12" fmla="*/ 25638 h 74942"/>
                <a:gd name="connsiteX13" fmla="*/ 3681 w 77177"/>
                <a:gd name="connsiteY13" fmla="*/ 24849 h 74942"/>
                <a:gd name="connsiteX14" fmla="*/ 25507 w 77177"/>
                <a:gd name="connsiteY14" fmla="*/ 21957 h 74942"/>
                <a:gd name="connsiteX15" fmla="*/ 34973 w 77177"/>
                <a:gd name="connsiteY15" fmla="*/ 2235 h 74942"/>
                <a:gd name="connsiteX16" fmla="*/ 34973 w 77177"/>
                <a:gd name="connsiteY16" fmla="*/ 2235 h 74942"/>
                <a:gd name="connsiteX17" fmla="*/ 36419 w 77177"/>
                <a:gd name="connsiteY17" fmla="*/ 0 h 74942"/>
                <a:gd name="connsiteX18" fmla="*/ 40758 w 77177"/>
                <a:gd name="connsiteY18" fmla="*/ 0 h 74942"/>
                <a:gd name="connsiteX19" fmla="*/ 42993 w 77177"/>
                <a:gd name="connsiteY19" fmla="*/ 2235 h 74942"/>
                <a:gd name="connsiteX20" fmla="*/ 52460 w 77177"/>
                <a:gd name="connsiteY20" fmla="*/ 21957 h 74942"/>
                <a:gd name="connsiteX21" fmla="*/ 73496 w 77177"/>
                <a:gd name="connsiteY21" fmla="*/ 24849 h 74942"/>
                <a:gd name="connsiteX22" fmla="*/ 73496 w 77177"/>
                <a:gd name="connsiteY22" fmla="*/ 24849 h 74942"/>
                <a:gd name="connsiteX23" fmla="*/ 75732 w 77177"/>
                <a:gd name="connsiteY23" fmla="*/ 25638 h 74942"/>
                <a:gd name="connsiteX24" fmla="*/ 77178 w 77177"/>
                <a:gd name="connsiteY24" fmla="*/ 27873 h 74942"/>
                <a:gd name="connsiteX25" fmla="*/ 77178 w 77177"/>
                <a:gd name="connsiteY25" fmla="*/ 27873 h 74942"/>
                <a:gd name="connsiteX26" fmla="*/ 77178 w 77177"/>
                <a:gd name="connsiteY26" fmla="*/ 30109 h 74942"/>
                <a:gd name="connsiteX27" fmla="*/ 76389 w 77177"/>
                <a:gd name="connsiteY27" fmla="*/ 32344 h 74942"/>
                <a:gd name="connsiteX28" fmla="*/ 60349 w 77177"/>
                <a:gd name="connsiteY28" fmla="*/ 47727 h 74942"/>
                <a:gd name="connsiteX29" fmla="*/ 64030 w 77177"/>
                <a:gd name="connsiteY29" fmla="*/ 69684 h 74942"/>
                <a:gd name="connsiteX30" fmla="*/ 64030 w 77177"/>
                <a:gd name="connsiteY30" fmla="*/ 69684 h 74942"/>
                <a:gd name="connsiteX31" fmla="*/ 64030 w 77177"/>
                <a:gd name="connsiteY31" fmla="*/ 71919 h 74942"/>
                <a:gd name="connsiteX32" fmla="*/ 62584 w 77177"/>
                <a:gd name="connsiteY32" fmla="*/ 73365 h 74942"/>
                <a:gd name="connsiteX33" fmla="*/ 62584 w 77177"/>
                <a:gd name="connsiteY33" fmla="*/ 73365 h 74942"/>
                <a:gd name="connsiteX34" fmla="*/ 60349 w 77177"/>
                <a:gd name="connsiteY34" fmla="*/ 74154 h 74942"/>
                <a:gd name="connsiteX35" fmla="*/ 58113 w 77177"/>
                <a:gd name="connsiteY35" fmla="*/ 74154 h 74942"/>
                <a:gd name="connsiteX36" fmla="*/ 38523 w 77177"/>
                <a:gd name="connsiteY36" fmla="*/ 63898 h 74942"/>
                <a:gd name="connsiteX37" fmla="*/ 19590 w 77177"/>
                <a:gd name="connsiteY37" fmla="*/ 74154 h 74942"/>
                <a:gd name="connsiteX38" fmla="*/ 19590 w 77177"/>
                <a:gd name="connsiteY38" fmla="*/ 74154 h 74942"/>
                <a:gd name="connsiteX39" fmla="*/ 17355 w 77177"/>
                <a:gd name="connsiteY39" fmla="*/ 74943 h 74942"/>
                <a:gd name="connsiteX40" fmla="*/ 17355 w 77177"/>
                <a:gd name="connsiteY40" fmla="*/ 74943 h 74942"/>
                <a:gd name="connsiteX41" fmla="*/ 19590 w 77177"/>
                <a:gd name="connsiteY41" fmla="*/ 70472 h 74942"/>
                <a:gd name="connsiteX42" fmla="*/ 19590 w 77177"/>
                <a:gd name="connsiteY42" fmla="*/ 70472 h 74942"/>
                <a:gd name="connsiteX43" fmla="*/ 38523 w 77177"/>
                <a:gd name="connsiteY43" fmla="*/ 56536 h 74942"/>
                <a:gd name="connsiteX44" fmla="*/ 56667 w 77177"/>
                <a:gd name="connsiteY44" fmla="*/ 66002 h 74942"/>
                <a:gd name="connsiteX45" fmla="*/ 53775 w 77177"/>
                <a:gd name="connsiteY45" fmla="*/ 45491 h 74942"/>
                <a:gd name="connsiteX46" fmla="*/ 68237 w 77177"/>
                <a:gd name="connsiteY46" fmla="*/ 30897 h 74942"/>
                <a:gd name="connsiteX47" fmla="*/ 47858 w 77177"/>
                <a:gd name="connsiteY47" fmla="*/ 28005 h 74942"/>
                <a:gd name="connsiteX48" fmla="*/ 38392 w 77177"/>
                <a:gd name="connsiteY48" fmla="*/ 9072 h 74942"/>
                <a:gd name="connsiteX49" fmla="*/ 29714 w 77177"/>
                <a:gd name="connsiteY49" fmla="*/ 28005 h 74942"/>
                <a:gd name="connsiteX50" fmla="*/ 9335 w 77177"/>
                <a:gd name="connsiteY50" fmla="*/ 30897 h 74942"/>
                <a:gd name="connsiteX51" fmla="*/ 23798 w 77177"/>
                <a:gd name="connsiteY51" fmla="*/ 45491 h 74942"/>
                <a:gd name="connsiteX52" fmla="*/ 20116 w 77177"/>
                <a:gd name="connsiteY52" fmla="*/ 66002 h 74942"/>
                <a:gd name="connsiteX53" fmla="*/ 38260 w 77177"/>
                <a:gd name="connsiteY53" fmla="*/ 56536 h 74942"/>
                <a:gd name="connsiteX54" fmla="*/ 38260 w 77177"/>
                <a:gd name="connsiteY54" fmla="*/ 56536 h 7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7177" h="74942">
                  <a:moveTo>
                    <a:pt x="17355" y="74811"/>
                  </a:moveTo>
                  <a:lnTo>
                    <a:pt x="17355" y="74811"/>
                  </a:lnTo>
                  <a:lnTo>
                    <a:pt x="14463" y="73365"/>
                  </a:lnTo>
                  <a:lnTo>
                    <a:pt x="14463" y="73365"/>
                  </a:lnTo>
                  <a:lnTo>
                    <a:pt x="13016" y="71919"/>
                  </a:lnTo>
                  <a:lnTo>
                    <a:pt x="13016" y="69684"/>
                  </a:lnTo>
                  <a:lnTo>
                    <a:pt x="16698" y="47727"/>
                  </a:lnTo>
                  <a:lnTo>
                    <a:pt x="1446" y="32344"/>
                  </a:lnTo>
                  <a:lnTo>
                    <a:pt x="1446" y="32344"/>
                  </a:lnTo>
                  <a:lnTo>
                    <a:pt x="0" y="30109"/>
                  </a:lnTo>
                  <a:lnTo>
                    <a:pt x="0" y="27873"/>
                  </a:lnTo>
                  <a:lnTo>
                    <a:pt x="0" y="27873"/>
                  </a:lnTo>
                  <a:lnTo>
                    <a:pt x="1446" y="25638"/>
                  </a:lnTo>
                  <a:lnTo>
                    <a:pt x="3681" y="24849"/>
                  </a:lnTo>
                  <a:lnTo>
                    <a:pt x="25507" y="21957"/>
                  </a:lnTo>
                  <a:lnTo>
                    <a:pt x="34973" y="2235"/>
                  </a:lnTo>
                  <a:lnTo>
                    <a:pt x="34973" y="2235"/>
                  </a:lnTo>
                  <a:lnTo>
                    <a:pt x="36419" y="0"/>
                  </a:lnTo>
                  <a:lnTo>
                    <a:pt x="40758" y="0"/>
                  </a:lnTo>
                  <a:lnTo>
                    <a:pt x="42993" y="2235"/>
                  </a:lnTo>
                  <a:lnTo>
                    <a:pt x="52460" y="21957"/>
                  </a:lnTo>
                  <a:lnTo>
                    <a:pt x="73496" y="24849"/>
                  </a:lnTo>
                  <a:lnTo>
                    <a:pt x="73496" y="24849"/>
                  </a:lnTo>
                  <a:lnTo>
                    <a:pt x="75732" y="25638"/>
                  </a:lnTo>
                  <a:lnTo>
                    <a:pt x="77178" y="27873"/>
                  </a:lnTo>
                  <a:lnTo>
                    <a:pt x="77178" y="27873"/>
                  </a:lnTo>
                  <a:lnTo>
                    <a:pt x="77178" y="30109"/>
                  </a:lnTo>
                  <a:lnTo>
                    <a:pt x="76389" y="32344"/>
                  </a:lnTo>
                  <a:lnTo>
                    <a:pt x="60349" y="47727"/>
                  </a:lnTo>
                  <a:lnTo>
                    <a:pt x="64030" y="69684"/>
                  </a:lnTo>
                  <a:lnTo>
                    <a:pt x="64030" y="69684"/>
                  </a:lnTo>
                  <a:lnTo>
                    <a:pt x="64030" y="71919"/>
                  </a:lnTo>
                  <a:lnTo>
                    <a:pt x="62584" y="73365"/>
                  </a:lnTo>
                  <a:lnTo>
                    <a:pt x="62584" y="73365"/>
                  </a:lnTo>
                  <a:lnTo>
                    <a:pt x="60349" y="74154"/>
                  </a:lnTo>
                  <a:lnTo>
                    <a:pt x="58113" y="74154"/>
                  </a:lnTo>
                  <a:lnTo>
                    <a:pt x="38523" y="63898"/>
                  </a:lnTo>
                  <a:lnTo>
                    <a:pt x="19590" y="74154"/>
                  </a:lnTo>
                  <a:lnTo>
                    <a:pt x="19590" y="74154"/>
                  </a:lnTo>
                  <a:lnTo>
                    <a:pt x="17355" y="74943"/>
                  </a:lnTo>
                  <a:lnTo>
                    <a:pt x="17355" y="74943"/>
                  </a:lnTo>
                  <a:close/>
                  <a:moveTo>
                    <a:pt x="19590" y="70472"/>
                  </a:moveTo>
                  <a:lnTo>
                    <a:pt x="19590" y="70472"/>
                  </a:lnTo>
                  <a:close/>
                  <a:moveTo>
                    <a:pt x="38523" y="56536"/>
                  </a:moveTo>
                  <a:lnTo>
                    <a:pt x="56667" y="66002"/>
                  </a:lnTo>
                  <a:lnTo>
                    <a:pt x="53775" y="45491"/>
                  </a:lnTo>
                  <a:lnTo>
                    <a:pt x="68237" y="30897"/>
                  </a:lnTo>
                  <a:lnTo>
                    <a:pt x="47858" y="28005"/>
                  </a:lnTo>
                  <a:lnTo>
                    <a:pt x="38392" y="9072"/>
                  </a:lnTo>
                  <a:lnTo>
                    <a:pt x="29714" y="28005"/>
                  </a:lnTo>
                  <a:lnTo>
                    <a:pt x="9335" y="30897"/>
                  </a:lnTo>
                  <a:lnTo>
                    <a:pt x="23798" y="45491"/>
                  </a:lnTo>
                  <a:lnTo>
                    <a:pt x="20116" y="66002"/>
                  </a:lnTo>
                  <a:lnTo>
                    <a:pt x="38260" y="56536"/>
                  </a:lnTo>
                  <a:lnTo>
                    <a:pt x="38260" y="56536"/>
                  </a:lnTo>
                  <a:close/>
                </a:path>
              </a:pathLst>
            </a:custGeom>
            <a:solidFill>
              <a:srgbClr val="FFFFFF"/>
            </a:solidFill>
            <a:ln w="3286"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grpSp>
      <p:grpSp>
        <p:nvGrpSpPr>
          <p:cNvPr id="102" name="Group 101">
            <a:extLst>
              <a:ext uri="{FF2B5EF4-FFF2-40B4-BE49-F238E27FC236}">
                <a16:creationId xmlns:a16="http://schemas.microsoft.com/office/drawing/2014/main" id="{E35986DC-59DC-248E-9AE0-4D0FD4639C81}"/>
              </a:ext>
            </a:extLst>
          </p:cNvPr>
          <p:cNvGrpSpPr/>
          <p:nvPr/>
        </p:nvGrpSpPr>
        <p:grpSpPr>
          <a:xfrm>
            <a:off x="599802" y="1074240"/>
            <a:ext cx="11664985" cy="5555772"/>
            <a:chOff x="192722" y="697469"/>
            <a:chExt cx="11327298" cy="5696083"/>
          </a:xfrm>
        </p:grpSpPr>
        <p:sp>
          <p:nvSpPr>
            <p:cNvPr id="134" name="Freeform: Shape 133">
              <a:extLst>
                <a:ext uri="{FF2B5EF4-FFF2-40B4-BE49-F238E27FC236}">
                  <a16:creationId xmlns:a16="http://schemas.microsoft.com/office/drawing/2014/main" id="{107072AC-9713-1A25-B9AC-D664F436DBB2}"/>
                </a:ext>
              </a:extLst>
            </p:cNvPr>
            <p:cNvSpPr/>
            <p:nvPr/>
          </p:nvSpPr>
          <p:spPr>
            <a:xfrm>
              <a:off x="5612379" y="3145818"/>
              <a:ext cx="1308208" cy="1308208"/>
            </a:xfrm>
            <a:custGeom>
              <a:avLst/>
              <a:gdLst>
                <a:gd name="connsiteX0" fmla="*/ 1308209 w 1308208"/>
                <a:gd name="connsiteY0" fmla="*/ 654104 h 1308208"/>
                <a:gd name="connsiteX1" fmla="*/ 654105 w 1308208"/>
                <a:gd name="connsiteY1" fmla="*/ 1308209 h 1308208"/>
                <a:gd name="connsiteX2" fmla="*/ 0 w 1308208"/>
                <a:gd name="connsiteY2" fmla="*/ 654104 h 1308208"/>
                <a:gd name="connsiteX3" fmla="*/ 654105 w 1308208"/>
                <a:gd name="connsiteY3" fmla="*/ 0 h 1308208"/>
                <a:gd name="connsiteX4" fmla="*/ 1308209 w 1308208"/>
                <a:gd name="connsiteY4" fmla="*/ 654104 h 1308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208" h="1308208">
                  <a:moveTo>
                    <a:pt x="1308209" y="654104"/>
                  </a:moveTo>
                  <a:cubicBezTo>
                    <a:pt x="1308209" y="1015356"/>
                    <a:pt x="1015357" y="1308209"/>
                    <a:pt x="654105" y="1308209"/>
                  </a:cubicBezTo>
                  <a:cubicBezTo>
                    <a:pt x="292853" y="1308209"/>
                    <a:pt x="0" y="1015356"/>
                    <a:pt x="0" y="654104"/>
                  </a:cubicBezTo>
                  <a:cubicBezTo>
                    <a:pt x="0" y="292852"/>
                    <a:pt x="292853" y="0"/>
                    <a:pt x="654105" y="0"/>
                  </a:cubicBezTo>
                  <a:cubicBezTo>
                    <a:pt x="1015357" y="0"/>
                    <a:pt x="1308209" y="292852"/>
                    <a:pt x="1308209" y="654104"/>
                  </a:cubicBezTo>
                  <a:close/>
                </a:path>
              </a:pathLst>
            </a:custGeom>
            <a:solidFill>
              <a:srgbClr val="B92D94"/>
            </a:solidFill>
            <a:ln w="9859"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26" name="Freeform: Shape 125">
              <a:extLst>
                <a:ext uri="{FF2B5EF4-FFF2-40B4-BE49-F238E27FC236}">
                  <a16:creationId xmlns:a16="http://schemas.microsoft.com/office/drawing/2014/main" id="{1FE33703-817A-C9B1-CBC3-57809E5F3896}"/>
                </a:ext>
              </a:extLst>
            </p:cNvPr>
            <p:cNvSpPr/>
            <p:nvPr/>
          </p:nvSpPr>
          <p:spPr>
            <a:xfrm>
              <a:off x="497883" y="2593720"/>
              <a:ext cx="10073470" cy="3111564"/>
            </a:xfrm>
            <a:custGeom>
              <a:avLst/>
              <a:gdLst>
                <a:gd name="connsiteX0" fmla="*/ 10073470 w 10073470"/>
                <a:gd name="connsiteY0" fmla="*/ 2813241 h 3111564"/>
                <a:gd name="connsiteX1" fmla="*/ 9545980 w 10073470"/>
                <a:gd name="connsiteY1" fmla="*/ 2813241 h 3111564"/>
                <a:gd name="connsiteX2" fmla="*/ 9407927 w 10073470"/>
                <a:gd name="connsiteY2" fmla="*/ 2675188 h 3111564"/>
                <a:gd name="connsiteX3" fmla="*/ 9407927 w 10073470"/>
                <a:gd name="connsiteY3" fmla="*/ 2675188 h 3111564"/>
                <a:gd name="connsiteX4" fmla="*/ 9407927 w 10073470"/>
                <a:gd name="connsiteY4" fmla="*/ 1562093 h 3111564"/>
                <a:gd name="connsiteX5" fmla="*/ 8692554 w 10073470"/>
                <a:gd name="connsiteY5" fmla="*/ 846720 h 3111564"/>
                <a:gd name="connsiteX6" fmla="*/ 8692554 w 10073470"/>
                <a:gd name="connsiteY6" fmla="*/ 846720 h 3111564"/>
                <a:gd name="connsiteX7" fmla="*/ 7947993 w 10073470"/>
                <a:gd name="connsiteY7" fmla="*/ 1591281 h 3111564"/>
                <a:gd name="connsiteX8" fmla="*/ 7947993 w 10073470"/>
                <a:gd name="connsiteY8" fmla="*/ 1592202 h 3111564"/>
                <a:gd name="connsiteX9" fmla="*/ 7947993 w 10073470"/>
                <a:gd name="connsiteY9" fmla="*/ 2367003 h 3111564"/>
                <a:gd name="connsiteX10" fmla="*/ 7203432 w 10073470"/>
                <a:gd name="connsiteY10" fmla="*/ 3111565 h 3111564"/>
                <a:gd name="connsiteX11" fmla="*/ 7203432 w 10073470"/>
                <a:gd name="connsiteY11" fmla="*/ 3111565 h 3111564"/>
                <a:gd name="connsiteX12" fmla="*/ 6488058 w 10073470"/>
                <a:gd name="connsiteY12" fmla="*/ 2396191 h 3111564"/>
                <a:gd name="connsiteX13" fmla="*/ 6488058 w 10073470"/>
                <a:gd name="connsiteY13" fmla="*/ 1215911 h 3111564"/>
                <a:gd name="connsiteX14" fmla="*/ 5772685 w 10073470"/>
                <a:gd name="connsiteY14" fmla="*/ 500538 h 3111564"/>
                <a:gd name="connsiteX15" fmla="*/ 5772685 w 10073470"/>
                <a:gd name="connsiteY15" fmla="*/ 500538 h 3111564"/>
                <a:gd name="connsiteX16" fmla="*/ 5028124 w 10073470"/>
                <a:gd name="connsiteY16" fmla="*/ 1245099 h 3111564"/>
                <a:gd name="connsiteX17" fmla="*/ 5028124 w 10073470"/>
                <a:gd name="connsiteY17" fmla="*/ 1597461 h 3111564"/>
                <a:gd name="connsiteX18" fmla="*/ 4283562 w 10073470"/>
                <a:gd name="connsiteY18" fmla="*/ 2342022 h 3111564"/>
                <a:gd name="connsiteX19" fmla="*/ 4283562 w 10073470"/>
                <a:gd name="connsiteY19" fmla="*/ 2342022 h 3111564"/>
                <a:gd name="connsiteX20" fmla="*/ 3568189 w 10073470"/>
                <a:gd name="connsiteY20" fmla="*/ 1626649 h 3111564"/>
                <a:gd name="connsiteX21" fmla="*/ 3568189 w 10073470"/>
                <a:gd name="connsiteY21" fmla="*/ 1306368 h 3111564"/>
                <a:gd name="connsiteX22" fmla="*/ 3566348 w 10073470"/>
                <a:gd name="connsiteY22" fmla="*/ 1285463 h 3111564"/>
                <a:gd name="connsiteX23" fmla="*/ 3566348 w 10073470"/>
                <a:gd name="connsiteY23" fmla="*/ 715373 h 3111564"/>
                <a:gd name="connsiteX24" fmla="*/ 2850975 w 10073470"/>
                <a:gd name="connsiteY24" fmla="*/ 0 h 3111564"/>
                <a:gd name="connsiteX25" fmla="*/ 2850975 w 10073470"/>
                <a:gd name="connsiteY25" fmla="*/ 0 h 3111564"/>
                <a:gd name="connsiteX26" fmla="*/ 2106413 w 10073470"/>
                <a:gd name="connsiteY26" fmla="*/ 744561 h 3111564"/>
                <a:gd name="connsiteX27" fmla="*/ 2106413 w 10073470"/>
                <a:gd name="connsiteY27" fmla="*/ 1354226 h 3111564"/>
                <a:gd name="connsiteX28" fmla="*/ 1361852 w 10073470"/>
                <a:gd name="connsiteY28" fmla="*/ 2098788 h 3111564"/>
                <a:gd name="connsiteX29" fmla="*/ 1361852 w 10073470"/>
                <a:gd name="connsiteY29" fmla="*/ 2098788 h 3111564"/>
                <a:gd name="connsiteX30" fmla="*/ 646479 w 10073470"/>
                <a:gd name="connsiteY30" fmla="*/ 1383414 h 3111564"/>
                <a:gd name="connsiteX31" fmla="*/ 646479 w 10073470"/>
                <a:gd name="connsiteY31" fmla="*/ 957951 h 3111564"/>
                <a:gd name="connsiteX32" fmla="*/ 352230 w 10073470"/>
                <a:gd name="connsiteY32" fmla="*/ 668041 h 3111564"/>
                <a:gd name="connsiteX33" fmla="*/ 0 w 10073470"/>
                <a:gd name="connsiteY33" fmla="*/ 668041 h 3111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073470" h="3111564">
                  <a:moveTo>
                    <a:pt x="10073470" y="2813241"/>
                  </a:moveTo>
                  <a:lnTo>
                    <a:pt x="9545980" y="2813241"/>
                  </a:lnTo>
                  <a:cubicBezTo>
                    <a:pt x="9469722" y="2813241"/>
                    <a:pt x="9407927" y="2751446"/>
                    <a:pt x="9407927" y="2675188"/>
                  </a:cubicBezTo>
                  <a:lnTo>
                    <a:pt x="9407927" y="2675188"/>
                  </a:lnTo>
                  <a:lnTo>
                    <a:pt x="9407927" y="1562093"/>
                  </a:lnTo>
                  <a:cubicBezTo>
                    <a:pt x="9407927" y="1167001"/>
                    <a:pt x="9087647" y="846720"/>
                    <a:pt x="8692554" y="846720"/>
                  </a:cubicBezTo>
                  <a:lnTo>
                    <a:pt x="8692554" y="846720"/>
                  </a:lnTo>
                  <a:cubicBezTo>
                    <a:pt x="8281422" y="846720"/>
                    <a:pt x="7947993" y="1180017"/>
                    <a:pt x="7947993" y="1591281"/>
                  </a:cubicBezTo>
                  <a:lnTo>
                    <a:pt x="7947993" y="1592202"/>
                  </a:lnTo>
                  <a:cubicBezTo>
                    <a:pt x="7947993" y="1592202"/>
                    <a:pt x="7947993" y="2367003"/>
                    <a:pt x="7947993" y="2367003"/>
                  </a:cubicBezTo>
                  <a:cubicBezTo>
                    <a:pt x="7947993" y="2778136"/>
                    <a:pt x="7614695" y="3111565"/>
                    <a:pt x="7203432" y="3111565"/>
                  </a:cubicBezTo>
                  <a:lnTo>
                    <a:pt x="7203432" y="3111565"/>
                  </a:lnTo>
                  <a:cubicBezTo>
                    <a:pt x="6808339" y="3111565"/>
                    <a:pt x="6488058" y="2791284"/>
                    <a:pt x="6488058" y="2396191"/>
                  </a:cubicBezTo>
                  <a:lnTo>
                    <a:pt x="6488058" y="1215911"/>
                  </a:lnTo>
                  <a:cubicBezTo>
                    <a:pt x="6488058" y="820819"/>
                    <a:pt x="6167777" y="500538"/>
                    <a:pt x="5772685" y="500538"/>
                  </a:cubicBezTo>
                  <a:lnTo>
                    <a:pt x="5772685" y="500538"/>
                  </a:lnTo>
                  <a:cubicBezTo>
                    <a:pt x="5361552" y="500538"/>
                    <a:pt x="5028124" y="833835"/>
                    <a:pt x="5028124" y="1245099"/>
                  </a:cubicBezTo>
                  <a:lnTo>
                    <a:pt x="5028124" y="1597461"/>
                  </a:lnTo>
                  <a:cubicBezTo>
                    <a:pt x="5028124" y="2008594"/>
                    <a:pt x="4694826" y="2342022"/>
                    <a:pt x="4283562" y="2342022"/>
                  </a:cubicBezTo>
                  <a:lnTo>
                    <a:pt x="4283562" y="2342022"/>
                  </a:lnTo>
                  <a:cubicBezTo>
                    <a:pt x="3888470" y="2342022"/>
                    <a:pt x="3568189" y="2021741"/>
                    <a:pt x="3568189" y="1626649"/>
                  </a:cubicBezTo>
                  <a:lnTo>
                    <a:pt x="3568189" y="1306368"/>
                  </a:lnTo>
                  <a:lnTo>
                    <a:pt x="3566348" y="1285463"/>
                  </a:lnTo>
                  <a:lnTo>
                    <a:pt x="3566348" y="715373"/>
                  </a:lnTo>
                  <a:cubicBezTo>
                    <a:pt x="3566348" y="320281"/>
                    <a:pt x="3246067" y="0"/>
                    <a:pt x="2850975" y="0"/>
                  </a:cubicBezTo>
                  <a:lnTo>
                    <a:pt x="2850975" y="0"/>
                  </a:lnTo>
                  <a:cubicBezTo>
                    <a:pt x="2439842" y="0"/>
                    <a:pt x="2106413" y="333297"/>
                    <a:pt x="2106413" y="744561"/>
                  </a:cubicBezTo>
                  <a:lnTo>
                    <a:pt x="2106413" y="1354226"/>
                  </a:lnTo>
                  <a:cubicBezTo>
                    <a:pt x="2106413" y="1765359"/>
                    <a:pt x="1773116" y="2098788"/>
                    <a:pt x="1361852" y="2098788"/>
                  </a:cubicBezTo>
                  <a:lnTo>
                    <a:pt x="1361852" y="2098788"/>
                  </a:lnTo>
                  <a:cubicBezTo>
                    <a:pt x="966760" y="2098788"/>
                    <a:pt x="646479" y="1778507"/>
                    <a:pt x="646479" y="1383414"/>
                  </a:cubicBezTo>
                  <a:lnTo>
                    <a:pt x="646479" y="957951"/>
                  </a:lnTo>
                  <a:cubicBezTo>
                    <a:pt x="612820" y="684607"/>
                    <a:pt x="352230" y="668041"/>
                    <a:pt x="352230" y="668041"/>
                  </a:cubicBezTo>
                  <a:lnTo>
                    <a:pt x="0" y="668041"/>
                  </a:lnTo>
                </a:path>
              </a:pathLst>
            </a:custGeom>
            <a:noFill/>
            <a:ln w="19718" cap="flat">
              <a:solidFill>
                <a:srgbClr val="2E2E38"/>
              </a:solidFill>
              <a:custDash>
                <a:ds d="0" sp="0"/>
                <a:ds d="225000" sp="225000"/>
              </a:custDash>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27" name="Freeform: Shape 126">
              <a:extLst>
                <a:ext uri="{FF2B5EF4-FFF2-40B4-BE49-F238E27FC236}">
                  <a16:creationId xmlns:a16="http://schemas.microsoft.com/office/drawing/2014/main" id="{C42101AE-37E8-257F-0D67-6B05CE1438F7}"/>
                </a:ext>
              </a:extLst>
            </p:cNvPr>
            <p:cNvSpPr/>
            <p:nvPr/>
          </p:nvSpPr>
          <p:spPr>
            <a:xfrm>
              <a:off x="261091" y="3175511"/>
              <a:ext cx="172762" cy="172762"/>
            </a:xfrm>
            <a:custGeom>
              <a:avLst/>
              <a:gdLst>
                <a:gd name="connsiteX0" fmla="*/ 172762 w 172762"/>
                <a:gd name="connsiteY0" fmla="*/ 86381 h 172762"/>
                <a:gd name="connsiteX1" fmla="*/ 86381 w 172762"/>
                <a:gd name="connsiteY1" fmla="*/ 172762 h 172762"/>
                <a:gd name="connsiteX2" fmla="*/ 0 w 172762"/>
                <a:gd name="connsiteY2" fmla="*/ 86381 h 172762"/>
                <a:gd name="connsiteX3" fmla="*/ 86381 w 172762"/>
                <a:gd name="connsiteY3" fmla="*/ 0 h 172762"/>
                <a:gd name="connsiteX4" fmla="*/ 172762 w 172762"/>
                <a:gd name="connsiteY4" fmla="*/ 86381 h 172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62" h="172762">
                  <a:moveTo>
                    <a:pt x="172762" y="86381"/>
                  </a:moveTo>
                  <a:cubicBezTo>
                    <a:pt x="172762" y="134088"/>
                    <a:pt x="134088" y="172762"/>
                    <a:pt x="86381" y="172762"/>
                  </a:cubicBezTo>
                  <a:cubicBezTo>
                    <a:pt x="38674" y="172762"/>
                    <a:pt x="0" y="134088"/>
                    <a:pt x="0" y="86381"/>
                  </a:cubicBezTo>
                  <a:cubicBezTo>
                    <a:pt x="0" y="38674"/>
                    <a:pt x="38674" y="0"/>
                    <a:pt x="86381" y="0"/>
                  </a:cubicBezTo>
                  <a:cubicBezTo>
                    <a:pt x="134088" y="0"/>
                    <a:pt x="172762" y="38674"/>
                    <a:pt x="172762" y="86381"/>
                  </a:cubicBezTo>
                  <a:close/>
                </a:path>
              </a:pathLst>
            </a:custGeom>
            <a:noFill/>
            <a:ln w="26290"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28" name="Freeform: Shape 127">
              <a:extLst>
                <a:ext uri="{FF2B5EF4-FFF2-40B4-BE49-F238E27FC236}">
                  <a16:creationId xmlns:a16="http://schemas.microsoft.com/office/drawing/2014/main" id="{F2B9F66E-CA3A-BE7A-865B-CB5CDBA1766E}"/>
                </a:ext>
              </a:extLst>
            </p:cNvPr>
            <p:cNvSpPr/>
            <p:nvPr/>
          </p:nvSpPr>
          <p:spPr>
            <a:xfrm>
              <a:off x="10630650" y="5303276"/>
              <a:ext cx="176276" cy="203557"/>
            </a:xfrm>
            <a:custGeom>
              <a:avLst/>
              <a:gdLst>
                <a:gd name="connsiteX0" fmla="*/ 242972 w 242971"/>
                <a:gd name="connsiteY0" fmla="*/ 140287 h 280574"/>
                <a:gd name="connsiteX1" fmla="*/ 0 w 242971"/>
                <a:gd name="connsiteY1" fmla="*/ 0 h 280574"/>
                <a:gd name="connsiteX2" fmla="*/ 0 w 242971"/>
                <a:gd name="connsiteY2" fmla="*/ 280575 h 280574"/>
                <a:gd name="connsiteX3" fmla="*/ 242972 w 242971"/>
                <a:gd name="connsiteY3" fmla="*/ 140287 h 280574"/>
              </a:gdLst>
              <a:ahLst/>
              <a:cxnLst>
                <a:cxn ang="0">
                  <a:pos x="connsiteX0" y="connsiteY0"/>
                </a:cxn>
                <a:cxn ang="0">
                  <a:pos x="connsiteX1" y="connsiteY1"/>
                </a:cxn>
                <a:cxn ang="0">
                  <a:pos x="connsiteX2" y="connsiteY2"/>
                </a:cxn>
                <a:cxn ang="0">
                  <a:pos x="connsiteX3" y="connsiteY3"/>
                </a:cxn>
              </a:cxnLst>
              <a:rect l="l" t="t" r="r" b="b"/>
              <a:pathLst>
                <a:path w="242971" h="280574">
                  <a:moveTo>
                    <a:pt x="242972" y="140287"/>
                  </a:moveTo>
                  <a:lnTo>
                    <a:pt x="0" y="0"/>
                  </a:lnTo>
                  <a:lnTo>
                    <a:pt x="0" y="280575"/>
                  </a:lnTo>
                  <a:lnTo>
                    <a:pt x="242972" y="140287"/>
                  </a:lnTo>
                  <a:close/>
                </a:path>
              </a:pathLst>
            </a:custGeom>
            <a:solidFill>
              <a:srgbClr val="2E2E38"/>
            </a:solidFill>
            <a:ln w="13145"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29" name="Freeform: Shape 128">
              <a:extLst>
                <a:ext uri="{FF2B5EF4-FFF2-40B4-BE49-F238E27FC236}">
                  <a16:creationId xmlns:a16="http://schemas.microsoft.com/office/drawing/2014/main" id="{014966BA-FB03-8DAE-A379-AA2C768F183F}"/>
                </a:ext>
              </a:extLst>
            </p:cNvPr>
            <p:cNvSpPr/>
            <p:nvPr/>
          </p:nvSpPr>
          <p:spPr>
            <a:xfrm>
              <a:off x="1214834" y="3317902"/>
              <a:ext cx="1306105" cy="1306105"/>
            </a:xfrm>
            <a:custGeom>
              <a:avLst/>
              <a:gdLst>
                <a:gd name="connsiteX0" fmla="*/ 1306105 w 1306105"/>
                <a:gd name="connsiteY0" fmla="*/ 653053 h 1306105"/>
                <a:gd name="connsiteX1" fmla="*/ 653053 w 1306105"/>
                <a:gd name="connsiteY1" fmla="*/ 1306105 h 1306105"/>
                <a:gd name="connsiteX2" fmla="*/ 0 w 1306105"/>
                <a:gd name="connsiteY2" fmla="*/ 653053 h 1306105"/>
                <a:gd name="connsiteX3" fmla="*/ 653053 w 1306105"/>
                <a:gd name="connsiteY3" fmla="*/ 0 h 1306105"/>
                <a:gd name="connsiteX4" fmla="*/ 1306105 w 1306105"/>
                <a:gd name="connsiteY4" fmla="*/ 653053 h 1306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105" h="1306105">
                  <a:moveTo>
                    <a:pt x="1306105" y="653053"/>
                  </a:moveTo>
                  <a:cubicBezTo>
                    <a:pt x="1306105" y="1013723"/>
                    <a:pt x="1013723" y="1306105"/>
                    <a:pt x="653053" y="1306105"/>
                  </a:cubicBezTo>
                  <a:cubicBezTo>
                    <a:pt x="292382" y="1306105"/>
                    <a:pt x="0" y="1013723"/>
                    <a:pt x="0" y="653053"/>
                  </a:cubicBezTo>
                  <a:cubicBezTo>
                    <a:pt x="0" y="292382"/>
                    <a:pt x="292382" y="0"/>
                    <a:pt x="653053" y="0"/>
                  </a:cubicBezTo>
                  <a:cubicBezTo>
                    <a:pt x="1013723" y="0"/>
                    <a:pt x="1306105" y="292382"/>
                    <a:pt x="1306105" y="653053"/>
                  </a:cubicBezTo>
                  <a:close/>
                </a:path>
              </a:pathLst>
            </a:custGeom>
            <a:solidFill>
              <a:srgbClr val="5C3666"/>
            </a:solidFill>
            <a:ln w="9859"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5C3666"/>
                </a:solidFill>
                <a:effectLst/>
                <a:uLnTx/>
                <a:uFillTx/>
                <a:latin typeface="Tajawal" panose="00000500000000000000" pitchFamily="2" charset="-78"/>
                <a:cs typeface="Tajawal" panose="00000500000000000000" pitchFamily="2" charset="-78"/>
              </a:endParaRPr>
            </a:p>
          </p:txBody>
        </p:sp>
        <p:sp>
          <p:nvSpPr>
            <p:cNvPr id="130" name="Freeform: Shape 129">
              <a:extLst>
                <a:ext uri="{FF2B5EF4-FFF2-40B4-BE49-F238E27FC236}">
                  <a16:creationId xmlns:a16="http://schemas.microsoft.com/office/drawing/2014/main" id="{FE8A0E0B-35EB-6111-5D30-CAE092B83D81}"/>
                </a:ext>
              </a:extLst>
            </p:cNvPr>
            <p:cNvSpPr/>
            <p:nvPr/>
          </p:nvSpPr>
          <p:spPr>
            <a:xfrm>
              <a:off x="1673036" y="3146717"/>
              <a:ext cx="389701" cy="389701"/>
            </a:xfrm>
            <a:custGeom>
              <a:avLst/>
              <a:gdLst>
                <a:gd name="connsiteX0" fmla="*/ 389702 w 389701"/>
                <a:gd name="connsiteY0" fmla="*/ 194851 h 389701"/>
                <a:gd name="connsiteX1" fmla="*/ 194851 w 389701"/>
                <a:gd name="connsiteY1" fmla="*/ 389702 h 389701"/>
                <a:gd name="connsiteX2" fmla="*/ 0 w 389701"/>
                <a:gd name="connsiteY2" fmla="*/ 194851 h 389701"/>
                <a:gd name="connsiteX3" fmla="*/ 194851 w 389701"/>
                <a:gd name="connsiteY3" fmla="*/ 0 h 389701"/>
                <a:gd name="connsiteX4" fmla="*/ 389702 w 389701"/>
                <a:gd name="connsiteY4" fmla="*/ 194851 h 389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701" h="389701">
                  <a:moveTo>
                    <a:pt x="389702" y="194851"/>
                  </a:moveTo>
                  <a:cubicBezTo>
                    <a:pt x="389702" y="302464"/>
                    <a:pt x="302464" y="389702"/>
                    <a:pt x="194851" y="389702"/>
                  </a:cubicBezTo>
                  <a:cubicBezTo>
                    <a:pt x="87238" y="389702"/>
                    <a:pt x="0" y="302464"/>
                    <a:pt x="0" y="194851"/>
                  </a:cubicBezTo>
                  <a:cubicBezTo>
                    <a:pt x="0" y="87238"/>
                    <a:pt x="87238" y="0"/>
                    <a:pt x="194851" y="0"/>
                  </a:cubicBezTo>
                  <a:cubicBezTo>
                    <a:pt x="302464" y="0"/>
                    <a:pt x="389702" y="87238"/>
                    <a:pt x="389702" y="194851"/>
                  </a:cubicBezTo>
                  <a:close/>
                </a:path>
              </a:pathLst>
            </a:custGeom>
            <a:solidFill>
              <a:srgbClr val="2E2E38"/>
            </a:solidFill>
            <a:ln w="9859"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31" name="Freeform: Shape 130">
              <a:extLst>
                <a:ext uri="{FF2B5EF4-FFF2-40B4-BE49-F238E27FC236}">
                  <a16:creationId xmlns:a16="http://schemas.microsoft.com/office/drawing/2014/main" id="{F905E8E1-7B27-50DE-BAAF-A411C6A46AB3}"/>
                </a:ext>
              </a:extLst>
            </p:cNvPr>
            <p:cNvSpPr/>
            <p:nvPr/>
          </p:nvSpPr>
          <p:spPr>
            <a:xfrm>
              <a:off x="8545307" y="3563097"/>
              <a:ext cx="1307682" cy="1316097"/>
            </a:xfrm>
            <a:custGeom>
              <a:avLst/>
              <a:gdLst>
                <a:gd name="connsiteX0" fmla="*/ 1307683 w 1307682"/>
                <a:gd name="connsiteY0" fmla="*/ 658049 h 1316097"/>
                <a:gd name="connsiteX1" fmla="*/ 653842 w 1307682"/>
                <a:gd name="connsiteY1" fmla="*/ 1316098 h 1316097"/>
                <a:gd name="connsiteX2" fmla="*/ 1 w 1307682"/>
                <a:gd name="connsiteY2" fmla="*/ 658049 h 1316097"/>
                <a:gd name="connsiteX3" fmla="*/ 653842 w 1307682"/>
                <a:gd name="connsiteY3" fmla="*/ 0 h 1316097"/>
                <a:gd name="connsiteX4" fmla="*/ 1307683 w 1307682"/>
                <a:gd name="connsiteY4" fmla="*/ 658049 h 1316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7682" h="1316097">
                  <a:moveTo>
                    <a:pt x="1307683" y="658049"/>
                  </a:moveTo>
                  <a:cubicBezTo>
                    <a:pt x="1307683" y="1021479"/>
                    <a:pt x="1014948" y="1316098"/>
                    <a:pt x="653842" y="1316098"/>
                  </a:cubicBezTo>
                  <a:cubicBezTo>
                    <a:pt x="292735" y="1316098"/>
                    <a:pt x="1" y="1021479"/>
                    <a:pt x="1" y="658049"/>
                  </a:cubicBezTo>
                  <a:cubicBezTo>
                    <a:pt x="1" y="294619"/>
                    <a:pt x="292736" y="0"/>
                    <a:pt x="653842" y="0"/>
                  </a:cubicBezTo>
                  <a:cubicBezTo>
                    <a:pt x="1014949" y="0"/>
                    <a:pt x="1307683" y="294618"/>
                    <a:pt x="1307683" y="658049"/>
                  </a:cubicBezTo>
                  <a:close/>
                </a:path>
              </a:pathLst>
            </a:custGeom>
            <a:solidFill>
              <a:schemeClr val="accent5">
                <a:lumMod val="40000"/>
                <a:lumOff val="60000"/>
              </a:schemeClr>
            </a:solidFill>
            <a:ln w="9859"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32" name="Freeform: Shape 131">
              <a:extLst>
                <a:ext uri="{FF2B5EF4-FFF2-40B4-BE49-F238E27FC236}">
                  <a16:creationId xmlns:a16="http://schemas.microsoft.com/office/drawing/2014/main" id="{BBB46D6B-1025-9297-2C7C-F1ED28697C65}"/>
                </a:ext>
              </a:extLst>
            </p:cNvPr>
            <p:cNvSpPr/>
            <p:nvPr/>
          </p:nvSpPr>
          <p:spPr>
            <a:xfrm>
              <a:off x="2684499" y="2665375"/>
              <a:ext cx="1308208" cy="1308208"/>
            </a:xfrm>
            <a:custGeom>
              <a:avLst/>
              <a:gdLst>
                <a:gd name="connsiteX0" fmla="*/ 1308209 w 1308208"/>
                <a:gd name="connsiteY0" fmla="*/ 654104 h 1308208"/>
                <a:gd name="connsiteX1" fmla="*/ 654104 w 1308208"/>
                <a:gd name="connsiteY1" fmla="*/ 1308209 h 1308208"/>
                <a:gd name="connsiteX2" fmla="*/ 0 w 1308208"/>
                <a:gd name="connsiteY2" fmla="*/ 654104 h 1308208"/>
                <a:gd name="connsiteX3" fmla="*/ 654104 w 1308208"/>
                <a:gd name="connsiteY3" fmla="*/ 0 h 1308208"/>
                <a:gd name="connsiteX4" fmla="*/ 1308209 w 1308208"/>
                <a:gd name="connsiteY4" fmla="*/ 654104 h 1308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208" h="1308208">
                  <a:moveTo>
                    <a:pt x="1308209" y="654104"/>
                  </a:moveTo>
                  <a:cubicBezTo>
                    <a:pt x="1308209" y="1015356"/>
                    <a:pt x="1015356" y="1308209"/>
                    <a:pt x="654104" y="1308209"/>
                  </a:cubicBezTo>
                  <a:cubicBezTo>
                    <a:pt x="292852" y="1308209"/>
                    <a:pt x="0" y="1015356"/>
                    <a:pt x="0" y="654104"/>
                  </a:cubicBezTo>
                  <a:cubicBezTo>
                    <a:pt x="0" y="292853"/>
                    <a:pt x="292852" y="0"/>
                    <a:pt x="654104" y="0"/>
                  </a:cubicBezTo>
                  <a:cubicBezTo>
                    <a:pt x="1015356" y="0"/>
                    <a:pt x="1308209" y="292853"/>
                    <a:pt x="1308209" y="654104"/>
                  </a:cubicBezTo>
                  <a:close/>
                </a:path>
              </a:pathLst>
            </a:custGeom>
            <a:solidFill>
              <a:srgbClr val="78206E"/>
            </a:solidFill>
            <a:ln w="9859"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33" name="Freeform: Shape 132">
              <a:extLst>
                <a:ext uri="{FF2B5EF4-FFF2-40B4-BE49-F238E27FC236}">
                  <a16:creationId xmlns:a16="http://schemas.microsoft.com/office/drawing/2014/main" id="{B4D1E284-7BC5-4C01-4EA4-28576984DCEB}"/>
                </a:ext>
              </a:extLst>
            </p:cNvPr>
            <p:cNvSpPr/>
            <p:nvPr/>
          </p:nvSpPr>
          <p:spPr>
            <a:xfrm>
              <a:off x="4137596" y="3551276"/>
              <a:ext cx="1308208" cy="1308208"/>
            </a:xfrm>
            <a:custGeom>
              <a:avLst/>
              <a:gdLst>
                <a:gd name="connsiteX0" fmla="*/ 1308209 w 1308208"/>
                <a:gd name="connsiteY0" fmla="*/ 654104 h 1308208"/>
                <a:gd name="connsiteX1" fmla="*/ 654105 w 1308208"/>
                <a:gd name="connsiteY1" fmla="*/ 1308209 h 1308208"/>
                <a:gd name="connsiteX2" fmla="*/ 0 w 1308208"/>
                <a:gd name="connsiteY2" fmla="*/ 654104 h 1308208"/>
                <a:gd name="connsiteX3" fmla="*/ 654105 w 1308208"/>
                <a:gd name="connsiteY3" fmla="*/ 0 h 1308208"/>
                <a:gd name="connsiteX4" fmla="*/ 1308209 w 1308208"/>
                <a:gd name="connsiteY4" fmla="*/ 654104 h 1308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208" h="1308208">
                  <a:moveTo>
                    <a:pt x="1308209" y="654104"/>
                  </a:moveTo>
                  <a:cubicBezTo>
                    <a:pt x="1308209" y="1015356"/>
                    <a:pt x="1015356" y="1308209"/>
                    <a:pt x="654105" y="1308209"/>
                  </a:cubicBezTo>
                  <a:cubicBezTo>
                    <a:pt x="292853" y="1308209"/>
                    <a:pt x="0" y="1015356"/>
                    <a:pt x="0" y="654104"/>
                  </a:cubicBezTo>
                  <a:cubicBezTo>
                    <a:pt x="0" y="292853"/>
                    <a:pt x="292853" y="0"/>
                    <a:pt x="654105" y="0"/>
                  </a:cubicBezTo>
                  <a:cubicBezTo>
                    <a:pt x="1015356" y="0"/>
                    <a:pt x="1308209" y="292853"/>
                    <a:pt x="1308209" y="654104"/>
                  </a:cubicBezTo>
                  <a:close/>
                </a:path>
              </a:pathLst>
            </a:custGeom>
            <a:solidFill>
              <a:srgbClr val="A02B93"/>
            </a:solidFill>
            <a:ln w="9859"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36" name="Freeform: Shape 135">
              <a:extLst>
                <a:ext uri="{FF2B5EF4-FFF2-40B4-BE49-F238E27FC236}">
                  <a16:creationId xmlns:a16="http://schemas.microsoft.com/office/drawing/2014/main" id="{2EA919C0-7916-5E04-728C-FA2B063A9034}"/>
                </a:ext>
              </a:extLst>
            </p:cNvPr>
            <p:cNvSpPr/>
            <p:nvPr/>
          </p:nvSpPr>
          <p:spPr>
            <a:xfrm>
              <a:off x="1053905" y="4043662"/>
              <a:ext cx="758761" cy="758760"/>
            </a:xfrm>
            <a:custGeom>
              <a:avLst/>
              <a:gdLst>
                <a:gd name="connsiteX0" fmla="*/ 0 w 758761"/>
                <a:gd name="connsiteY0" fmla="*/ 0 h 758760"/>
                <a:gd name="connsiteX1" fmla="*/ 758761 w 758761"/>
                <a:gd name="connsiteY1" fmla="*/ 758761 h 758760"/>
              </a:gdLst>
              <a:ahLst/>
              <a:cxnLst>
                <a:cxn ang="0">
                  <a:pos x="connsiteX0" y="connsiteY0"/>
                </a:cxn>
                <a:cxn ang="0">
                  <a:pos x="connsiteX1" y="connsiteY1"/>
                </a:cxn>
              </a:cxnLst>
              <a:rect l="l" t="t" r="r" b="b"/>
              <a:pathLst>
                <a:path w="758761" h="758760">
                  <a:moveTo>
                    <a:pt x="0" y="0"/>
                  </a:moveTo>
                  <a:cubicBezTo>
                    <a:pt x="0" y="418364"/>
                    <a:pt x="340397" y="758761"/>
                    <a:pt x="758761" y="758761"/>
                  </a:cubicBezTo>
                </a:path>
              </a:pathLst>
            </a:custGeom>
            <a:noFill/>
            <a:ln w="13145"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37" name="Freeform: Shape 136">
              <a:extLst>
                <a:ext uri="{FF2B5EF4-FFF2-40B4-BE49-F238E27FC236}">
                  <a16:creationId xmlns:a16="http://schemas.microsoft.com/office/drawing/2014/main" id="{A986F29A-F201-3FBB-A42E-FB914CBD526C}"/>
                </a:ext>
              </a:extLst>
            </p:cNvPr>
            <p:cNvSpPr/>
            <p:nvPr/>
          </p:nvSpPr>
          <p:spPr>
            <a:xfrm>
              <a:off x="6204040" y="2927017"/>
              <a:ext cx="74679" cy="74679"/>
            </a:xfrm>
            <a:custGeom>
              <a:avLst/>
              <a:gdLst>
                <a:gd name="connsiteX0" fmla="*/ 74680 w 74679"/>
                <a:gd name="connsiteY0" fmla="*/ 37340 h 74679"/>
                <a:gd name="connsiteX1" fmla="*/ 37340 w 74679"/>
                <a:gd name="connsiteY1" fmla="*/ 74680 h 74679"/>
                <a:gd name="connsiteX2" fmla="*/ 0 w 74679"/>
                <a:gd name="connsiteY2" fmla="*/ 37340 h 74679"/>
                <a:gd name="connsiteX3" fmla="*/ 37340 w 74679"/>
                <a:gd name="connsiteY3" fmla="*/ 0 h 74679"/>
                <a:gd name="connsiteX4" fmla="*/ 74680 w 74679"/>
                <a:gd name="connsiteY4" fmla="*/ 37340 h 74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9" h="74679">
                  <a:moveTo>
                    <a:pt x="74680" y="37340"/>
                  </a:moveTo>
                  <a:cubicBezTo>
                    <a:pt x="74680" y="57962"/>
                    <a:pt x="57962" y="74680"/>
                    <a:pt x="37340" y="74680"/>
                  </a:cubicBezTo>
                  <a:cubicBezTo>
                    <a:pt x="16718" y="74680"/>
                    <a:pt x="0" y="57962"/>
                    <a:pt x="0" y="37340"/>
                  </a:cubicBezTo>
                  <a:cubicBezTo>
                    <a:pt x="0" y="16718"/>
                    <a:pt x="16718" y="0"/>
                    <a:pt x="37340" y="0"/>
                  </a:cubicBezTo>
                  <a:cubicBezTo>
                    <a:pt x="57962" y="0"/>
                    <a:pt x="74680" y="16718"/>
                    <a:pt x="74680" y="37340"/>
                  </a:cubicBezTo>
                  <a:close/>
                </a:path>
              </a:pathLst>
            </a:custGeom>
            <a:solidFill>
              <a:srgbClr val="747480"/>
            </a:solidFill>
            <a:ln w="13145"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40" name="Freeform: Shape 139">
              <a:extLst>
                <a:ext uri="{FF2B5EF4-FFF2-40B4-BE49-F238E27FC236}">
                  <a16:creationId xmlns:a16="http://schemas.microsoft.com/office/drawing/2014/main" id="{75399982-5F82-45D7-E995-32758FE6EC91}"/>
                </a:ext>
              </a:extLst>
            </p:cNvPr>
            <p:cNvSpPr/>
            <p:nvPr/>
          </p:nvSpPr>
          <p:spPr>
            <a:xfrm>
              <a:off x="1775326" y="4765083"/>
              <a:ext cx="74679" cy="74679"/>
            </a:xfrm>
            <a:custGeom>
              <a:avLst/>
              <a:gdLst>
                <a:gd name="connsiteX0" fmla="*/ 74680 w 74679"/>
                <a:gd name="connsiteY0" fmla="*/ 37340 h 74679"/>
                <a:gd name="connsiteX1" fmla="*/ 37340 w 74679"/>
                <a:gd name="connsiteY1" fmla="*/ 74680 h 74679"/>
                <a:gd name="connsiteX2" fmla="*/ 0 w 74679"/>
                <a:gd name="connsiteY2" fmla="*/ 37340 h 74679"/>
                <a:gd name="connsiteX3" fmla="*/ 37340 w 74679"/>
                <a:gd name="connsiteY3" fmla="*/ 0 h 74679"/>
                <a:gd name="connsiteX4" fmla="*/ 74680 w 74679"/>
                <a:gd name="connsiteY4" fmla="*/ 37340 h 74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9" h="74679">
                  <a:moveTo>
                    <a:pt x="74680" y="37340"/>
                  </a:moveTo>
                  <a:cubicBezTo>
                    <a:pt x="74680" y="57962"/>
                    <a:pt x="57962" y="74680"/>
                    <a:pt x="37340" y="74680"/>
                  </a:cubicBezTo>
                  <a:cubicBezTo>
                    <a:pt x="16718" y="74680"/>
                    <a:pt x="0" y="57962"/>
                    <a:pt x="0" y="37340"/>
                  </a:cubicBezTo>
                  <a:cubicBezTo>
                    <a:pt x="0" y="16718"/>
                    <a:pt x="16718" y="0"/>
                    <a:pt x="37340" y="0"/>
                  </a:cubicBezTo>
                  <a:cubicBezTo>
                    <a:pt x="57962" y="0"/>
                    <a:pt x="74680" y="16718"/>
                    <a:pt x="74680" y="37340"/>
                  </a:cubicBezTo>
                  <a:close/>
                </a:path>
              </a:pathLst>
            </a:custGeom>
            <a:solidFill>
              <a:srgbClr val="747480"/>
            </a:solidFill>
            <a:ln w="13145"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41" name="Freeform: Shape 140">
              <a:extLst>
                <a:ext uri="{FF2B5EF4-FFF2-40B4-BE49-F238E27FC236}">
                  <a16:creationId xmlns:a16="http://schemas.microsoft.com/office/drawing/2014/main" id="{BF1AA43F-401B-2BB5-AD8A-F03040527C12}"/>
                </a:ext>
              </a:extLst>
            </p:cNvPr>
            <p:cNvSpPr/>
            <p:nvPr/>
          </p:nvSpPr>
          <p:spPr>
            <a:xfrm>
              <a:off x="939650" y="3196679"/>
              <a:ext cx="269267" cy="266374"/>
            </a:xfrm>
            <a:custGeom>
              <a:avLst/>
              <a:gdLst>
                <a:gd name="connsiteX0" fmla="*/ 269267 w 269267"/>
                <a:gd name="connsiteY0" fmla="*/ 266375 h 266374"/>
                <a:gd name="connsiteX1" fmla="*/ 268610 w 269267"/>
                <a:gd name="connsiteY1" fmla="*/ 256251 h 266374"/>
                <a:gd name="connsiteX2" fmla="*/ 5259 w 269267"/>
                <a:gd name="connsiteY2" fmla="*/ 131 h 266374"/>
                <a:gd name="connsiteX3" fmla="*/ 0 w 269267"/>
                <a:gd name="connsiteY3" fmla="*/ 0 h 266374"/>
              </a:gdLst>
              <a:ahLst/>
              <a:cxnLst>
                <a:cxn ang="0">
                  <a:pos x="connsiteX0" y="connsiteY0"/>
                </a:cxn>
                <a:cxn ang="0">
                  <a:pos x="connsiteX1" y="connsiteY1"/>
                </a:cxn>
                <a:cxn ang="0">
                  <a:pos x="connsiteX2" y="connsiteY2"/>
                </a:cxn>
                <a:cxn ang="0">
                  <a:pos x="connsiteX3" y="connsiteY3"/>
                </a:cxn>
              </a:cxnLst>
              <a:rect l="l" t="t" r="r" b="b"/>
              <a:pathLst>
                <a:path w="269267" h="266374">
                  <a:moveTo>
                    <a:pt x="269267" y="266375"/>
                  </a:moveTo>
                  <a:cubicBezTo>
                    <a:pt x="269267" y="262957"/>
                    <a:pt x="269004" y="259538"/>
                    <a:pt x="268610" y="256251"/>
                  </a:cubicBezTo>
                  <a:cubicBezTo>
                    <a:pt x="245075" y="65345"/>
                    <a:pt x="86118" y="5259"/>
                    <a:pt x="5259" y="131"/>
                  </a:cubicBezTo>
                  <a:cubicBezTo>
                    <a:pt x="3550" y="131"/>
                    <a:pt x="1709" y="0"/>
                    <a:pt x="0" y="0"/>
                  </a:cubicBezTo>
                </a:path>
              </a:pathLst>
            </a:custGeom>
            <a:noFill/>
            <a:ln w="13145"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42" name="Freeform: Shape 141">
              <a:extLst>
                <a:ext uri="{FF2B5EF4-FFF2-40B4-BE49-F238E27FC236}">
                  <a16:creationId xmlns:a16="http://schemas.microsoft.com/office/drawing/2014/main" id="{405D4111-480E-868B-8588-00095390254A}"/>
                </a:ext>
              </a:extLst>
            </p:cNvPr>
            <p:cNvSpPr/>
            <p:nvPr/>
          </p:nvSpPr>
          <p:spPr>
            <a:xfrm>
              <a:off x="192722" y="3107274"/>
              <a:ext cx="136605" cy="136605"/>
            </a:xfrm>
            <a:custGeom>
              <a:avLst/>
              <a:gdLst>
                <a:gd name="connsiteX0" fmla="*/ 136606 w 136605"/>
                <a:gd name="connsiteY0" fmla="*/ 0 h 136605"/>
                <a:gd name="connsiteX1" fmla="*/ 0 w 136605"/>
                <a:gd name="connsiteY1" fmla="*/ 136606 h 136605"/>
              </a:gdLst>
              <a:ahLst/>
              <a:cxnLst>
                <a:cxn ang="0">
                  <a:pos x="connsiteX0" y="connsiteY0"/>
                </a:cxn>
                <a:cxn ang="0">
                  <a:pos x="connsiteX1" y="connsiteY1"/>
                </a:cxn>
              </a:cxnLst>
              <a:rect l="l" t="t" r="r" b="b"/>
              <a:pathLst>
                <a:path w="136605" h="136605">
                  <a:moveTo>
                    <a:pt x="136606" y="0"/>
                  </a:moveTo>
                  <a:cubicBezTo>
                    <a:pt x="61137" y="0"/>
                    <a:pt x="0" y="61137"/>
                    <a:pt x="0" y="136606"/>
                  </a:cubicBezTo>
                </a:path>
              </a:pathLst>
            </a:custGeom>
            <a:noFill/>
            <a:ln w="13145"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43" name="Freeform: Shape 142">
              <a:extLst>
                <a:ext uri="{FF2B5EF4-FFF2-40B4-BE49-F238E27FC236}">
                  <a16:creationId xmlns:a16="http://schemas.microsoft.com/office/drawing/2014/main" id="{2CE2C9B5-E33F-98F6-A392-E6A4565763FB}"/>
                </a:ext>
              </a:extLst>
            </p:cNvPr>
            <p:cNvSpPr/>
            <p:nvPr/>
          </p:nvSpPr>
          <p:spPr>
            <a:xfrm>
              <a:off x="2472424" y="2472628"/>
              <a:ext cx="919822" cy="919821"/>
            </a:xfrm>
            <a:custGeom>
              <a:avLst/>
              <a:gdLst>
                <a:gd name="connsiteX0" fmla="*/ 919822 w 919822"/>
                <a:gd name="connsiteY0" fmla="*/ 0 h 919821"/>
                <a:gd name="connsiteX1" fmla="*/ 0 w 919822"/>
                <a:gd name="connsiteY1" fmla="*/ 919822 h 919821"/>
              </a:gdLst>
              <a:ahLst/>
              <a:cxnLst>
                <a:cxn ang="0">
                  <a:pos x="connsiteX0" y="connsiteY0"/>
                </a:cxn>
                <a:cxn ang="0">
                  <a:pos x="connsiteX1" y="connsiteY1"/>
                </a:cxn>
              </a:cxnLst>
              <a:rect l="l" t="t" r="r" b="b"/>
              <a:pathLst>
                <a:path w="919822" h="919821">
                  <a:moveTo>
                    <a:pt x="919822" y="0"/>
                  </a:moveTo>
                  <a:cubicBezTo>
                    <a:pt x="412710" y="0"/>
                    <a:pt x="0" y="412579"/>
                    <a:pt x="0" y="919822"/>
                  </a:cubicBezTo>
                </a:path>
              </a:pathLst>
            </a:custGeom>
            <a:noFill/>
            <a:ln w="13145"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44" name="Freeform: Shape 143">
              <a:extLst>
                <a:ext uri="{FF2B5EF4-FFF2-40B4-BE49-F238E27FC236}">
                  <a16:creationId xmlns:a16="http://schemas.microsoft.com/office/drawing/2014/main" id="{1A1B7DF6-D420-008E-DA78-215918B672C7}"/>
                </a:ext>
              </a:extLst>
            </p:cNvPr>
            <p:cNvSpPr/>
            <p:nvPr/>
          </p:nvSpPr>
          <p:spPr>
            <a:xfrm>
              <a:off x="3966017" y="4069958"/>
              <a:ext cx="709062" cy="977146"/>
            </a:xfrm>
            <a:custGeom>
              <a:avLst/>
              <a:gdLst>
                <a:gd name="connsiteX0" fmla="*/ 0 w 709062"/>
                <a:gd name="connsiteY0" fmla="*/ 0 h 977146"/>
                <a:gd name="connsiteX1" fmla="*/ 0 w 709062"/>
                <a:gd name="connsiteY1" fmla="*/ 268084 h 977146"/>
                <a:gd name="connsiteX2" fmla="*/ 709063 w 709062"/>
                <a:gd name="connsiteY2" fmla="*/ 977146 h 977146"/>
              </a:gdLst>
              <a:ahLst/>
              <a:cxnLst>
                <a:cxn ang="0">
                  <a:pos x="connsiteX0" y="connsiteY0"/>
                </a:cxn>
                <a:cxn ang="0">
                  <a:pos x="connsiteX1" y="connsiteY1"/>
                </a:cxn>
                <a:cxn ang="0">
                  <a:pos x="connsiteX2" y="connsiteY2"/>
                </a:cxn>
              </a:cxnLst>
              <a:rect l="l" t="t" r="r" b="b"/>
              <a:pathLst>
                <a:path w="709062" h="977146">
                  <a:moveTo>
                    <a:pt x="0" y="0"/>
                  </a:moveTo>
                  <a:lnTo>
                    <a:pt x="0" y="268084"/>
                  </a:lnTo>
                  <a:cubicBezTo>
                    <a:pt x="0" y="658969"/>
                    <a:pt x="318046" y="977146"/>
                    <a:pt x="709063" y="977146"/>
                  </a:cubicBezTo>
                </a:path>
              </a:pathLst>
            </a:custGeom>
            <a:noFill/>
            <a:ln w="13145"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45" name="Freeform: Shape 144">
              <a:extLst>
                <a:ext uri="{FF2B5EF4-FFF2-40B4-BE49-F238E27FC236}">
                  <a16:creationId xmlns:a16="http://schemas.microsoft.com/office/drawing/2014/main" id="{B607281B-D32C-6C7C-45E7-FAAC524345DC}"/>
                </a:ext>
              </a:extLst>
            </p:cNvPr>
            <p:cNvSpPr/>
            <p:nvPr/>
          </p:nvSpPr>
          <p:spPr>
            <a:xfrm>
              <a:off x="6241380" y="2964357"/>
              <a:ext cx="889187" cy="889187"/>
            </a:xfrm>
            <a:custGeom>
              <a:avLst/>
              <a:gdLst>
                <a:gd name="connsiteX0" fmla="*/ 889188 w 889187"/>
                <a:gd name="connsiteY0" fmla="*/ 889188 h 889187"/>
                <a:gd name="connsiteX1" fmla="*/ 0 w 889187"/>
                <a:gd name="connsiteY1" fmla="*/ 0 h 889187"/>
              </a:gdLst>
              <a:ahLst/>
              <a:cxnLst>
                <a:cxn ang="0">
                  <a:pos x="connsiteX0" y="connsiteY0"/>
                </a:cxn>
                <a:cxn ang="0">
                  <a:pos x="connsiteX1" y="connsiteY1"/>
                </a:cxn>
              </a:cxnLst>
              <a:rect l="l" t="t" r="r" b="b"/>
              <a:pathLst>
                <a:path w="889187" h="889187">
                  <a:moveTo>
                    <a:pt x="889188" y="889188"/>
                  </a:moveTo>
                  <a:cubicBezTo>
                    <a:pt x="889188" y="398905"/>
                    <a:pt x="490283" y="0"/>
                    <a:pt x="0" y="0"/>
                  </a:cubicBezTo>
                </a:path>
              </a:pathLst>
            </a:custGeom>
            <a:noFill/>
            <a:ln w="13145"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47" name="Freeform: Shape 146">
              <a:extLst>
                <a:ext uri="{FF2B5EF4-FFF2-40B4-BE49-F238E27FC236}">
                  <a16:creationId xmlns:a16="http://schemas.microsoft.com/office/drawing/2014/main" id="{2D772C08-2116-CEC7-2167-E627A24C90AA}"/>
                </a:ext>
              </a:extLst>
            </p:cNvPr>
            <p:cNvSpPr/>
            <p:nvPr/>
          </p:nvSpPr>
          <p:spPr>
            <a:xfrm>
              <a:off x="8143675" y="4917895"/>
              <a:ext cx="403440" cy="787390"/>
            </a:xfrm>
            <a:custGeom>
              <a:avLst/>
              <a:gdLst>
                <a:gd name="connsiteX0" fmla="*/ 0 w 430722"/>
                <a:gd name="connsiteY0" fmla="*/ 778746 h 778745"/>
                <a:gd name="connsiteX1" fmla="*/ 430722 w 430722"/>
                <a:gd name="connsiteY1" fmla="*/ 0 h 778745"/>
              </a:gdLst>
              <a:ahLst/>
              <a:cxnLst>
                <a:cxn ang="0">
                  <a:pos x="connsiteX0" y="connsiteY0"/>
                </a:cxn>
                <a:cxn ang="0">
                  <a:pos x="connsiteX1" y="connsiteY1"/>
                </a:cxn>
              </a:cxnLst>
              <a:rect l="l" t="t" r="r" b="b"/>
              <a:pathLst>
                <a:path w="430722" h="778745">
                  <a:moveTo>
                    <a:pt x="0" y="778746"/>
                  </a:moveTo>
                  <a:cubicBezTo>
                    <a:pt x="258618" y="615713"/>
                    <a:pt x="430722" y="327644"/>
                    <a:pt x="430722" y="0"/>
                  </a:cubicBezTo>
                </a:path>
              </a:pathLst>
            </a:custGeom>
            <a:noFill/>
            <a:ln w="13145"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48" name="Freeform: Shape 147">
              <a:extLst>
                <a:ext uri="{FF2B5EF4-FFF2-40B4-BE49-F238E27FC236}">
                  <a16:creationId xmlns:a16="http://schemas.microsoft.com/office/drawing/2014/main" id="{53A46D1B-CC07-E38F-F5FF-552BE624C190}"/>
                </a:ext>
              </a:extLst>
            </p:cNvPr>
            <p:cNvSpPr/>
            <p:nvPr/>
          </p:nvSpPr>
          <p:spPr>
            <a:xfrm>
              <a:off x="3156243" y="3752438"/>
              <a:ext cx="389701" cy="389701"/>
            </a:xfrm>
            <a:custGeom>
              <a:avLst/>
              <a:gdLst>
                <a:gd name="connsiteX0" fmla="*/ 389702 w 389701"/>
                <a:gd name="connsiteY0" fmla="*/ 194851 h 389701"/>
                <a:gd name="connsiteX1" fmla="*/ 194851 w 389701"/>
                <a:gd name="connsiteY1" fmla="*/ 389702 h 389701"/>
                <a:gd name="connsiteX2" fmla="*/ 0 w 389701"/>
                <a:gd name="connsiteY2" fmla="*/ 194851 h 389701"/>
                <a:gd name="connsiteX3" fmla="*/ 194851 w 389701"/>
                <a:gd name="connsiteY3" fmla="*/ 0 h 389701"/>
                <a:gd name="connsiteX4" fmla="*/ 389702 w 389701"/>
                <a:gd name="connsiteY4" fmla="*/ 194851 h 389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701" h="389701">
                  <a:moveTo>
                    <a:pt x="389702" y="194851"/>
                  </a:moveTo>
                  <a:cubicBezTo>
                    <a:pt x="389702" y="302464"/>
                    <a:pt x="302464" y="389702"/>
                    <a:pt x="194851" y="389702"/>
                  </a:cubicBezTo>
                  <a:cubicBezTo>
                    <a:pt x="87237" y="389702"/>
                    <a:pt x="0" y="302464"/>
                    <a:pt x="0" y="194851"/>
                  </a:cubicBezTo>
                  <a:cubicBezTo>
                    <a:pt x="0" y="87238"/>
                    <a:pt x="87237" y="0"/>
                    <a:pt x="194851" y="0"/>
                  </a:cubicBezTo>
                  <a:cubicBezTo>
                    <a:pt x="302464" y="0"/>
                    <a:pt x="389702" y="87238"/>
                    <a:pt x="389702" y="194851"/>
                  </a:cubicBezTo>
                  <a:close/>
                </a:path>
              </a:pathLst>
            </a:custGeom>
            <a:solidFill>
              <a:srgbClr val="2E2E38"/>
            </a:solidFill>
            <a:ln w="9859"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49" name="Freeform: Shape 148">
              <a:extLst>
                <a:ext uri="{FF2B5EF4-FFF2-40B4-BE49-F238E27FC236}">
                  <a16:creationId xmlns:a16="http://schemas.microsoft.com/office/drawing/2014/main" id="{0C4C663C-634F-5446-CDF6-B4150CA1D2E0}"/>
                </a:ext>
              </a:extLst>
            </p:cNvPr>
            <p:cNvSpPr/>
            <p:nvPr/>
          </p:nvSpPr>
          <p:spPr>
            <a:xfrm>
              <a:off x="4596850" y="3356557"/>
              <a:ext cx="389701" cy="389701"/>
            </a:xfrm>
            <a:custGeom>
              <a:avLst/>
              <a:gdLst>
                <a:gd name="connsiteX0" fmla="*/ 389701 w 389701"/>
                <a:gd name="connsiteY0" fmla="*/ 194851 h 389701"/>
                <a:gd name="connsiteX1" fmla="*/ 194851 w 389701"/>
                <a:gd name="connsiteY1" fmla="*/ 389702 h 389701"/>
                <a:gd name="connsiteX2" fmla="*/ 0 w 389701"/>
                <a:gd name="connsiteY2" fmla="*/ 194851 h 389701"/>
                <a:gd name="connsiteX3" fmla="*/ 194851 w 389701"/>
                <a:gd name="connsiteY3" fmla="*/ 0 h 389701"/>
                <a:gd name="connsiteX4" fmla="*/ 389701 w 389701"/>
                <a:gd name="connsiteY4" fmla="*/ 194851 h 389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701" h="389701">
                  <a:moveTo>
                    <a:pt x="389701" y="194851"/>
                  </a:moveTo>
                  <a:cubicBezTo>
                    <a:pt x="389701" y="302464"/>
                    <a:pt x="302464" y="389702"/>
                    <a:pt x="194851" y="389702"/>
                  </a:cubicBezTo>
                  <a:cubicBezTo>
                    <a:pt x="87238" y="389702"/>
                    <a:pt x="0" y="302464"/>
                    <a:pt x="0" y="194851"/>
                  </a:cubicBezTo>
                  <a:cubicBezTo>
                    <a:pt x="0" y="87238"/>
                    <a:pt x="87237" y="0"/>
                    <a:pt x="194851" y="0"/>
                  </a:cubicBezTo>
                  <a:cubicBezTo>
                    <a:pt x="302463" y="0"/>
                    <a:pt x="389701" y="87238"/>
                    <a:pt x="389701" y="194851"/>
                  </a:cubicBezTo>
                  <a:close/>
                </a:path>
              </a:pathLst>
            </a:custGeom>
            <a:solidFill>
              <a:srgbClr val="2E2E38"/>
            </a:solidFill>
            <a:ln w="9859"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51" name="Freeform: Shape 150">
              <a:extLst>
                <a:ext uri="{FF2B5EF4-FFF2-40B4-BE49-F238E27FC236}">
                  <a16:creationId xmlns:a16="http://schemas.microsoft.com/office/drawing/2014/main" id="{9E0F4345-46D6-EB9D-FF2F-C0DB239115AF}"/>
                </a:ext>
              </a:extLst>
            </p:cNvPr>
            <p:cNvSpPr/>
            <p:nvPr/>
          </p:nvSpPr>
          <p:spPr>
            <a:xfrm>
              <a:off x="8996462" y="3214100"/>
              <a:ext cx="389701" cy="389701"/>
            </a:xfrm>
            <a:custGeom>
              <a:avLst/>
              <a:gdLst>
                <a:gd name="connsiteX0" fmla="*/ 389701 w 389701"/>
                <a:gd name="connsiteY0" fmla="*/ 194851 h 389701"/>
                <a:gd name="connsiteX1" fmla="*/ 194851 w 389701"/>
                <a:gd name="connsiteY1" fmla="*/ 389702 h 389701"/>
                <a:gd name="connsiteX2" fmla="*/ 0 w 389701"/>
                <a:gd name="connsiteY2" fmla="*/ 194851 h 389701"/>
                <a:gd name="connsiteX3" fmla="*/ 194851 w 389701"/>
                <a:gd name="connsiteY3" fmla="*/ 0 h 389701"/>
                <a:gd name="connsiteX4" fmla="*/ 389701 w 389701"/>
                <a:gd name="connsiteY4" fmla="*/ 194851 h 389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701" h="389701">
                  <a:moveTo>
                    <a:pt x="389701" y="194851"/>
                  </a:moveTo>
                  <a:cubicBezTo>
                    <a:pt x="389701" y="302464"/>
                    <a:pt x="302464" y="389702"/>
                    <a:pt x="194851" y="389702"/>
                  </a:cubicBezTo>
                  <a:cubicBezTo>
                    <a:pt x="87237" y="389702"/>
                    <a:pt x="0" y="302464"/>
                    <a:pt x="0" y="194851"/>
                  </a:cubicBezTo>
                  <a:cubicBezTo>
                    <a:pt x="0" y="87238"/>
                    <a:pt x="87237" y="0"/>
                    <a:pt x="194851" y="0"/>
                  </a:cubicBezTo>
                  <a:cubicBezTo>
                    <a:pt x="302464" y="0"/>
                    <a:pt x="389701" y="87238"/>
                    <a:pt x="389701" y="194851"/>
                  </a:cubicBezTo>
                  <a:close/>
                </a:path>
              </a:pathLst>
            </a:custGeom>
            <a:solidFill>
              <a:srgbClr val="2E2E38"/>
            </a:solidFill>
            <a:ln w="9859"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53" name="TextBox 152">
              <a:extLst>
                <a:ext uri="{FF2B5EF4-FFF2-40B4-BE49-F238E27FC236}">
                  <a16:creationId xmlns:a16="http://schemas.microsoft.com/office/drawing/2014/main" id="{15B14B24-6FC9-DF08-D592-59613CC5E040}"/>
                </a:ext>
              </a:extLst>
            </p:cNvPr>
            <p:cNvSpPr txBox="1"/>
            <p:nvPr/>
          </p:nvSpPr>
          <p:spPr>
            <a:xfrm>
              <a:off x="2731317" y="2927017"/>
              <a:ext cx="1283318" cy="795185"/>
            </a:xfrm>
            <a:prstGeom prst="rect">
              <a:avLst/>
            </a:prstGeom>
            <a:noFill/>
            <a:ln>
              <a:noFill/>
            </a:ln>
          </p:spPr>
          <p:txBody>
            <a:bodyPr wrap="square" lIns="0" tIns="36576" rIns="0" bIns="0" rtlCol="0">
              <a:spAutoFit/>
            </a:bodyPr>
            <a:lstStyle/>
            <a:p>
              <a:pPr marL="0" marR="0" lvl="0" indent="0" algn="ctr" defTabSz="914400" eaLnBrk="1" fontAlgn="auto" latinLnBrk="0" hangingPunct="1">
                <a:lnSpc>
                  <a:spcPct val="100000"/>
                </a:lnSpc>
                <a:spcBef>
                  <a:spcPts val="0"/>
                </a:spcBef>
                <a:spcAft>
                  <a:spcPts val="300"/>
                </a:spcAft>
                <a:buClr>
                  <a:srgbClr val="27ACAA"/>
                </a:buClr>
                <a:buSzPct val="70000"/>
                <a:buFontTx/>
                <a:buNone/>
                <a:tabLst/>
                <a:defRPr/>
              </a:pPr>
              <a:r>
                <a:rPr kumimoji="0" lang="ar-LY" sz="1400" b="1" i="0" u="none" strike="noStrike" kern="0" cap="none" spc="0" normalizeH="0" baseline="0" noProof="0" dirty="0">
                  <a:ln>
                    <a:noFill/>
                  </a:ln>
                  <a:solidFill>
                    <a:schemeClr val="bg1"/>
                  </a:solidFill>
                  <a:effectLst/>
                  <a:uLnTx/>
                  <a:uFillTx/>
                  <a:latin typeface="Tajawal" panose="00000500000000000000" pitchFamily="2" charset="-78"/>
                  <a:cs typeface="Tajawal" panose="00000500000000000000" pitchFamily="2" charset="-78"/>
                </a:rPr>
                <a:t>الشخصيات</a:t>
              </a:r>
              <a:endParaRPr kumimoji="0" lang="en-IN" sz="1400" b="1" i="0" u="none" strike="noStrike" kern="0" cap="none" spc="0" normalizeH="0" baseline="0" noProof="0" dirty="0">
                <a:ln>
                  <a:noFill/>
                </a:ln>
                <a:solidFill>
                  <a:schemeClr val="bg1"/>
                </a:solidFill>
                <a:effectLst/>
                <a:uLnTx/>
                <a:uFillTx/>
                <a:latin typeface="Tajawal" panose="00000500000000000000" pitchFamily="2" charset="-78"/>
                <a:cs typeface="Tajawal" panose="00000500000000000000" pitchFamily="2" charset="-78"/>
              </a:endParaRPr>
            </a:p>
            <a:p>
              <a:pPr algn="ctr"/>
              <a:r>
                <a:rPr lang="ar-LY" sz="1050" dirty="0">
                  <a:solidFill>
                    <a:schemeClr val="bg1"/>
                  </a:solidFill>
                  <a:latin typeface="Tajawal" panose="00000500000000000000" pitchFamily="2" charset="-78"/>
                  <a:cs typeface="Tajawal" panose="00000500000000000000" pitchFamily="2" charset="-78"/>
                </a:rPr>
                <a:t>تحويل ذكاء العملاء المنظم إلى ملفات تعريفية بشرية</a:t>
              </a:r>
              <a:endParaRPr lang="en-US" sz="1050" dirty="0">
                <a:solidFill>
                  <a:schemeClr val="bg1"/>
                </a:solidFill>
                <a:latin typeface="Tajawal" panose="00000500000000000000" pitchFamily="2" charset="-78"/>
                <a:cs typeface="Tajawal" panose="00000500000000000000" pitchFamily="2" charset="-78"/>
              </a:endParaRPr>
            </a:p>
          </p:txBody>
        </p:sp>
        <p:sp>
          <p:nvSpPr>
            <p:cNvPr id="154" name="TextBox 153">
              <a:extLst>
                <a:ext uri="{FF2B5EF4-FFF2-40B4-BE49-F238E27FC236}">
                  <a16:creationId xmlns:a16="http://schemas.microsoft.com/office/drawing/2014/main" id="{BB4BA40F-DF5E-40E0-951B-2AD5F41EE453}"/>
                </a:ext>
              </a:extLst>
            </p:cNvPr>
            <p:cNvSpPr txBox="1"/>
            <p:nvPr/>
          </p:nvSpPr>
          <p:spPr>
            <a:xfrm>
              <a:off x="4150040" y="3695521"/>
              <a:ext cx="1283318" cy="1016070"/>
            </a:xfrm>
            <a:prstGeom prst="rect">
              <a:avLst/>
            </a:prstGeom>
            <a:noFill/>
            <a:ln>
              <a:noFill/>
            </a:ln>
          </p:spPr>
          <p:txBody>
            <a:bodyPr wrap="square" lIns="0" tIns="36576" rIns="0" bIns="0" rtlCol="0">
              <a:spAutoFit/>
            </a:bodyPr>
            <a:lstStyle/>
            <a:p>
              <a:pPr lvl="0" algn="ctr">
                <a:spcAft>
                  <a:spcPts val="300"/>
                </a:spcAft>
                <a:buClr>
                  <a:srgbClr val="27ACAA"/>
                </a:buClr>
                <a:buSzPct val="70000"/>
                <a:defRPr/>
              </a:pPr>
              <a:r>
                <a:rPr lang="ar-LY" sz="1400" b="1" kern="0" dirty="0">
                  <a:solidFill>
                    <a:schemeClr val="bg1"/>
                  </a:solidFill>
                  <a:latin typeface="Tajawal" panose="00000500000000000000" pitchFamily="2" charset="-78"/>
                  <a:cs typeface="Tajawal" panose="00000500000000000000" pitchFamily="2" charset="-78"/>
                </a:rPr>
                <a:t>شرائح المشتركين</a:t>
              </a:r>
              <a:endParaRPr lang="en-US" sz="1400" b="1" kern="0" dirty="0">
                <a:solidFill>
                  <a:schemeClr val="bg1"/>
                </a:solidFill>
                <a:latin typeface="Tajawal" panose="00000500000000000000" pitchFamily="2" charset="-78"/>
                <a:cs typeface="Tajawal" panose="00000500000000000000" pitchFamily="2" charset="-78"/>
              </a:endParaRPr>
            </a:p>
            <a:p>
              <a:pPr algn="ctr">
                <a:spcAft>
                  <a:spcPts val="300"/>
                </a:spcAft>
                <a:buClr>
                  <a:srgbClr val="27ACAA"/>
                </a:buClr>
                <a:buSzPct val="70000"/>
                <a:defRPr/>
              </a:pPr>
              <a:r>
                <a:rPr lang="ar-LY" sz="1050" kern="0" spc="-30" dirty="0">
                  <a:solidFill>
                    <a:schemeClr val="bg1"/>
                  </a:solidFill>
                  <a:latin typeface="Tajawal" panose="00000500000000000000" pitchFamily="2" charset="-78"/>
                  <a:cs typeface="Tajawal" panose="00000500000000000000" pitchFamily="2" charset="-78"/>
                </a:rPr>
                <a:t>من الملفات التعريفية المبنية على التعاطف إلى التركيز التجاري</a:t>
              </a:r>
              <a:endParaRPr lang="en-US" sz="1400" b="1" kern="0" dirty="0">
                <a:solidFill>
                  <a:srgbClr val="FFFFFF">
                    <a:lumMod val="50000"/>
                  </a:srgbClr>
                </a:solidFill>
                <a:latin typeface="Tajawal" panose="00000500000000000000" pitchFamily="2" charset="-78"/>
                <a:cs typeface="Tajawal" panose="00000500000000000000" pitchFamily="2" charset="-78"/>
              </a:endParaRPr>
            </a:p>
          </p:txBody>
        </p:sp>
        <p:sp>
          <p:nvSpPr>
            <p:cNvPr id="155" name="TextBox 154">
              <a:extLst>
                <a:ext uri="{FF2B5EF4-FFF2-40B4-BE49-F238E27FC236}">
                  <a16:creationId xmlns:a16="http://schemas.microsoft.com/office/drawing/2014/main" id="{5356E88A-A4E0-E8AB-70E5-6DBF854EBB6C}"/>
                </a:ext>
              </a:extLst>
            </p:cNvPr>
            <p:cNvSpPr txBox="1"/>
            <p:nvPr/>
          </p:nvSpPr>
          <p:spPr>
            <a:xfrm>
              <a:off x="5620719" y="3366736"/>
              <a:ext cx="1283318" cy="720834"/>
            </a:xfrm>
            <a:prstGeom prst="rect">
              <a:avLst/>
            </a:prstGeom>
            <a:noFill/>
            <a:ln>
              <a:noFill/>
            </a:ln>
          </p:spPr>
          <p:txBody>
            <a:bodyPr wrap="square" lIns="0" tIns="36576" rIns="0" bIns="0" rtlCol="0">
              <a:spAutoFit/>
            </a:bodyPr>
            <a:lstStyle/>
            <a:p>
              <a:pPr marL="0" marR="0" lvl="0" indent="0" algn="ctr" defTabSz="914400" eaLnBrk="1" fontAlgn="auto" latinLnBrk="0" hangingPunct="1">
                <a:lnSpc>
                  <a:spcPct val="100000"/>
                </a:lnSpc>
                <a:spcBef>
                  <a:spcPts val="0"/>
                </a:spcBef>
                <a:spcAft>
                  <a:spcPts val="300"/>
                </a:spcAft>
                <a:buClr>
                  <a:srgbClr val="27ACAA"/>
                </a:buClr>
                <a:buSzPct val="70000"/>
                <a:buFontTx/>
                <a:buNone/>
                <a:tabLst/>
                <a:defRPr/>
              </a:pPr>
              <a:r>
                <a:rPr lang="ar-LY" sz="1400" b="1" kern="0" dirty="0">
                  <a:solidFill>
                    <a:schemeClr val="bg1"/>
                  </a:solidFill>
                  <a:latin typeface="Tajawal" panose="00000500000000000000" pitchFamily="2" charset="-78"/>
                  <a:cs typeface="Tajawal" panose="00000500000000000000" pitchFamily="2" charset="-78"/>
                </a:rPr>
                <a:t>الرحلات</a:t>
              </a:r>
            </a:p>
            <a:p>
              <a:pPr algn="ctr">
                <a:lnSpc>
                  <a:spcPct val="85000"/>
                </a:lnSpc>
                <a:spcAft>
                  <a:spcPts val="300"/>
                </a:spcAft>
                <a:buClr>
                  <a:srgbClr val="27ACAA"/>
                </a:buClr>
                <a:buSzPct val="70000"/>
                <a:defRPr/>
              </a:pPr>
              <a:r>
                <a:rPr lang="ar-LY" sz="1050" dirty="0">
                  <a:solidFill>
                    <a:schemeClr val="bg1"/>
                  </a:solidFill>
                  <a:latin typeface="Tajawal" panose="00000500000000000000" pitchFamily="2" charset="-78"/>
                  <a:cs typeface="Tajawal" panose="00000500000000000000" pitchFamily="2" charset="-78"/>
                </a:rPr>
                <a:t>تجارب شاملة تتضمن التفضيلات  ونقاط الألم للمشتركين</a:t>
              </a:r>
              <a:endParaRPr lang="en-US" sz="1050" dirty="0">
                <a:solidFill>
                  <a:schemeClr val="bg1"/>
                </a:solidFill>
                <a:latin typeface="Tajawal" panose="00000500000000000000" pitchFamily="2" charset="-78"/>
                <a:cs typeface="Tajawal" panose="00000500000000000000" pitchFamily="2" charset="-78"/>
              </a:endParaRPr>
            </a:p>
          </p:txBody>
        </p:sp>
        <p:sp>
          <p:nvSpPr>
            <p:cNvPr id="157" name="TextBox 156">
              <a:extLst>
                <a:ext uri="{FF2B5EF4-FFF2-40B4-BE49-F238E27FC236}">
                  <a16:creationId xmlns:a16="http://schemas.microsoft.com/office/drawing/2014/main" id="{42C2676D-9F47-8291-C951-B704CE4D87CF}"/>
                </a:ext>
              </a:extLst>
            </p:cNvPr>
            <p:cNvSpPr txBox="1"/>
            <p:nvPr/>
          </p:nvSpPr>
          <p:spPr>
            <a:xfrm>
              <a:off x="8604951" y="3805017"/>
              <a:ext cx="1172725" cy="921405"/>
            </a:xfrm>
            <a:prstGeom prst="rect">
              <a:avLst/>
            </a:prstGeom>
            <a:noFill/>
            <a:ln>
              <a:noFill/>
            </a:ln>
          </p:spPr>
          <p:txBody>
            <a:bodyPr wrap="square" lIns="0" tIns="36576" rIns="0" bIns="0" rtlCol="0">
              <a:spAutoFit/>
            </a:bodyPr>
            <a:lstStyle/>
            <a:p>
              <a:pPr algn="ctr">
                <a:buClr>
                  <a:srgbClr val="27ACAA"/>
                </a:buClr>
                <a:buSzPct val="70000"/>
                <a:defRPr/>
              </a:pPr>
              <a:r>
                <a:rPr lang="ar-LY" sz="1400" b="1" kern="0" dirty="0">
                  <a:solidFill>
                    <a:schemeClr val="bg1"/>
                  </a:solidFill>
                  <a:latin typeface="Tajawal" panose="00000500000000000000" pitchFamily="2" charset="-78"/>
                  <a:cs typeface="Tajawal" panose="00000500000000000000" pitchFamily="2" charset="-78"/>
                </a:rPr>
                <a:t>النتائج</a:t>
              </a:r>
              <a:br>
                <a:rPr kumimoji="0" lang="en-US" sz="1200" b="1" i="0" u="none" strike="noStrike" kern="0" cap="none" spc="0" normalizeH="0" baseline="0" noProof="0" dirty="0">
                  <a:ln>
                    <a:noFill/>
                  </a:ln>
                  <a:solidFill>
                    <a:schemeClr val="bg1"/>
                  </a:solidFill>
                  <a:effectLst/>
                  <a:uLnTx/>
                  <a:uFillTx/>
                  <a:latin typeface="Tajawal" panose="00000500000000000000" pitchFamily="2" charset="-78"/>
                  <a:cs typeface="Tajawal" panose="00000500000000000000" pitchFamily="2" charset="-78"/>
                </a:rPr>
              </a:br>
              <a:r>
                <a:rPr lang="ar-LY" sz="1050" dirty="0">
                  <a:solidFill>
                    <a:schemeClr val="bg1"/>
                  </a:solidFill>
                  <a:latin typeface="Tajawal" panose="00000500000000000000" pitchFamily="2" charset="-78"/>
                  <a:cs typeface="Tajawal" panose="00000500000000000000" pitchFamily="2" charset="-78"/>
                </a:rPr>
                <a:t>خارطة طريق توازن بين تفهم احتياجات المشتركين وأولويات الأعمال</a:t>
              </a:r>
              <a:endParaRPr lang="en-US" sz="1050" dirty="0">
                <a:solidFill>
                  <a:schemeClr val="bg1"/>
                </a:solidFill>
                <a:latin typeface="Tajawal" panose="00000500000000000000" pitchFamily="2" charset="-78"/>
                <a:cs typeface="Tajawal" panose="00000500000000000000" pitchFamily="2" charset="-78"/>
              </a:endParaRPr>
            </a:p>
          </p:txBody>
        </p:sp>
        <p:sp>
          <p:nvSpPr>
            <p:cNvPr id="159" name="Freeform: Shape 158">
              <a:extLst>
                <a:ext uri="{FF2B5EF4-FFF2-40B4-BE49-F238E27FC236}">
                  <a16:creationId xmlns:a16="http://schemas.microsoft.com/office/drawing/2014/main" id="{A0241CBD-9E83-4AB0-8B88-4DCCAD562179}"/>
                </a:ext>
              </a:extLst>
            </p:cNvPr>
            <p:cNvSpPr/>
            <p:nvPr/>
          </p:nvSpPr>
          <p:spPr>
            <a:xfrm>
              <a:off x="4644840" y="5016292"/>
              <a:ext cx="74679" cy="74679"/>
            </a:xfrm>
            <a:custGeom>
              <a:avLst/>
              <a:gdLst>
                <a:gd name="connsiteX0" fmla="*/ 74680 w 74679"/>
                <a:gd name="connsiteY0" fmla="*/ 37340 h 74679"/>
                <a:gd name="connsiteX1" fmla="*/ 37339 w 74679"/>
                <a:gd name="connsiteY1" fmla="*/ 74680 h 74679"/>
                <a:gd name="connsiteX2" fmla="*/ -1 w 74679"/>
                <a:gd name="connsiteY2" fmla="*/ 37340 h 74679"/>
                <a:gd name="connsiteX3" fmla="*/ 37339 w 74679"/>
                <a:gd name="connsiteY3" fmla="*/ 0 h 74679"/>
                <a:gd name="connsiteX4" fmla="*/ 74680 w 74679"/>
                <a:gd name="connsiteY4" fmla="*/ 37340 h 74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9" h="74679">
                  <a:moveTo>
                    <a:pt x="74680" y="37340"/>
                  </a:moveTo>
                  <a:cubicBezTo>
                    <a:pt x="74680" y="57962"/>
                    <a:pt x="57962" y="74680"/>
                    <a:pt x="37339" y="74680"/>
                  </a:cubicBezTo>
                  <a:cubicBezTo>
                    <a:pt x="16717" y="74680"/>
                    <a:pt x="-1" y="57962"/>
                    <a:pt x="-1" y="37340"/>
                  </a:cubicBezTo>
                  <a:cubicBezTo>
                    <a:pt x="-1" y="16718"/>
                    <a:pt x="16716" y="0"/>
                    <a:pt x="37339" y="0"/>
                  </a:cubicBezTo>
                  <a:cubicBezTo>
                    <a:pt x="57961" y="0"/>
                    <a:pt x="74680" y="16718"/>
                    <a:pt x="74680" y="37340"/>
                  </a:cubicBezTo>
                  <a:close/>
                </a:path>
              </a:pathLst>
            </a:custGeom>
            <a:solidFill>
              <a:srgbClr val="747480"/>
            </a:solidFill>
            <a:ln w="1314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60" name="Freeform: Shape 159">
              <a:extLst>
                <a:ext uri="{FF2B5EF4-FFF2-40B4-BE49-F238E27FC236}">
                  <a16:creationId xmlns:a16="http://schemas.microsoft.com/office/drawing/2014/main" id="{55D05838-945B-5BA2-7A35-4B43A51D1306}"/>
                </a:ext>
              </a:extLst>
            </p:cNvPr>
            <p:cNvSpPr/>
            <p:nvPr/>
          </p:nvSpPr>
          <p:spPr>
            <a:xfrm>
              <a:off x="3346333" y="2433037"/>
              <a:ext cx="74679" cy="74679"/>
            </a:xfrm>
            <a:custGeom>
              <a:avLst/>
              <a:gdLst>
                <a:gd name="connsiteX0" fmla="*/ 74680 w 74679"/>
                <a:gd name="connsiteY0" fmla="*/ 37340 h 74679"/>
                <a:gd name="connsiteX1" fmla="*/ 37339 w 74679"/>
                <a:gd name="connsiteY1" fmla="*/ 74680 h 74679"/>
                <a:gd name="connsiteX2" fmla="*/ -1 w 74679"/>
                <a:gd name="connsiteY2" fmla="*/ 37340 h 74679"/>
                <a:gd name="connsiteX3" fmla="*/ 37339 w 74679"/>
                <a:gd name="connsiteY3" fmla="*/ 0 h 74679"/>
                <a:gd name="connsiteX4" fmla="*/ 74680 w 74679"/>
                <a:gd name="connsiteY4" fmla="*/ 37340 h 74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9" h="74679">
                  <a:moveTo>
                    <a:pt x="74680" y="37340"/>
                  </a:moveTo>
                  <a:cubicBezTo>
                    <a:pt x="74680" y="57962"/>
                    <a:pt x="57962" y="74680"/>
                    <a:pt x="37339" y="74680"/>
                  </a:cubicBezTo>
                  <a:cubicBezTo>
                    <a:pt x="16717" y="74680"/>
                    <a:pt x="-1" y="57962"/>
                    <a:pt x="-1" y="37340"/>
                  </a:cubicBezTo>
                  <a:cubicBezTo>
                    <a:pt x="-1" y="16718"/>
                    <a:pt x="16716" y="0"/>
                    <a:pt x="37339" y="0"/>
                  </a:cubicBezTo>
                  <a:cubicBezTo>
                    <a:pt x="57961" y="0"/>
                    <a:pt x="74680" y="16718"/>
                    <a:pt x="74680" y="37340"/>
                  </a:cubicBezTo>
                  <a:close/>
                </a:path>
              </a:pathLst>
            </a:custGeom>
            <a:solidFill>
              <a:srgbClr val="747480"/>
            </a:solidFill>
            <a:ln w="1314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61" name="Rectangle 160">
              <a:extLst>
                <a:ext uri="{FF2B5EF4-FFF2-40B4-BE49-F238E27FC236}">
                  <a16:creationId xmlns:a16="http://schemas.microsoft.com/office/drawing/2014/main" id="{DE9D097C-027C-7957-8D99-A749FCC37432}"/>
                </a:ext>
              </a:extLst>
            </p:cNvPr>
            <p:cNvSpPr/>
            <p:nvPr/>
          </p:nvSpPr>
          <p:spPr>
            <a:xfrm>
              <a:off x="7041774" y="2912572"/>
              <a:ext cx="1619890" cy="1280161"/>
            </a:xfrm>
            <a:prstGeom prst="rect">
              <a:avLst/>
            </a:prstGeom>
            <a:noFill/>
            <a:ln w="9525"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ar-LY" sz="1600" b="1" kern="0" dirty="0">
                  <a:solidFill>
                    <a:srgbClr val="DBAFE2"/>
                  </a:solidFill>
                  <a:latin typeface="Tajawal" panose="00000500000000000000" pitchFamily="2" charset="-78"/>
                  <a:cs typeface="Tajawal" panose="00000500000000000000" pitchFamily="2" charset="-78"/>
                </a:rPr>
                <a:t>6 مخططات هيكل الخدمة</a:t>
              </a:r>
              <a:endParaRPr lang="en-US" sz="1600" b="1" kern="0" dirty="0">
                <a:solidFill>
                  <a:srgbClr val="DBAFE2"/>
                </a:solidFill>
                <a:latin typeface="Tajawal" panose="00000500000000000000" pitchFamily="2" charset="-78"/>
                <a:cs typeface="Tajawal" panose="00000500000000000000" pitchFamily="2" charset="-78"/>
              </a:endParaRPr>
            </a:p>
            <a:p>
              <a:pPr algn="ctr">
                <a:defRPr/>
              </a:pPr>
              <a:r>
                <a:rPr lang="ar-LY" sz="1200" dirty="0">
                  <a:latin typeface="Tajawal" panose="00000500000000000000" pitchFamily="2" charset="-78"/>
                  <a:cs typeface="Tajawal" panose="00000500000000000000" pitchFamily="2" charset="-78"/>
                </a:rPr>
                <a:t>ربط نقاط تفاعل المشتركين مع العمليات الخلفية الداعمة</a:t>
              </a:r>
              <a:endParaRPr lang="en-US" sz="1200" dirty="0">
                <a:latin typeface="Tajawal" panose="00000500000000000000" pitchFamily="2" charset="-78"/>
                <a:cs typeface="Tajawal" panose="00000500000000000000" pitchFamily="2" charset="-78"/>
              </a:endParaRPr>
            </a:p>
          </p:txBody>
        </p:sp>
        <p:sp>
          <p:nvSpPr>
            <p:cNvPr id="162" name="Rectangle 161">
              <a:extLst>
                <a:ext uri="{FF2B5EF4-FFF2-40B4-BE49-F238E27FC236}">
                  <a16:creationId xmlns:a16="http://schemas.microsoft.com/office/drawing/2014/main" id="{433A818E-8D37-BE15-FE20-10C11AD65B3B}"/>
                </a:ext>
              </a:extLst>
            </p:cNvPr>
            <p:cNvSpPr/>
            <p:nvPr/>
          </p:nvSpPr>
          <p:spPr>
            <a:xfrm>
              <a:off x="3855245" y="5113392"/>
              <a:ext cx="1872906" cy="1280160"/>
            </a:xfrm>
            <a:prstGeom prst="rect">
              <a:avLst/>
            </a:prstGeom>
            <a:noFill/>
            <a:ln w="9525"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defRPr/>
              </a:pPr>
              <a:r>
                <a:rPr lang="ar-LY" sz="1600" b="1" kern="0" dirty="0">
                  <a:solidFill>
                    <a:srgbClr val="A02B93"/>
                  </a:solidFill>
                  <a:latin typeface="Tajawal" panose="00000500000000000000" pitchFamily="2" charset="-78"/>
                  <a:cs typeface="Tajawal" panose="00000500000000000000" pitchFamily="2" charset="-78"/>
                </a:rPr>
                <a:t>3 شرائح استراتيجية</a:t>
              </a:r>
              <a:br>
                <a:rPr kumimoji="0" lang="en-GB" sz="3200" b="1" i="0" u="none" strike="noStrike" kern="0" cap="none" spc="0" normalizeH="0" baseline="0" noProof="0" dirty="0">
                  <a:ln>
                    <a:noFill/>
                  </a:ln>
                  <a:solidFill>
                    <a:srgbClr val="2E2E38"/>
                  </a:solidFill>
                  <a:effectLst/>
                  <a:uLnTx/>
                  <a:uFillTx/>
                  <a:latin typeface="Tajawal" panose="00000500000000000000" pitchFamily="2" charset="-78"/>
                  <a:cs typeface="Tajawal" panose="00000500000000000000" pitchFamily="2" charset="-78"/>
                </a:rPr>
              </a:br>
              <a:r>
                <a:rPr lang="ar-LY" sz="1200" dirty="0">
                  <a:latin typeface="Tajawal" panose="00000500000000000000" pitchFamily="2" charset="-78"/>
                  <a:cs typeface="Tajawal" panose="00000500000000000000" pitchFamily="2" charset="-78"/>
                </a:rPr>
                <a:t>تمت صياغتها وتجميعها من شخصيات المشتركين إلى مجموعات متوافقة مع الأهداف الاستراتيجية</a:t>
              </a:r>
              <a:endParaRPr kumimoji="0" lang="en-US" sz="1200" b="1" i="0" u="none" strike="noStrike" kern="0" cap="none" spc="0" normalizeH="0" baseline="0" noProof="0" dirty="0">
                <a:ln>
                  <a:noFill/>
                </a:ln>
                <a:solidFill>
                  <a:srgbClr val="747480"/>
                </a:solidFill>
                <a:effectLst/>
                <a:uLnTx/>
                <a:uFillTx/>
                <a:latin typeface="Tajawal" panose="00000500000000000000" pitchFamily="2" charset="-78"/>
                <a:cs typeface="Tajawal" panose="00000500000000000000" pitchFamily="2" charset="-78"/>
              </a:endParaRPr>
            </a:p>
          </p:txBody>
        </p:sp>
        <p:sp>
          <p:nvSpPr>
            <p:cNvPr id="165" name="Rectangle 164">
              <a:extLst>
                <a:ext uri="{FF2B5EF4-FFF2-40B4-BE49-F238E27FC236}">
                  <a16:creationId xmlns:a16="http://schemas.microsoft.com/office/drawing/2014/main" id="{00DA8EEA-0EB5-2278-F728-47BB5E88C8A6}"/>
                </a:ext>
              </a:extLst>
            </p:cNvPr>
            <p:cNvSpPr/>
            <p:nvPr/>
          </p:nvSpPr>
          <p:spPr>
            <a:xfrm>
              <a:off x="2200758" y="1722407"/>
              <a:ext cx="2344435" cy="778425"/>
            </a:xfrm>
            <a:prstGeom prst="rect">
              <a:avLst/>
            </a:prstGeom>
            <a:noFill/>
            <a:ln w="9525"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defRPr/>
              </a:pPr>
              <a:r>
                <a:rPr lang="ar-LY" sz="1600" b="1" kern="0" dirty="0">
                  <a:solidFill>
                    <a:schemeClr val="accent5"/>
                  </a:solidFill>
                  <a:latin typeface="Tajawal" panose="00000500000000000000" pitchFamily="2" charset="-78"/>
                  <a:cs typeface="Tajawal" panose="00000500000000000000" pitchFamily="2" charset="-78"/>
                </a:rPr>
                <a:t>6 شخصيات</a:t>
              </a:r>
              <a:br>
                <a:rPr kumimoji="0" lang="en-GB" sz="3200" b="1" i="0" u="none" strike="noStrike" kern="0" cap="none" spc="0" normalizeH="0" baseline="0" noProof="0" dirty="0">
                  <a:ln>
                    <a:noFill/>
                  </a:ln>
                  <a:solidFill>
                    <a:srgbClr val="747480"/>
                  </a:solidFill>
                  <a:effectLst/>
                  <a:uLnTx/>
                  <a:uFillTx/>
                  <a:latin typeface="Tajawal" panose="00000500000000000000" pitchFamily="2" charset="-78"/>
                  <a:cs typeface="Tajawal" panose="00000500000000000000" pitchFamily="2" charset="-78"/>
                </a:rPr>
              </a:br>
              <a:r>
                <a:rPr lang="ar-LY" sz="1200" dirty="0">
                  <a:latin typeface="Tajawal" panose="00000500000000000000" pitchFamily="2" charset="-78"/>
                  <a:cs typeface="Tajawal" panose="00000500000000000000" pitchFamily="2" charset="-78"/>
                </a:rPr>
                <a:t>استناداً إلى الدوافع، والإحباطات، والسلوكيات الفعلية للمشتركين</a:t>
              </a:r>
              <a:endParaRPr kumimoji="0" lang="en-US" sz="1200" b="0" i="0" u="none" strike="noStrike" kern="0" cap="none" spc="0" normalizeH="0" baseline="0" noProof="0" dirty="0">
                <a:ln>
                  <a:noFill/>
                </a:ln>
                <a:solidFill>
                  <a:srgbClr val="2E2E38"/>
                </a:solidFill>
                <a:effectLst/>
                <a:uLnTx/>
                <a:uFillTx/>
                <a:latin typeface="Tajawal" panose="00000500000000000000" pitchFamily="2" charset="-78"/>
                <a:cs typeface="Tajawal" panose="00000500000000000000" pitchFamily="2" charset="-78"/>
              </a:endParaRPr>
            </a:p>
          </p:txBody>
        </p:sp>
        <p:sp>
          <p:nvSpPr>
            <p:cNvPr id="179" name="Freeform: Shape 178">
              <a:extLst>
                <a:ext uri="{FF2B5EF4-FFF2-40B4-BE49-F238E27FC236}">
                  <a16:creationId xmlns:a16="http://schemas.microsoft.com/office/drawing/2014/main" id="{CA9F69DA-B6EE-AFE9-84ED-507689903B23}"/>
                </a:ext>
              </a:extLst>
            </p:cNvPr>
            <p:cNvSpPr/>
            <p:nvPr/>
          </p:nvSpPr>
          <p:spPr>
            <a:xfrm>
              <a:off x="6074140" y="2814995"/>
              <a:ext cx="389701" cy="389701"/>
            </a:xfrm>
            <a:custGeom>
              <a:avLst/>
              <a:gdLst>
                <a:gd name="connsiteX0" fmla="*/ 389701 w 389701"/>
                <a:gd name="connsiteY0" fmla="*/ 194851 h 389701"/>
                <a:gd name="connsiteX1" fmla="*/ 194851 w 389701"/>
                <a:gd name="connsiteY1" fmla="*/ 389702 h 389701"/>
                <a:gd name="connsiteX2" fmla="*/ 0 w 389701"/>
                <a:gd name="connsiteY2" fmla="*/ 194851 h 389701"/>
                <a:gd name="connsiteX3" fmla="*/ 194851 w 389701"/>
                <a:gd name="connsiteY3" fmla="*/ 0 h 389701"/>
                <a:gd name="connsiteX4" fmla="*/ 389701 w 389701"/>
                <a:gd name="connsiteY4" fmla="*/ 194851 h 389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701" h="389701">
                  <a:moveTo>
                    <a:pt x="389701" y="194851"/>
                  </a:moveTo>
                  <a:cubicBezTo>
                    <a:pt x="389701" y="302464"/>
                    <a:pt x="302464" y="389702"/>
                    <a:pt x="194851" y="389702"/>
                  </a:cubicBezTo>
                  <a:cubicBezTo>
                    <a:pt x="87237" y="389702"/>
                    <a:pt x="0" y="302464"/>
                    <a:pt x="0" y="194851"/>
                  </a:cubicBezTo>
                  <a:cubicBezTo>
                    <a:pt x="0" y="87238"/>
                    <a:pt x="87237" y="0"/>
                    <a:pt x="194851" y="0"/>
                  </a:cubicBezTo>
                  <a:cubicBezTo>
                    <a:pt x="302464" y="0"/>
                    <a:pt x="389701" y="87238"/>
                    <a:pt x="389701" y="194851"/>
                  </a:cubicBezTo>
                  <a:close/>
                </a:path>
              </a:pathLst>
            </a:custGeom>
            <a:solidFill>
              <a:srgbClr val="2E2E38"/>
            </a:solidFill>
            <a:ln w="9859"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3" name="Rectangle 2">
              <a:extLst>
                <a:ext uri="{FF2B5EF4-FFF2-40B4-BE49-F238E27FC236}">
                  <a16:creationId xmlns:a16="http://schemas.microsoft.com/office/drawing/2014/main" id="{7665AC1E-8668-C39A-FE1A-6456D7FA7AB5}"/>
                </a:ext>
              </a:extLst>
            </p:cNvPr>
            <p:cNvSpPr/>
            <p:nvPr/>
          </p:nvSpPr>
          <p:spPr>
            <a:xfrm>
              <a:off x="4931515" y="1808381"/>
              <a:ext cx="2802656" cy="1280161"/>
            </a:xfrm>
            <a:prstGeom prst="rect">
              <a:avLst/>
            </a:prstGeom>
            <a:noFill/>
            <a:ln w="9525"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defRPr/>
              </a:pPr>
              <a:r>
                <a:rPr lang="ar-LY" sz="1600" b="1" kern="0" dirty="0">
                  <a:solidFill>
                    <a:srgbClr val="B92D94"/>
                  </a:solidFill>
                  <a:latin typeface="Tajawal" panose="00000500000000000000" pitchFamily="2" charset="-78"/>
                  <a:cs typeface="Tajawal" panose="00000500000000000000" pitchFamily="2" charset="-78"/>
                </a:rPr>
                <a:t>رسم 4 خرائط من دورة حياة المشترك</a:t>
              </a:r>
              <a:endParaRPr lang="en-US" sz="1600" b="1" kern="0" dirty="0">
                <a:solidFill>
                  <a:srgbClr val="B92D94"/>
                </a:solidFill>
                <a:latin typeface="Tajawal" panose="00000500000000000000" pitchFamily="2" charset="-78"/>
                <a:cs typeface="Tajawal" panose="00000500000000000000" pitchFamily="2" charset="-78"/>
              </a:endParaRPr>
            </a:p>
            <a:p>
              <a:pPr algn="ctr"/>
              <a:r>
                <a:rPr lang="en-US" sz="1200" dirty="0">
                  <a:latin typeface="Tajawal" panose="00000500000000000000" pitchFamily="2" charset="-78"/>
                  <a:cs typeface="Tajawal" panose="00000500000000000000" pitchFamily="2" charset="-78"/>
                </a:rPr>
                <a:t> </a:t>
              </a:r>
              <a:r>
                <a:rPr lang="ar-LY" sz="1200" dirty="0">
                  <a:latin typeface="Tajawal" panose="00000500000000000000" pitchFamily="2" charset="-78"/>
                  <a:cs typeface="Tajawal" panose="00000500000000000000" pitchFamily="2" charset="-78"/>
                </a:rPr>
                <a:t>توثيق نقاط التفاعل، والمشاعر، والعوائق عبر مراحل دورة حياة المشترك</a:t>
              </a:r>
              <a:endParaRPr lang="en-US" sz="2400" b="1" kern="0" dirty="0">
                <a:solidFill>
                  <a:srgbClr val="747480"/>
                </a:solidFill>
                <a:latin typeface="Tajawal" panose="00000500000000000000" pitchFamily="2" charset="-78"/>
                <a:cs typeface="Tajawal" panose="00000500000000000000" pitchFamily="2" charset="-78"/>
              </a:endParaRPr>
            </a:p>
          </p:txBody>
        </p:sp>
        <p:sp>
          <p:nvSpPr>
            <p:cNvPr id="139" name="Freeform: Shape 138">
              <a:extLst>
                <a:ext uri="{FF2B5EF4-FFF2-40B4-BE49-F238E27FC236}">
                  <a16:creationId xmlns:a16="http://schemas.microsoft.com/office/drawing/2014/main" id="{0EB79352-4098-8231-D094-FBF4B2151368}"/>
                </a:ext>
              </a:extLst>
            </p:cNvPr>
            <p:cNvSpPr/>
            <p:nvPr/>
          </p:nvSpPr>
          <p:spPr>
            <a:xfrm>
              <a:off x="8082142" y="5686482"/>
              <a:ext cx="74679" cy="74679"/>
            </a:xfrm>
            <a:custGeom>
              <a:avLst/>
              <a:gdLst>
                <a:gd name="connsiteX0" fmla="*/ 74680 w 74679"/>
                <a:gd name="connsiteY0" fmla="*/ 37340 h 74679"/>
                <a:gd name="connsiteX1" fmla="*/ 37339 w 74679"/>
                <a:gd name="connsiteY1" fmla="*/ 74680 h 74679"/>
                <a:gd name="connsiteX2" fmla="*/ -1 w 74679"/>
                <a:gd name="connsiteY2" fmla="*/ 37340 h 74679"/>
                <a:gd name="connsiteX3" fmla="*/ 37339 w 74679"/>
                <a:gd name="connsiteY3" fmla="*/ 0 h 74679"/>
                <a:gd name="connsiteX4" fmla="*/ 74680 w 74679"/>
                <a:gd name="connsiteY4" fmla="*/ 37340 h 74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9" h="74679">
                  <a:moveTo>
                    <a:pt x="74680" y="37340"/>
                  </a:moveTo>
                  <a:cubicBezTo>
                    <a:pt x="74680" y="57962"/>
                    <a:pt x="57962" y="74680"/>
                    <a:pt x="37339" y="74680"/>
                  </a:cubicBezTo>
                  <a:cubicBezTo>
                    <a:pt x="16717" y="74680"/>
                    <a:pt x="-1" y="57962"/>
                    <a:pt x="-1" y="37340"/>
                  </a:cubicBezTo>
                  <a:cubicBezTo>
                    <a:pt x="-1" y="16718"/>
                    <a:pt x="16716" y="0"/>
                    <a:pt x="37339" y="0"/>
                  </a:cubicBezTo>
                  <a:cubicBezTo>
                    <a:pt x="57961" y="0"/>
                    <a:pt x="74680" y="16718"/>
                    <a:pt x="74680" y="37340"/>
                  </a:cubicBezTo>
                  <a:close/>
                </a:path>
              </a:pathLst>
            </a:custGeom>
            <a:solidFill>
              <a:srgbClr val="747480"/>
            </a:solidFill>
            <a:ln w="1314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63" name="Rectangle 162">
              <a:extLst>
                <a:ext uri="{FF2B5EF4-FFF2-40B4-BE49-F238E27FC236}">
                  <a16:creationId xmlns:a16="http://schemas.microsoft.com/office/drawing/2014/main" id="{47A051CC-EEC9-9308-DD6D-3D053B81E634}"/>
                </a:ext>
              </a:extLst>
            </p:cNvPr>
            <p:cNvSpPr/>
            <p:nvPr/>
          </p:nvSpPr>
          <p:spPr>
            <a:xfrm>
              <a:off x="8947134" y="697469"/>
              <a:ext cx="2572886" cy="1280160"/>
            </a:xfrm>
            <a:prstGeom prst="rect">
              <a:avLst/>
            </a:prstGeom>
            <a:noFill/>
            <a:ln w="9525"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a:latin typeface="Tajawal" panose="00000500000000000000" pitchFamily="2" charset="-78"/>
                <a:cs typeface="Tajawal" panose="00000500000000000000" pitchFamily="2" charset="-78"/>
              </a:endParaRPr>
            </a:p>
          </p:txBody>
        </p:sp>
        <p:sp>
          <p:nvSpPr>
            <p:cNvPr id="11" name="Freeform: Shape 10">
              <a:extLst>
                <a:ext uri="{FF2B5EF4-FFF2-40B4-BE49-F238E27FC236}">
                  <a16:creationId xmlns:a16="http://schemas.microsoft.com/office/drawing/2014/main" id="{B16DB442-A411-3CFD-C5C6-E6D1B2FF56F3}"/>
                </a:ext>
              </a:extLst>
            </p:cNvPr>
            <p:cNvSpPr/>
            <p:nvPr/>
          </p:nvSpPr>
          <p:spPr>
            <a:xfrm>
              <a:off x="9274536" y="3348273"/>
              <a:ext cx="747010" cy="793866"/>
            </a:xfrm>
            <a:custGeom>
              <a:avLst/>
              <a:gdLst>
                <a:gd name="connsiteX0" fmla="*/ 889188 w 889187"/>
                <a:gd name="connsiteY0" fmla="*/ 889188 h 889187"/>
                <a:gd name="connsiteX1" fmla="*/ 0 w 889187"/>
                <a:gd name="connsiteY1" fmla="*/ 0 h 889187"/>
              </a:gdLst>
              <a:ahLst/>
              <a:cxnLst>
                <a:cxn ang="0">
                  <a:pos x="connsiteX0" y="connsiteY0"/>
                </a:cxn>
                <a:cxn ang="0">
                  <a:pos x="connsiteX1" y="connsiteY1"/>
                </a:cxn>
              </a:cxnLst>
              <a:rect l="l" t="t" r="r" b="b"/>
              <a:pathLst>
                <a:path w="889187" h="889187">
                  <a:moveTo>
                    <a:pt x="889188" y="889188"/>
                  </a:moveTo>
                  <a:cubicBezTo>
                    <a:pt x="889188" y="398905"/>
                    <a:pt x="490283" y="0"/>
                    <a:pt x="0" y="0"/>
                  </a:cubicBezTo>
                </a:path>
              </a:pathLst>
            </a:custGeom>
            <a:noFill/>
            <a:ln w="13145" cap="flat">
              <a:solidFill>
                <a:srgbClr val="2E2E38"/>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2" name="Freeform: Shape 11">
              <a:extLst>
                <a:ext uri="{FF2B5EF4-FFF2-40B4-BE49-F238E27FC236}">
                  <a16:creationId xmlns:a16="http://schemas.microsoft.com/office/drawing/2014/main" id="{D1E1CF59-420D-7E23-118D-D5C888BE8F8B}"/>
                </a:ext>
              </a:extLst>
            </p:cNvPr>
            <p:cNvSpPr/>
            <p:nvPr/>
          </p:nvSpPr>
          <p:spPr>
            <a:xfrm>
              <a:off x="7089145" y="4314524"/>
              <a:ext cx="1308208" cy="1308208"/>
            </a:xfrm>
            <a:custGeom>
              <a:avLst/>
              <a:gdLst>
                <a:gd name="connsiteX0" fmla="*/ 1308209 w 1308208"/>
                <a:gd name="connsiteY0" fmla="*/ 654104 h 1308208"/>
                <a:gd name="connsiteX1" fmla="*/ 654104 w 1308208"/>
                <a:gd name="connsiteY1" fmla="*/ 1308209 h 1308208"/>
                <a:gd name="connsiteX2" fmla="*/ 0 w 1308208"/>
                <a:gd name="connsiteY2" fmla="*/ 654104 h 1308208"/>
                <a:gd name="connsiteX3" fmla="*/ 654104 w 1308208"/>
                <a:gd name="connsiteY3" fmla="*/ 0 h 1308208"/>
                <a:gd name="connsiteX4" fmla="*/ 1308209 w 1308208"/>
                <a:gd name="connsiteY4" fmla="*/ 654104 h 1308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208" h="1308208">
                  <a:moveTo>
                    <a:pt x="1308209" y="654104"/>
                  </a:moveTo>
                  <a:cubicBezTo>
                    <a:pt x="1308209" y="1015356"/>
                    <a:pt x="1015356" y="1308209"/>
                    <a:pt x="654104" y="1308209"/>
                  </a:cubicBezTo>
                  <a:cubicBezTo>
                    <a:pt x="292852" y="1308209"/>
                    <a:pt x="0" y="1015356"/>
                    <a:pt x="0" y="654104"/>
                  </a:cubicBezTo>
                  <a:cubicBezTo>
                    <a:pt x="0" y="292853"/>
                    <a:pt x="292852" y="0"/>
                    <a:pt x="654104" y="0"/>
                  </a:cubicBezTo>
                  <a:cubicBezTo>
                    <a:pt x="1015356" y="0"/>
                    <a:pt x="1308209" y="292853"/>
                    <a:pt x="1308209" y="654104"/>
                  </a:cubicBezTo>
                  <a:close/>
                </a:path>
              </a:pathLst>
            </a:custGeom>
            <a:solidFill>
              <a:srgbClr val="D29ADB"/>
            </a:solidFill>
            <a:ln w="9859" cap="flat">
              <a:solidFill>
                <a:srgbClr val="2E2E38"/>
              </a:solidFill>
              <a:prstDash val="solid"/>
              <a:miter/>
            </a:ln>
          </p:spPr>
          <p:txBody>
            <a:bodyPr rtlCol="0" anchor="ctr"/>
            <a:lstStyle/>
            <a:p>
              <a:pPr algn="ctr">
                <a:spcAft>
                  <a:spcPts val="300"/>
                </a:spcAft>
                <a:buClr>
                  <a:srgbClr val="27ACAA"/>
                </a:buClr>
                <a:buSzPct val="70000"/>
                <a:defRPr/>
              </a:pPr>
              <a:endParaRPr lang="en-US" sz="1400" b="1" kern="0" dirty="0">
                <a:solidFill>
                  <a:schemeClr val="bg1"/>
                </a:solidFill>
                <a:latin typeface="Tajawal" panose="00000500000000000000" pitchFamily="2" charset="-78"/>
                <a:cs typeface="Tajawal" panose="00000500000000000000" pitchFamily="2" charset="-78"/>
              </a:endParaRPr>
            </a:p>
            <a:p>
              <a:pPr algn="ctr">
                <a:spcAft>
                  <a:spcPts val="300"/>
                </a:spcAft>
                <a:buClr>
                  <a:srgbClr val="27ACAA"/>
                </a:buClr>
                <a:buSzPct val="70000"/>
                <a:defRPr/>
              </a:pPr>
              <a:r>
                <a:rPr lang="ar-LY" sz="1400" b="1" kern="0" dirty="0">
                  <a:solidFill>
                    <a:schemeClr val="bg1"/>
                  </a:solidFill>
                  <a:latin typeface="Tajawal" panose="00000500000000000000" pitchFamily="2" charset="-78"/>
                  <a:cs typeface="Tajawal" panose="00000500000000000000" pitchFamily="2" charset="-78"/>
                </a:rPr>
                <a:t>مخططات الخدمة</a:t>
              </a:r>
            </a:p>
            <a:p>
              <a:pPr algn="ctr">
                <a:spcAft>
                  <a:spcPts val="300"/>
                </a:spcAft>
                <a:buClr>
                  <a:srgbClr val="27ACAA"/>
                </a:buClr>
                <a:buSzPct val="70000"/>
                <a:defRPr/>
              </a:pPr>
              <a:r>
                <a:rPr lang="ar-LY" sz="1050" dirty="0">
                  <a:solidFill>
                    <a:schemeClr val="bg1"/>
                  </a:solidFill>
                  <a:latin typeface="Tajawal" panose="00000500000000000000" pitchFamily="2" charset="-78"/>
                  <a:cs typeface="Tajawal" panose="00000500000000000000" pitchFamily="2" charset="-78"/>
                </a:rPr>
                <a:t>مواءمة تصميم تجربة المشترك مع آليات تنفيذ الشركة</a:t>
              </a:r>
              <a:endParaRPr kumimoji="0" lang="en-IN" sz="1800" b="0" i="0" u="none" strike="noStrike" kern="0" cap="none" spc="0" normalizeH="0" baseline="0" noProof="0" dirty="0">
                <a:ln>
                  <a:noFill/>
                </a:ln>
                <a:solidFill>
                  <a:srgbClr val="2E2E38"/>
                </a:solidFill>
                <a:effectLst/>
                <a:uLnTx/>
                <a:uFillTx/>
                <a:latin typeface="Tajawal" panose="00000500000000000000" pitchFamily="2" charset="-78"/>
                <a:cs typeface="Tajawal" panose="00000500000000000000" pitchFamily="2" charset="-78"/>
              </a:endParaRPr>
            </a:p>
          </p:txBody>
        </p:sp>
        <p:sp>
          <p:nvSpPr>
            <p:cNvPr id="14" name="Freeform: Shape 13">
              <a:extLst>
                <a:ext uri="{FF2B5EF4-FFF2-40B4-BE49-F238E27FC236}">
                  <a16:creationId xmlns:a16="http://schemas.microsoft.com/office/drawing/2014/main" id="{36C7EE34-C46C-FD94-8AA6-86C6F638000F}"/>
                </a:ext>
              </a:extLst>
            </p:cNvPr>
            <p:cNvSpPr/>
            <p:nvPr/>
          </p:nvSpPr>
          <p:spPr>
            <a:xfrm>
              <a:off x="7608162" y="5510433"/>
              <a:ext cx="389701" cy="389701"/>
            </a:xfrm>
            <a:custGeom>
              <a:avLst/>
              <a:gdLst>
                <a:gd name="connsiteX0" fmla="*/ 389702 w 389701"/>
                <a:gd name="connsiteY0" fmla="*/ 194851 h 389701"/>
                <a:gd name="connsiteX1" fmla="*/ 194851 w 389701"/>
                <a:gd name="connsiteY1" fmla="*/ 389702 h 389701"/>
                <a:gd name="connsiteX2" fmla="*/ 0 w 389701"/>
                <a:gd name="connsiteY2" fmla="*/ 194851 h 389701"/>
                <a:gd name="connsiteX3" fmla="*/ 194851 w 389701"/>
                <a:gd name="connsiteY3" fmla="*/ 0 h 389701"/>
                <a:gd name="connsiteX4" fmla="*/ 389702 w 389701"/>
                <a:gd name="connsiteY4" fmla="*/ 194851 h 389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701" h="389701">
                  <a:moveTo>
                    <a:pt x="389702" y="194851"/>
                  </a:moveTo>
                  <a:cubicBezTo>
                    <a:pt x="389702" y="302464"/>
                    <a:pt x="302464" y="389702"/>
                    <a:pt x="194851" y="389702"/>
                  </a:cubicBezTo>
                  <a:cubicBezTo>
                    <a:pt x="87237" y="389702"/>
                    <a:pt x="0" y="302464"/>
                    <a:pt x="0" y="194851"/>
                  </a:cubicBezTo>
                  <a:cubicBezTo>
                    <a:pt x="0" y="87238"/>
                    <a:pt x="87237" y="0"/>
                    <a:pt x="194851" y="0"/>
                  </a:cubicBezTo>
                  <a:cubicBezTo>
                    <a:pt x="302464" y="0"/>
                    <a:pt x="389702" y="87238"/>
                    <a:pt x="389702" y="194851"/>
                  </a:cubicBezTo>
                  <a:close/>
                </a:path>
              </a:pathLst>
            </a:custGeom>
            <a:solidFill>
              <a:srgbClr val="2E2E38"/>
            </a:solidFill>
            <a:ln w="9859"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E2E38"/>
                </a:solidFill>
                <a:effectLst/>
                <a:uLnTx/>
                <a:uFillTx/>
                <a:latin typeface="Tajawal" panose="00000500000000000000" pitchFamily="2" charset="-78"/>
                <a:cs typeface="Tajawal" panose="00000500000000000000" pitchFamily="2" charset="-78"/>
              </a:endParaRPr>
            </a:p>
          </p:txBody>
        </p:sp>
        <p:sp>
          <p:nvSpPr>
            <p:cNvPr id="16" name="TextBox 15">
              <a:extLst>
                <a:ext uri="{FF2B5EF4-FFF2-40B4-BE49-F238E27FC236}">
                  <a16:creationId xmlns:a16="http://schemas.microsoft.com/office/drawing/2014/main" id="{009BE04E-3563-5543-9ACC-B4B4E18D2044}"/>
                </a:ext>
              </a:extLst>
            </p:cNvPr>
            <p:cNvSpPr txBox="1"/>
            <p:nvPr/>
          </p:nvSpPr>
          <p:spPr>
            <a:xfrm>
              <a:off x="1243451" y="3665299"/>
              <a:ext cx="1283318" cy="795185"/>
            </a:xfrm>
            <a:prstGeom prst="rect">
              <a:avLst/>
            </a:prstGeom>
            <a:noFill/>
            <a:ln>
              <a:noFill/>
            </a:ln>
          </p:spPr>
          <p:txBody>
            <a:bodyPr wrap="square" lIns="0" tIns="36576" rIns="0" bIns="0" rtlCol="0">
              <a:spAutoFit/>
            </a:bodyPr>
            <a:lstStyle/>
            <a:p>
              <a:pPr marL="0" marR="0" lvl="0" indent="0" algn="ctr" defTabSz="914400" eaLnBrk="1" fontAlgn="auto" latinLnBrk="0" hangingPunct="1">
                <a:lnSpc>
                  <a:spcPct val="100000"/>
                </a:lnSpc>
                <a:spcBef>
                  <a:spcPts val="0"/>
                </a:spcBef>
                <a:spcAft>
                  <a:spcPts val="300"/>
                </a:spcAft>
                <a:buClr>
                  <a:srgbClr val="27ACAA"/>
                </a:buClr>
                <a:buSzPct val="70000"/>
                <a:buFontTx/>
                <a:buNone/>
                <a:tabLst/>
                <a:defRPr/>
              </a:pPr>
              <a:r>
                <a:rPr kumimoji="0" lang="ar-LY" sz="1400" b="1" i="0" u="none" strike="noStrike" kern="0" cap="none" spc="0" normalizeH="0" baseline="0" noProof="0" dirty="0">
                  <a:ln>
                    <a:noFill/>
                  </a:ln>
                  <a:solidFill>
                    <a:schemeClr val="bg1"/>
                  </a:solidFill>
                  <a:effectLst/>
                  <a:uLnTx/>
                  <a:uFillTx/>
                  <a:latin typeface="Tajawal" panose="00000500000000000000" pitchFamily="2" charset="-78"/>
                  <a:cs typeface="Tajawal" panose="00000500000000000000" pitchFamily="2" charset="-78"/>
                </a:rPr>
                <a:t>التقييم</a:t>
              </a:r>
              <a:endParaRPr kumimoji="0" lang="en-IN" sz="1400" b="1" i="0" u="none" strike="noStrike" kern="0" cap="none" spc="0" normalizeH="0" baseline="0" noProof="0" dirty="0">
                <a:ln>
                  <a:noFill/>
                </a:ln>
                <a:solidFill>
                  <a:schemeClr val="bg1"/>
                </a:solidFill>
                <a:effectLst/>
                <a:uLnTx/>
                <a:uFillTx/>
                <a:latin typeface="Tajawal" panose="00000500000000000000" pitchFamily="2" charset="-78"/>
                <a:cs typeface="Tajawal" panose="00000500000000000000" pitchFamily="2" charset="-78"/>
              </a:endParaRPr>
            </a:p>
            <a:p>
              <a:pPr algn="ctr"/>
              <a:r>
                <a:rPr lang="ar-LY" sz="1050" dirty="0">
                  <a:solidFill>
                    <a:schemeClr val="bg1"/>
                  </a:solidFill>
                  <a:latin typeface="Tajawal" panose="00000500000000000000" pitchFamily="2" charset="-78"/>
                  <a:cs typeface="Tajawal" panose="00000500000000000000" pitchFamily="2" charset="-78"/>
                </a:rPr>
                <a:t>تحليل البيانات لرسم خرائط الفجوات في تجربة المشترك</a:t>
              </a:r>
              <a:endParaRPr lang="en-US" sz="1050" dirty="0">
                <a:solidFill>
                  <a:schemeClr val="bg1"/>
                </a:solidFill>
                <a:latin typeface="Tajawal" panose="00000500000000000000" pitchFamily="2" charset="-78"/>
                <a:cs typeface="Tajawal" panose="00000500000000000000" pitchFamily="2" charset="-78"/>
              </a:endParaRPr>
            </a:p>
          </p:txBody>
        </p:sp>
        <p:sp>
          <p:nvSpPr>
            <p:cNvPr id="17" name="Rectangle 16">
              <a:extLst>
                <a:ext uri="{FF2B5EF4-FFF2-40B4-BE49-F238E27FC236}">
                  <a16:creationId xmlns:a16="http://schemas.microsoft.com/office/drawing/2014/main" id="{684D2B70-6217-429D-012B-BA6668688FD7}"/>
                </a:ext>
              </a:extLst>
            </p:cNvPr>
            <p:cNvSpPr/>
            <p:nvPr/>
          </p:nvSpPr>
          <p:spPr>
            <a:xfrm>
              <a:off x="486025" y="5087442"/>
              <a:ext cx="2604212" cy="768130"/>
            </a:xfrm>
            <a:prstGeom prst="rect">
              <a:avLst/>
            </a:prstGeom>
            <a:noFill/>
            <a:ln w="9525"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defRPr/>
              </a:pPr>
              <a:r>
                <a:rPr kumimoji="0" lang="ar-LY" sz="1600" b="1" i="0" u="none" strike="noStrike" kern="0" cap="none" spc="0" normalizeH="0" baseline="0" noProof="0" dirty="0">
                  <a:ln>
                    <a:noFill/>
                  </a:ln>
                  <a:solidFill>
                    <a:srgbClr val="5C3666"/>
                  </a:solidFill>
                  <a:effectLst/>
                  <a:uLnTx/>
                  <a:uFillTx/>
                  <a:latin typeface="Tajawal" panose="00000500000000000000" pitchFamily="2" charset="-78"/>
                  <a:cs typeface="Tajawal" panose="00000500000000000000" pitchFamily="2" charset="-78"/>
                </a:rPr>
                <a:t>مراجعة 65 مستند</a:t>
              </a:r>
              <a:endParaRPr kumimoji="0" lang="en-US" sz="1600" b="1" i="0" u="none" strike="noStrike" kern="0" cap="none" spc="0" normalizeH="0" baseline="0" noProof="0" dirty="0">
                <a:ln>
                  <a:noFill/>
                </a:ln>
                <a:solidFill>
                  <a:srgbClr val="5C3666"/>
                </a:solidFill>
                <a:effectLst/>
                <a:uLnTx/>
                <a:uFillTx/>
                <a:latin typeface="Tajawal" panose="00000500000000000000" pitchFamily="2" charset="-78"/>
                <a:cs typeface="Tajawal" panose="00000500000000000000" pitchFamily="2" charset="-78"/>
              </a:endParaRPr>
            </a:p>
            <a:p>
              <a:pPr algn="ctr">
                <a:defRPr/>
              </a:pPr>
              <a:r>
                <a:rPr lang="ar-LY" sz="1200" dirty="0">
                  <a:latin typeface="Tajawal" panose="00000500000000000000" pitchFamily="2" charset="-78"/>
                  <a:cs typeface="Tajawal" panose="00000500000000000000" pitchFamily="2" charset="-78"/>
                </a:rPr>
                <a:t>دمج مراجعة المستندات، ومدخلات أصحاب المصلحة، وتحليل قنوات الخدمة</a:t>
              </a:r>
              <a:endParaRPr lang="en-US" sz="1200" dirty="0">
                <a:latin typeface="Tajawal" panose="00000500000000000000" pitchFamily="2" charset="-78"/>
                <a:cs typeface="Tajawal" panose="00000500000000000000" pitchFamily="2" charset="-78"/>
              </a:endParaRPr>
            </a:p>
            <a:p>
              <a:pPr>
                <a:defRPr/>
              </a:pPr>
              <a:endParaRPr kumimoji="0" lang="en-US" sz="1200" b="0" i="0" u="none" strike="noStrike" kern="0" cap="none" spc="0" normalizeH="0" baseline="0" noProof="0" dirty="0">
                <a:ln>
                  <a:noFill/>
                </a:ln>
                <a:solidFill>
                  <a:srgbClr val="2E2E38"/>
                </a:solidFill>
                <a:effectLst/>
                <a:uLnTx/>
                <a:uFillTx/>
                <a:latin typeface="Tajawal" panose="00000500000000000000" pitchFamily="2" charset="-78"/>
                <a:cs typeface="Tajawal" panose="00000500000000000000" pitchFamily="2" charset="-78"/>
              </a:endParaRPr>
            </a:p>
          </p:txBody>
        </p:sp>
      </p:grpSp>
      <p:sp>
        <p:nvSpPr>
          <p:cNvPr id="9" name="TextBox 8">
            <a:extLst>
              <a:ext uri="{FF2B5EF4-FFF2-40B4-BE49-F238E27FC236}">
                <a16:creationId xmlns:a16="http://schemas.microsoft.com/office/drawing/2014/main" id="{DDE42F61-29B5-7AC6-77F1-A54A2450675C}"/>
              </a:ext>
            </a:extLst>
          </p:cNvPr>
          <p:cNvSpPr txBox="1"/>
          <p:nvPr/>
        </p:nvSpPr>
        <p:spPr>
          <a:xfrm>
            <a:off x="9167102" y="2615189"/>
            <a:ext cx="1933860" cy="892552"/>
          </a:xfrm>
          <a:prstGeom prst="rect">
            <a:avLst/>
          </a:prstGeom>
          <a:noFill/>
        </p:spPr>
        <p:txBody>
          <a:bodyPr wrap="square" rtlCol="0">
            <a:spAutoFit/>
          </a:bodyPr>
          <a:lstStyle/>
          <a:p>
            <a:pPr algn="ctr"/>
            <a:r>
              <a:rPr lang="ar-LY" sz="1600" b="1" kern="0" dirty="0">
                <a:solidFill>
                  <a:srgbClr val="E59EDD"/>
                </a:solidFill>
                <a:latin typeface="Tajawal" panose="00000500000000000000" pitchFamily="2" charset="-78"/>
                <a:cs typeface="Tajawal" panose="00000500000000000000" pitchFamily="2" charset="-78"/>
              </a:rPr>
              <a:t>12 مبادرة</a:t>
            </a:r>
            <a:endParaRPr lang="en-US" sz="1600" b="1" kern="0" dirty="0">
              <a:solidFill>
                <a:srgbClr val="E59EDD"/>
              </a:solidFill>
              <a:latin typeface="Tajawal" panose="00000500000000000000" pitchFamily="2" charset="-78"/>
              <a:cs typeface="Tajawal" panose="00000500000000000000" pitchFamily="2" charset="-78"/>
            </a:endParaRPr>
          </a:p>
          <a:p>
            <a:pPr algn="ctr"/>
            <a:r>
              <a:rPr lang="ar-LY" sz="1200" dirty="0">
                <a:latin typeface="Tajawal" panose="00000500000000000000" pitchFamily="2" charset="-78"/>
                <a:cs typeface="Tajawal" panose="00000500000000000000" pitchFamily="2" charset="-78"/>
              </a:rPr>
              <a:t>الإنجازات السريعة، وأولويات المدى المتوسط، ورؤية تجربة المشترك طويلة الأمد</a:t>
            </a:r>
            <a:endParaRPr lang="en-US" dirty="0">
              <a:latin typeface="Tajawal" panose="00000500000000000000" pitchFamily="2" charset="-78"/>
              <a:cs typeface="Tajawal" panose="00000500000000000000" pitchFamily="2" charset="-78"/>
            </a:endParaRPr>
          </a:p>
        </p:txBody>
      </p:sp>
      <p:sp>
        <p:nvSpPr>
          <p:cNvPr id="2" name="Rectangle 1">
            <a:extLst>
              <a:ext uri="{FF2B5EF4-FFF2-40B4-BE49-F238E27FC236}">
                <a16:creationId xmlns:a16="http://schemas.microsoft.com/office/drawing/2014/main" id="{C259BF12-3549-CC54-D4C5-ED4EDC30625B}"/>
              </a:ext>
            </a:extLst>
          </p:cNvPr>
          <p:cNvSpPr/>
          <p:nvPr/>
        </p:nvSpPr>
        <p:spPr>
          <a:xfrm>
            <a:off x="446086" y="1437019"/>
            <a:ext cx="1872606" cy="576682"/>
          </a:xfrm>
          <a:prstGeom prst="rect">
            <a:avLst/>
          </a:prstGeom>
          <a:solidFill>
            <a:srgbClr val="5C3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LY" sz="1400" dirty="0">
                <a:latin typeface="Tajawal" panose="00000500000000000000" pitchFamily="2" charset="-78"/>
                <a:cs typeface="Tajawal" panose="00000500000000000000" pitchFamily="2" charset="-78"/>
              </a:rPr>
              <a:t>تقييم الوضع الحالي</a:t>
            </a:r>
            <a:endParaRPr lang="fr-FR" sz="1400" dirty="0">
              <a:latin typeface="Tajawal" panose="00000500000000000000" pitchFamily="2" charset="-78"/>
              <a:cs typeface="Tajawal" panose="00000500000000000000" pitchFamily="2" charset="-78"/>
            </a:endParaRPr>
          </a:p>
        </p:txBody>
      </p:sp>
      <p:sp>
        <p:nvSpPr>
          <p:cNvPr id="5" name="Rectangle 4">
            <a:extLst>
              <a:ext uri="{FF2B5EF4-FFF2-40B4-BE49-F238E27FC236}">
                <a16:creationId xmlns:a16="http://schemas.microsoft.com/office/drawing/2014/main" id="{2A49CFE2-AB99-8171-1F89-0D21810826AA}"/>
              </a:ext>
            </a:extLst>
          </p:cNvPr>
          <p:cNvSpPr/>
          <p:nvPr/>
        </p:nvSpPr>
        <p:spPr>
          <a:xfrm>
            <a:off x="2453476" y="1437019"/>
            <a:ext cx="3194183" cy="576682"/>
          </a:xfrm>
          <a:prstGeom prst="rect">
            <a:avLst/>
          </a:prstGeom>
          <a:gradFill flip="none" rotWithShape="1">
            <a:gsLst>
              <a:gs pos="100000">
                <a:srgbClr val="A02B93"/>
              </a:gs>
              <a:gs pos="0">
                <a:srgbClr val="78206E"/>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LY" sz="1400" dirty="0">
                <a:latin typeface="Tajawal" panose="00000500000000000000" pitchFamily="2" charset="-78"/>
                <a:cs typeface="Tajawal" panose="00000500000000000000" pitchFamily="2" charset="-78"/>
              </a:rPr>
              <a:t>الشرائح والشخصيات</a:t>
            </a:r>
            <a:endParaRPr lang="fr-FR" sz="1400" dirty="0">
              <a:latin typeface="Tajawal" panose="00000500000000000000" pitchFamily="2" charset="-78"/>
              <a:cs typeface="Tajawal" panose="00000500000000000000" pitchFamily="2" charset="-78"/>
            </a:endParaRPr>
          </a:p>
        </p:txBody>
      </p:sp>
      <p:sp>
        <p:nvSpPr>
          <p:cNvPr id="8" name="Rectangle 7">
            <a:extLst>
              <a:ext uri="{FF2B5EF4-FFF2-40B4-BE49-F238E27FC236}">
                <a16:creationId xmlns:a16="http://schemas.microsoft.com/office/drawing/2014/main" id="{6D5BA99E-CB2D-D42A-A72E-328B26B7650A}"/>
              </a:ext>
            </a:extLst>
          </p:cNvPr>
          <p:cNvSpPr/>
          <p:nvPr/>
        </p:nvSpPr>
        <p:spPr>
          <a:xfrm>
            <a:off x="5772984" y="1437019"/>
            <a:ext cx="2108997" cy="576682"/>
          </a:xfrm>
          <a:prstGeom prst="rect">
            <a:avLst/>
          </a:prstGeom>
          <a:solidFill>
            <a:srgbClr val="B92D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LY" sz="1400" dirty="0">
                <a:latin typeface="Tajawal" panose="00000500000000000000" pitchFamily="2" charset="-78"/>
                <a:cs typeface="Tajawal" panose="00000500000000000000" pitchFamily="2" charset="-78"/>
              </a:rPr>
              <a:t>تحديد ورسم رحلة المشتركين</a:t>
            </a:r>
            <a:endParaRPr lang="fr-FR" sz="1400" dirty="0">
              <a:latin typeface="Tajawal" panose="00000500000000000000" pitchFamily="2" charset="-78"/>
              <a:cs typeface="Tajawal" panose="00000500000000000000" pitchFamily="2" charset="-78"/>
            </a:endParaRPr>
          </a:p>
        </p:txBody>
      </p:sp>
      <p:sp>
        <p:nvSpPr>
          <p:cNvPr id="10" name="Rectangle 9">
            <a:extLst>
              <a:ext uri="{FF2B5EF4-FFF2-40B4-BE49-F238E27FC236}">
                <a16:creationId xmlns:a16="http://schemas.microsoft.com/office/drawing/2014/main" id="{32DB0A37-28A4-BAE4-DEBE-6462DE569720}"/>
              </a:ext>
            </a:extLst>
          </p:cNvPr>
          <p:cNvSpPr/>
          <p:nvPr/>
        </p:nvSpPr>
        <p:spPr>
          <a:xfrm>
            <a:off x="8007306" y="1437019"/>
            <a:ext cx="3523124" cy="576682"/>
          </a:xfrm>
          <a:prstGeom prst="rect">
            <a:avLst/>
          </a:prstGeom>
          <a:solidFill>
            <a:srgbClr val="D29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LY" sz="1400" dirty="0">
                <a:latin typeface="Tajawal" panose="00000500000000000000" pitchFamily="2" charset="-78"/>
                <a:cs typeface="Tajawal" panose="00000500000000000000" pitchFamily="2" charset="-78"/>
              </a:rPr>
              <a:t>مخطط هيكل الخدمة</a:t>
            </a:r>
            <a:endParaRPr lang="fr-FR" sz="1400" dirty="0">
              <a:latin typeface="Tajawal" panose="00000500000000000000" pitchFamily="2" charset="-78"/>
              <a:cs typeface="Tajawal" panose="00000500000000000000" pitchFamily="2" charset="-78"/>
            </a:endParaRPr>
          </a:p>
        </p:txBody>
      </p:sp>
    </p:spTree>
    <p:extLst>
      <p:ext uri="{BB962C8B-B14F-4D97-AF65-F5344CB8AC3E}">
        <p14:creationId xmlns:p14="http://schemas.microsoft.com/office/powerpoint/2010/main" val="3493240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155AA-3874-0419-B9A2-FEAB0E8B0ADE}"/>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1CCB80A-4440-2321-D252-34C64242C04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4" name="think-cell data - do not delete" hidden="1">
                        <a:extLst>
                          <a:ext uri="{FF2B5EF4-FFF2-40B4-BE49-F238E27FC236}">
                            <a16:creationId xmlns:a16="http://schemas.microsoft.com/office/drawing/2014/main" id="{E1CCB80A-4440-2321-D252-34C64242C04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3" name="Picture 53">
            <a:extLst>
              <a:ext uri="{FF2B5EF4-FFF2-40B4-BE49-F238E27FC236}">
                <a16:creationId xmlns:a16="http://schemas.microsoft.com/office/drawing/2014/main" id="{2FD7BAE0-0394-D83C-CE09-223AECDAD49C}"/>
              </a:ext>
            </a:extLst>
          </p:cNvPr>
          <p:cNvPicPr>
            <a:picLocks noChangeAspect="1"/>
          </p:cNvPicPr>
          <p:nvPr/>
        </p:nvPicPr>
        <p:blipFill>
          <a:blip r:embed="rId6"/>
          <a:stretch>
            <a:fillRect/>
          </a:stretch>
        </p:blipFill>
        <p:spPr>
          <a:xfrm>
            <a:off x="-877948" y="1026457"/>
            <a:ext cx="609600" cy="4981575"/>
          </a:xfrm>
          <a:prstGeom prst="rect">
            <a:avLst/>
          </a:prstGeom>
        </p:spPr>
      </p:pic>
      <p:sp>
        <p:nvSpPr>
          <p:cNvPr id="25" name="TextBox 129">
            <a:extLst>
              <a:ext uri="{FF2B5EF4-FFF2-40B4-BE49-F238E27FC236}">
                <a16:creationId xmlns:a16="http://schemas.microsoft.com/office/drawing/2014/main" id="{23C3C15D-ED27-E9F5-DF90-7FBCC3E296E5}"/>
              </a:ext>
            </a:extLst>
          </p:cNvPr>
          <p:cNvSpPr txBox="1"/>
          <p:nvPr/>
        </p:nvSpPr>
        <p:spPr>
          <a:xfrm>
            <a:off x="2491789" y="3512802"/>
            <a:ext cx="1089667" cy="306238"/>
          </a:xfrm>
          <a:prstGeom prst="rect">
            <a:avLst/>
          </a:prstGeom>
          <a:noFill/>
        </p:spPr>
        <p:txBody>
          <a:bodyPr wrap="square" lIns="0" tIns="18288" rIns="0" bIns="0" rtlCol="0" anchor="t">
            <a:spAutoFit/>
          </a:bodyPr>
          <a:lstStyle>
            <a:defPPr>
              <a:defRPr lang="en-T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54734">
              <a:lnSpc>
                <a:spcPct val="85000"/>
              </a:lnSpc>
              <a:spcAft>
                <a:spcPts val="300"/>
              </a:spcAft>
              <a:buClr>
                <a:srgbClr val="3B5E33"/>
              </a:buClr>
              <a:buSzPct val="70000"/>
            </a:pPr>
            <a:r>
              <a:rPr lang="en-US" sz="1100">
                <a:solidFill>
                  <a:schemeClr val="bg1"/>
                </a:solidFill>
                <a:latin typeface="EYInterstate Light" panose="02000506000000020004" pitchFamily="2" charset="0"/>
                <a:cs typeface="SST Arabic" panose="020B0504030504020204" pitchFamily="34" charset="-78"/>
              </a:rPr>
              <a:t>Marketing and communication</a:t>
            </a:r>
          </a:p>
        </p:txBody>
      </p:sp>
      <p:pic>
        <p:nvPicPr>
          <p:cNvPr id="26" name="Graphic 1" descr="Megaphone with solid fill">
            <a:extLst>
              <a:ext uri="{FF2B5EF4-FFF2-40B4-BE49-F238E27FC236}">
                <a16:creationId xmlns:a16="http://schemas.microsoft.com/office/drawing/2014/main" id="{DF936D6A-CCFD-A9FB-407D-70BFD3E9065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33311" y="2961138"/>
            <a:ext cx="371611" cy="376996"/>
          </a:xfrm>
          <a:prstGeom prst="rect">
            <a:avLst/>
          </a:prstGeom>
        </p:spPr>
      </p:pic>
      <p:sp>
        <p:nvSpPr>
          <p:cNvPr id="27" name="AutoShape 2" descr="Call center with solid fill">
            <a:extLst>
              <a:ext uri="{FF2B5EF4-FFF2-40B4-BE49-F238E27FC236}">
                <a16:creationId xmlns:a16="http://schemas.microsoft.com/office/drawing/2014/main" id="{38E4CE72-83B1-565B-4A47-FE13EBF40D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8" name="AutoShape 4" descr="Call center with solid fill">
            <a:extLst>
              <a:ext uri="{FF2B5EF4-FFF2-40B4-BE49-F238E27FC236}">
                <a16:creationId xmlns:a16="http://schemas.microsoft.com/office/drawing/2014/main" id="{07E74B9F-89A7-BB86-C032-8FBC0F9FB50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 name="Title 7">
            <a:extLst>
              <a:ext uri="{FF2B5EF4-FFF2-40B4-BE49-F238E27FC236}">
                <a16:creationId xmlns:a16="http://schemas.microsoft.com/office/drawing/2014/main" id="{E455C404-75E0-85BA-CBAA-6AB4421A4741}"/>
              </a:ext>
            </a:extLst>
          </p:cNvPr>
          <p:cNvSpPr txBox="1">
            <a:spLocks/>
          </p:cNvSpPr>
          <p:nvPr/>
        </p:nvSpPr>
        <p:spPr>
          <a:xfrm>
            <a:off x="599800" y="316277"/>
            <a:ext cx="11062949" cy="313033"/>
          </a:xfrm>
          <a:prstGeom prst="rect">
            <a:avLst/>
          </a:prstGeom>
        </p:spPr>
        <p:txBody>
          <a:bodyPr vert="horz"/>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799" b="1">
                <a:solidFill>
                  <a:srgbClr val="7F3381"/>
                </a:solidFill>
                <a:latin typeface="EYInterstate Regular" panose="02000503020000020004" pitchFamily="2" charset="0"/>
              </a:rPr>
              <a:t>Co-creation Workshop – Day 1 &amp; 2</a:t>
            </a:r>
            <a:endParaRPr kumimoji="0" lang="en-US" sz="1799" b="1" i="0" u="none" strike="noStrike" kern="1200" cap="none" spc="0" normalizeH="0" baseline="0" noProof="0">
              <a:ln>
                <a:noFill/>
              </a:ln>
              <a:solidFill>
                <a:srgbClr val="7F3381"/>
              </a:solidFill>
              <a:effectLst/>
              <a:uLnTx/>
              <a:uFillTx/>
              <a:latin typeface="EYInterstate Regular" panose="02000503020000020004" pitchFamily="2" charset="0"/>
              <a:ea typeface="+mj-ea"/>
              <a:cs typeface="+mj-cs"/>
            </a:endParaRPr>
          </a:p>
        </p:txBody>
      </p:sp>
      <p:sp>
        <p:nvSpPr>
          <p:cNvPr id="3" name="TextBox 2">
            <a:extLst>
              <a:ext uri="{FF2B5EF4-FFF2-40B4-BE49-F238E27FC236}">
                <a16:creationId xmlns:a16="http://schemas.microsoft.com/office/drawing/2014/main" id="{D24CEA5B-632E-6A8F-81E3-84CB7D8C678A}"/>
              </a:ext>
            </a:extLst>
          </p:cNvPr>
          <p:cNvSpPr txBox="1"/>
          <p:nvPr/>
        </p:nvSpPr>
        <p:spPr>
          <a:xfrm>
            <a:off x="652882" y="619368"/>
            <a:ext cx="11338887" cy="554112"/>
          </a:xfrm>
          <a:prstGeom prst="rect">
            <a:avLst/>
          </a:prstGeom>
          <a:noFill/>
          <a:ln w="9525" cap="flat" cmpd="sng" algn="ctr">
            <a:noFill/>
            <a:prstDash val="solid"/>
          </a:ln>
          <a:effectLst/>
        </p:spPr>
        <p:txBody>
          <a:bodyPr lIns="45648" rIns="0" rtlCol="0" anchor="t"/>
          <a:lstStyle>
            <a:defPPr>
              <a:defRPr lang="fr-FR"/>
            </a:defPPr>
            <a:lvl1pPr defTabSz="1220470">
              <a:spcAft>
                <a:spcPts val="1199"/>
              </a:spcAft>
              <a:defRPr sz="999">
                <a:solidFill>
                  <a:srgbClr val="000000">
                    <a:lumMod val="65000"/>
                    <a:lumOff val="35000"/>
                  </a:srgbClr>
                </a:solidFill>
                <a:cs typeface="Calibri Light" panose="020F0302020204030204" pitchFamily="34" charset="0"/>
              </a:defRPr>
            </a:lvl1pPr>
          </a:lstStyle>
          <a:p>
            <a:pPr lvl="0">
              <a:defRPr/>
            </a:pPr>
            <a:r>
              <a:rPr lang="en-US" sz="1400">
                <a:solidFill>
                  <a:srgbClr val="7F3381"/>
                </a:solidFill>
                <a:latin typeface="EYInterstate Regular" panose="02000503020000020004" pitchFamily="2" charset="0"/>
              </a:rPr>
              <a:t>Key moments captured</a:t>
            </a:r>
          </a:p>
        </p:txBody>
      </p:sp>
      <p:pic>
        <p:nvPicPr>
          <p:cNvPr id="7" name="Picture 6" descr="A group of people sitting around round tables&#10;&#10;AI-generated content may be incorrect.">
            <a:extLst>
              <a:ext uri="{FF2B5EF4-FFF2-40B4-BE49-F238E27FC236}">
                <a16:creationId xmlns:a16="http://schemas.microsoft.com/office/drawing/2014/main" id="{EEE679AC-D258-C6C5-DF4D-34EA67336A3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63951" y="3976457"/>
            <a:ext cx="2268000" cy="1700999"/>
          </a:xfrm>
          <a:prstGeom prst="rect">
            <a:avLst/>
          </a:prstGeom>
        </p:spPr>
      </p:pic>
      <p:pic>
        <p:nvPicPr>
          <p:cNvPr id="9" name="Picture 8" descr="A group of people sitting around tables&#10;&#10;AI-generated content may be incorrect.">
            <a:extLst>
              <a:ext uri="{FF2B5EF4-FFF2-40B4-BE49-F238E27FC236}">
                <a16:creationId xmlns:a16="http://schemas.microsoft.com/office/drawing/2014/main" id="{9A78BA99-3F47-14F2-DE0A-755D29D00A4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699311" y="3966318"/>
            <a:ext cx="2268000" cy="1700999"/>
          </a:xfrm>
          <a:prstGeom prst="rect">
            <a:avLst/>
          </a:prstGeom>
        </p:spPr>
      </p:pic>
      <p:pic>
        <p:nvPicPr>
          <p:cNvPr id="11" name="Picture 10" descr="A group of men looking at a paper&#10;&#10;AI-generated content may be incorrect.">
            <a:extLst>
              <a:ext uri="{FF2B5EF4-FFF2-40B4-BE49-F238E27FC236}">
                <a16:creationId xmlns:a16="http://schemas.microsoft.com/office/drawing/2014/main" id="{5CC3E81B-D703-0570-26A9-0E1FCA30C29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195900" y="1234329"/>
            <a:ext cx="1956960" cy="2609280"/>
          </a:xfrm>
          <a:prstGeom prst="rect">
            <a:avLst/>
          </a:prstGeom>
        </p:spPr>
      </p:pic>
      <p:pic>
        <p:nvPicPr>
          <p:cNvPr id="14" name="Picture 13" descr="A group of people around a table&#10;&#10;AI-generated content may be incorrect.">
            <a:extLst>
              <a:ext uri="{FF2B5EF4-FFF2-40B4-BE49-F238E27FC236}">
                <a16:creationId xmlns:a16="http://schemas.microsoft.com/office/drawing/2014/main" id="{77286854-B5DD-6ABD-6DC7-7A7E402601B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625529" y="3976457"/>
            <a:ext cx="2268000" cy="1700999"/>
          </a:xfrm>
          <a:prstGeom prst="rect">
            <a:avLst/>
          </a:prstGeom>
        </p:spPr>
      </p:pic>
      <p:pic>
        <p:nvPicPr>
          <p:cNvPr id="16" name="Picture 15" descr="A group of sticky notes on a white board&#10;&#10;AI-generated content may be incorrect.">
            <a:extLst>
              <a:ext uri="{FF2B5EF4-FFF2-40B4-BE49-F238E27FC236}">
                <a16:creationId xmlns:a16="http://schemas.microsoft.com/office/drawing/2014/main" id="{4F180B4A-DF09-8E4E-6BC7-FCC2C3FE694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049578" y="1234329"/>
            <a:ext cx="1956960" cy="2609280"/>
          </a:xfrm>
          <a:prstGeom prst="rect">
            <a:avLst/>
          </a:prstGeom>
        </p:spPr>
      </p:pic>
      <p:pic>
        <p:nvPicPr>
          <p:cNvPr id="18" name="Picture 17" descr="A group of people standing in front of a white board&#10;&#10;AI-generated content may be incorrect.">
            <a:extLst>
              <a:ext uri="{FF2B5EF4-FFF2-40B4-BE49-F238E27FC236}">
                <a16:creationId xmlns:a16="http://schemas.microsoft.com/office/drawing/2014/main" id="{8B33394C-1D9B-B464-17AF-859AF01F528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721731" y="1235249"/>
            <a:ext cx="1956960" cy="2609280"/>
          </a:xfrm>
          <a:prstGeom prst="rect">
            <a:avLst/>
          </a:prstGeom>
        </p:spPr>
      </p:pic>
      <p:pic>
        <p:nvPicPr>
          <p:cNvPr id="20" name="Picture 19" descr="A person looking at a white board&#10;&#10;AI-generated content may be incorrect.">
            <a:extLst>
              <a:ext uri="{FF2B5EF4-FFF2-40B4-BE49-F238E27FC236}">
                <a16:creationId xmlns:a16="http://schemas.microsoft.com/office/drawing/2014/main" id="{130ADEE4-20EF-0A00-A058-C1EB659D7FA3}"/>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087107" y="3966317"/>
            <a:ext cx="2268000" cy="1700999"/>
          </a:xfrm>
          <a:prstGeom prst="rect">
            <a:avLst/>
          </a:prstGeom>
        </p:spPr>
      </p:pic>
      <p:pic>
        <p:nvPicPr>
          <p:cNvPr id="22" name="Picture 21" descr="A group of people around a table looking at a board game&#10;&#10;AI-generated content may be incorrect.">
            <a:extLst>
              <a:ext uri="{FF2B5EF4-FFF2-40B4-BE49-F238E27FC236}">
                <a16:creationId xmlns:a16="http://schemas.microsoft.com/office/drawing/2014/main" id="{22D73C99-6028-E8FC-D3D1-C2A01E11BA95}"/>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6478527" y="1234329"/>
            <a:ext cx="1956960" cy="2609280"/>
          </a:xfrm>
          <a:prstGeom prst="rect">
            <a:avLst/>
          </a:prstGeom>
        </p:spPr>
      </p:pic>
    </p:spTree>
    <p:extLst>
      <p:ext uri="{BB962C8B-B14F-4D97-AF65-F5344CB8AC3E}">
        <p14:creationId xmlns:p14="http://schemas.microsoft.com/office/powerpoint/2010/main" val="760050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840B-E214-DFE3-462C-4A9A7A355CD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5C0B8CB-9566-8548-18CF-E372A5CFA7E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4" name="think-cell data - do not delete" hidden="1">
                        <a:extLst>
                          <a:ext uri="{FF2B5EF4-FFF2-40B4-BE49-F238E27FC236}">
                            <a16:creationId xmlns:a16="http://schemas.microsoft.com/office/drawing/2014/main" id="{45C0B8CB-9566-8548-18CF-E372A5CFA7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3" name="Picture 53">
            <a:extLst>
              <a:ext uri="{FF2B5EF4-FFF2-40B4-BE49-F238E27FC236}">
                <a16:creationId xmlns:a16="http://schemas.microsoft.com/office/drawing/2014/main" id="{096C2D83-7CAA-7D9D-B23F-779E8A9DE3BC}"/>
              </a:ext>
            </a:extLst>
          </p:cNvPr>
          <p:cNvPicPr>
            <a:picLocks noChangeAspect="1"/>
          </p:cNvPicPr>
          <p:nvPr/>
        </p:nvPicPr>
        <p:blipFill>
          <a:blip r:embed="rId6"/>
          <a:stretch>
            <a:fillRect/>
          </a:stretch>
        </p:blipFill>
        <p:spPr>
          <a:xfrm>
            <a:off x="-877948" y="1026457"/>
            <a:ext cx="609600" cy="4981575"/>
          </a:xfrm>
          <a:prstGeom prst="rect">
            <a:avLst/>
          </a:prstGeom>
        </p:spPr>
      </p:pic>
      <p:sp>
        <p:nvSpPr>
          <p:cNvPr id="25" name="TextBox 129">
            <a:extLst>
              <a:ext uri="{FF2B5EF4-FFF2-40B4-BE49-F238E27FC236}">
                <a16:creationId xmlns:a16="http://schemas.microsoft.com/office/drawing/2014/main" id="{39BF4F3F-BAC2-A427-A142-B44200922536}"/>
              </a:ext>
            </a:extLst>
          </p:cNvPr>
          <p:cNvSpPr txBox="1"/>
          <p:nvPr/>
        </p:nvSpPr>
        <p:spPr>
          <a:xfrm>
            <a:off x="2491789" y="3512802"/>
            <a:ext cx="1089667" cy="306238"/>
          </a:xfrm>
          <a:prstGeom prst="rect">
            <a:avLst/>
          </a:prstGeom>
          <a:noFill/>
        </p:spPr>
        <p:txBody>
          <a:bodyPr wrap="square" lIns="0" tIns="18288" rIns="0" bIns="0" rtlCol="0" anchor="t">
            <a:spAutoFit/>
          </a:bodyPr>
          <a:lstStyle>
            <a:defPPr>
              <a:defRPr lang="en-T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54734">
              <a:lnSpc>
                <a:spcPct val="85000"/>
              </a:lnSpc>
              <a:spcAft>
                <a:spcPts val="300"/>
              </a:spcAft>
              <a:buClr>
                <a:srgbClr val="3B5E33"/>
              </a:buClr>
              <a:buSzPct val="70000"/>
            </a:pPr>
            <a:r>
              <a:rPr lang="en-US" sz="1100">
                <a:solidFill>
                  <a:schemeClr val="bg1"/>
                </a:solidFill>
                <a:latin typeface="EYInterstate Light" panose="02000506000000020004" pitchFamily="2" charset="0"/>
                <a:cs typeface="SST Arabic" panose="020B0504030504020204" pitchFamily="34" charset="-78"/>
              </a:rPr>
              <a:t>Marketing and communication</a:t>
            </a:r>
          </a:p>
        </p:txBody>
      </p:sp>
      <p:pic>
        <p:nvPicPr>
          <p:cNvPr id="26" name="Graphic 1" descr="Megaphone with solid fill">
            <a:extLst>
              <a:ext uri="{FF2B5EF4-FFF2-40B4-BE49-F238E27FC236}">
                <a16:creationId xmlns:a16="http://schemas.microsoft.com/office/drawing/2014/main" id="{961E3C25-9898-5C94-7ADD-5A58312C8F2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33311" y="2961138"/>
            <a:ext cx="371611" cy="376996"/>
          </a:xfrm>
          <a:prstGeom prst="rect">
            <a:avLst/>
          </a:prstGeom>
        </p:spPr>
      </p:pic>
      <p:sp>
        <p:nvSpPr>
          <p:cNvPr id="27" name="AutoShape 2" descr="Call center with solid fill">
            <a:extLst>
              <a:ext uri="{FF2B5EF4-FFF2-40B4-BE49-F238E27FC236}">
                <a16:creationId xmlns:a16="http://schemas.microsoft.com/office/drawing/2014/main" id="{F07A271F-D41A-1363-D9FC-E4223347179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8" name="AutoShape 4" descr="Call center with solid fill">
            <a:extLst>
              <a:ext uri="{FF2B5EF4-FFF2-40B4-BE49-F238E27FC236}">
                <a16:creationId xmlns:a16="http://schemas.microsoft.com/office/drawing/2014/main" id="{6C2A2415-E176-140B-4357-C70C9CE7FD0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 name="Title 7">
            <a:extLst>
              <a:ext uri="{FF2B5EF4-FFF2-40B4-BE49-F238E27FC236}">
                <a16:creationId xmlns:a16="http://schemas.microsoft.com/office/drawing/2014/main" id="{07C3C959-531D-D5B8-C93C-F4B5D798152C}"/>
              </a:ext>
            </a:extLst>
          </p:cNvPr>
          <p:cNvSpPr txBox="1">
            <a:spLocks/>
          </p:cNvSpPr>
          <p:nvPr/>
        </p:nvSpPr>
        <p:spPr>
          <a:xfrm>
            <a:off x="599800" y="316277"/>
            <a:ext cx="11062949" cy="313033"/>
          </a:xfrm>
          <a:prstGeom prst="rect">
            <a:avLst/>
          </a:prstGeom>
        </p:spPr>
        <p:txBody>
          <a:bodyPr vert="horz"/>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799" b="1">
                <a:solidFill>
                  <a:srgbClr val="7F3381"/>
                </a:solidFill>
                <a:latin typeface="EYInterstate Regular" panose="02000503020000020004" pitchFamily="2" charset="0"/>
              </a:rPr>
              <a:t>Onsite Observations– Day 3 &amp; 4</a:t>
            </a:r>
            <a:endParaRPr kumimoji="0" lang="en-US" sz="1799" b="1" i="0" u="none" strike="noStrike" kern="1200" cap="none" spc="0" normalizeH="0" baseline="0" noProof="0">
              <a:ln>
                <a:noFill/>
              </a:ln>
              <a:solidFill>
                <a:srgbClr val="7F3381"/>
              </a:solidFill>
              <a:effectLst/>
              <a:uLnTx/>
              <a:uFillTx/>
              <a:latin typeface="EYInterstate Regular" panose="02000503020000020004" pitchFamily="2" charset="0"/>
              <a:ea typeface="+mj-ea"/>
              <a:cs typeface="+mj-cs"/>
            </a:endParaRPr>
          </a:p>
        </p:txBody>
      </p:sp>
      <p:sp>
        <p:nvSpPr>
          <p:cNvPr id="3" name="TextBox 2">
            <a:extLst>
              <a:ext uri="{FF2B5EF4-FFF2-40B4-BE49-F238E27FC236}">
                <a16:creationId xmlns:a16="http://schemas.microsoft.com/office/drawing/2014/main" id="{EA888D37-D028-6C00-7FEB-1FF757EB1B58}"/>
              </a:ext>
            </a:extLst>
          </p:cNvPr>
          <p:cNvSpPr txBox="1"/>
          <p:nvPr/>
        </p:nvSpPr>
        <p:spPr>
          <a:xfrm>
            <a:off x="652882" y="619368"/>
            <a:ext cx="11338887" cy="554112"/>
          </a:xfrm>
          <a:prstGeom prst="rect">
            <a:avLst/>
          </a:prstGeom>
          <a:noFill/>
          <a:ln w="9525" cap="flat" cmpd="sng" algn="ctr">
            <a:noFill/>
            <a:prstDash val="solid"/>
          </a:ln>
          <a:effectLst/>
        </p:spPr>
        <p:txBody>
          <a:bodyPr lIns="45648" rIns="0" rtlCol="0" anchor="t"/>
          <a:lstStyle>
            <a:defPPr>
              <a:defRPr lang="fr-FR"/>
            </a:defPPr>
            <a:lvl1pPr defTabSz="1220470">
              <a:spcAft>
                <a:spcPts val="1199"/>
              </a:spcAft>
              <a:defRPr sz="999">
                <a:solidFill>
                  <a:srgbClr val="000000">
                    <a:lumMod val="65000"/>
                    <a:lumOff val="35000"/>
                  </a:srgbClr>
                </a:solidFill>
                <a:cs typeface="Calibri Light" panose="020F0302020204030204" pitchFamily="34" charset="0"/>
              </a:defRPr>
            </a:lvl1pPr>
          </a:lstStyle>
          <a:p>
            <a:pPr lvl="0">
              <a:defRPr/>
            </a:pPr>
            <a:r>
              <a:rPr lang="en-US" sz="1400">
                <a:solidFill>
                  <a:srgbClr val="7F3381"/>
                </a:solidFill>
                <a:latin typeface="EYInterstate Regular" panose="02000503020000020004" pitchFamily="2" charset="0"/>
              </a:rPr>
              <a:t>Key moments captured</a:t>
            </a:r>
          </a:p>
        </p:txBody>
      </p:sp>
      <p:pic>
        <p:nvPicPr>
          <p:cNvPr id="5" name="Picture 4" descr="A room with chairs and a table&#10;&#10;AI-generated content may be incorrect.">
            <a:extLst>
              <a:ext uri="{FF2B5EF4-FFF2-40B4-BE49-F238E27FC236}">
                <a16:creationId xmlns:a16="http://schemas.microsoft.com/office/drawing/2014/main" id="{94EFDA0B-D001-B974-E17A-C94A6C8895D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040650" y="1401798"/>
            <a:ext cx="1798078" cy="2201169"/>
          </a:xfrm>
          <a:prstGeom prst="rect">
            <a:avLst/>
          </a:prstGeom>
          <a:solidFill>
            <a:srgbClr val="FFFFFF">
              <a:shade val="85000"/>
            </a:srgbClr>
          </a:solidFill>
          <a:ln w="88900" cap="sq">
            <a:solidFill>
              <a:srgbClr val="FFFFFF"/>
            </a:solidFill>
            <a:miter lim="800000"/>
          </a:ln>
          <a:effectLst>
            <a:outerShdw blurRad="55000" dist="18000" dir="5400000" sx="14000" sy="14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descr="A room with chairs and a tv&#10;&#10;AI-generated content may be incorrect.">
            <a:extLst>
              <a:ext uri="{FF2B5EF4-FFF2-40B4-BE49-F238E27FC236}">
                <a16:creationId xmlns:a16="http://schemas.microsoft.com/office/drawing/2014/main" id="{DB85A74E-CDE4-719D-9ED3-86293CD06C0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95680" y="1401798"/>
            <a:ext cx="1761917" cy="2201169"/>
          </a:xfrm>
          <a:prstGeom prst="rect">
            <a:avLst/>
          </a:prstGeom>
          <a:solidFill>
            <a:srgbClr val="FFFFFF">
              <a:shade val="85000"/>
            </a:srgbClr>
          </a:solidFill>
          <a:ln w="88900" cap="sq">
            <a:solidFill>
              <a:srgbClr val="FFFFFF"/>
            </a:solidFill>
            <a:miter lim="800000"/>
          </a:ln>
          <a:effectLst>
            <a:outerShdw blurRad="55000" dist="18000" dir="5400000" sx="14000" sy="14000" algn="tl" rotWithShape="0">
              <a:srgbClr val="000000">
                <a:alpha val="5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5A14BA99-3892-EA7A-5732-646125600B9D}"/>
              </a:ext>
            </a:extLst>
          </p:cNvPr>
          <p:cNvPicPr>
            <a:picLocks noChangeAspect="1"/>
          </p:cNvPicPr>
          <p:nvPr/>
        </p:nvPicPr>
        <p:blipFill>
          <a:blip r:embed="rId11"/>
          <a:srcRect t="136"/>
          <a:stretch/>
        </p:blipFill>
        <p:spPr>
          <a:xfrm>
            <a:off x="9703336" y="4014079"/>
            <a:ext cx="1684285" cy="1556578"/>
          </a:xfrm>
          <a:prstGeom prst="rect">
            <a:avLst/>
          </a:prstGeom>
          <a:solidFill>
            <a:srgbClr val="FFFFFF">
              <a:shade val="85000"/>
            </a:srgbClr>
          </a:solidFill>
          <a:ln w="88900" cap="sq">
            <a:solidFill>
              <a:srgbClr val="FFFFFF"/>
            </a:solidFill>
            <a:miter lim="800000"/>
          </a:ln>
          <a:effectLst>
            <a:outerShdw blurRad="55000" dist="18000" dir="5400000" sx="14000" sy="14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descr="A white desk with a pink sign in front of it&#10;&#10;AI-generated content may be incorrect.">
            <a:extLst>
              <a:ext uri="{FF2B5EF4-FFF2-40B4-BE49-F238E27FC236}">
                <a16:creationId xmlns:a16="http://schemas.microsoft.com/office/drawing/2014/main" id="{5C9D9DB4-2193-34DB-6FAC-36955E9ADA1D}"/>
              </a:ext>
            </a:extLst>
          </p:cNvPr>
          <p:cNvPicPr>
            <a:picLocks noChangeAspect="1"/>
          </p:cNvPicPr>
          <p:nvPr/>
        </p:nvPicPr>
        <p:blipFill>
          <a:blip r:embed="rId12" cstate="print">
            <a:extLst>
              <a:ext uri="{28A0092B-C50C-407E-A947-70E740481C1C}">
                <a14:useLocalDpi xmlns:a14="http://schemas.microsoft.com/office/drawing/2010/main" val="0"/>
              </a:ext>
            </a:extLst>
          </a:blip>
          <a:srcRect t="70" b="48"/>
          <a:stretch/>
        </p:blipFill>
        <p:spPr>
          <a:xfrm>
            <a:off x="4409970" y="4045587"/>
            <a:ext cx="2784158" cy="1545455"/>
          </a:xfrm>
          <a:prstGeom prst="rect">
            <a:avLst/>
          </a:prstGeom>
          <a:solidFill>
            <a:srgbClr val="FFFFFF">
              <a:shade val="85000"/>
            </a:srgbClr>
          </a:solidFill>
          <a:ln w="88900" cap="sq">
            <a:solidFill>
              <a:srgbClr val="FFFFFF"/>
            </a:solidFill>
            <a:miter lim="800000"/>
          </a:ln>
          <a:effectLst>
            <a:outerShdw blurRad="55000" dist="18000" dir="5400000" sx="14000" sy="14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descr="A computer on a desk&#10;&#10;AI-generated content may be incorrect.">
            <a:extLst>
              <a:ext uri="{FF2B5EF4-FFF2-40B4-BE49-F238E27FC236}">
                <a16:creationId xmlns:a16="http://schemas.microsoft.com/office/drawing/2014/main" id="{0BB2F83D-DAFB-DB6C-2384-E46AE06B3C9B}"/>
              </a:ext>
            </a:extLst>
          </p:cNvPr>
          <p:cNvPicPr>
            <a:picLocks noChangeAspect="1"/>
          </p:cNvPicPr>
          <p:nvPr/>
        </p:nvPicPr>
        <p:blipFill>
          <a:blip r:embed="rId13" cstate="print">
            <a:extLst>
              <a:ext uri="{BEBA8EAE-BF5A-486C-A8C5-ECC9F3942E4B}">
                <a14:imgProps xmlns:a14="http://schemas.microsoft.com/office/drawing/2010/main">
                  <a14:imgLayer r:embed="rId14">
                    <a14:imgEffect>
                      <a14:sharpenSoften amount="11000"/>
                    </a14:imgEffect>
                    <a14:imgEffect>
                      <a14:brightnessContrast bright="30000" contrast="-26000"/>
                    </a14:imgEffect>
                  </a14:imgLayer>
                </a14:imgProps>
              </a:ext>
              <a:ext uri="{28A0092B-C50C-407E-A947-70E740481C1C}">
                <a14:useLocalDpi xmlns:a14="http://schemas.microsoft.com/office/drawing/2010/main" val="0"/>
              </a:ext>
            </a:extLst>
          </a:blip>
          <a:srcRect t="38" b="9"/>
          <a:stretch/>
        </p:blipFill>
        <p:spPr>
          <a:xfrm>
            <a:off x="5077565" y="1437237"/>
            <a:ext cx="2665530" cy="2165730"/>
          </a:xfrm>
          <a:prstGeom prst="rect">
            <a:avLst/>
          </a:prstGeom>
          <a:solidFill>
            <a:srgbClr val="FFFFFF">
              <a:shade val="85000"/>
            </a:srgbClr>
          </a:solidFill>
          <a:ln w="88900" cap="sq">
            <a:solidFill>
              <a:srgbClr val="FFFFFF"/>
            </a:solidFill>
            <a:miter lim="800000"/>
          </a:ln>
          <a:effectLst/>
          <a:scene3d>
            <a:camera prst="orthographicFront"/>
            <a:lightRig rig="twoPt" dir="t">
              <a:rot lat="0" lon="0" rev="7200000"/>
            </a:lightRig>
          </a:scene3d>
          <a:sp3d>
            <a:bevelT w="25400" h="19050"/>
            <a:contourClr>
              <a:srgbClr val="FFFFFF"/>
            </a:contourClr>
          </a:sp3d>
        </p:spPr>
      </p:pic>
      <p:pic>
        <p:nvPicPr>
          <p:cNvPr id="11" name="Picture 10" descr="A computer monitor and a microphone&#10;&#10;AI-generated content may be incorrect.">
            <a:extLst>
              <a:ext uri="{FF2B5EF4-FFF2-40B4-BE49-F238E27FC236}">
                <a16:creationId xmlns:a16="http://schemas.microsoft.com/office/drawing/2014/main" id="{A3DF84E5-9EDF-D56B-34FA-662A71D6157A}"/>
              </a:ext>
            </a:extLst>
          </p:cNvPr>
          <p:cNvPicPr>
            <a:picLocks noChangeAspect="1"/>
          </p:cNvPicPr>
          <p:nvPr/>
        </p:nvPicPr>
        <p:blipFill>
          <a:blip r:embed="rId15" cstate="print">
            <a:extLst>
              <a:ext uri="{BEBA8EAE-BF5A-486C-A8C5-ECC9F3942E4B}">
                <a14:imgProps xmlns:a14="http://schemas.microsoft.com/office/drawing/2010/main">
                  <a14:imgLayer r:embed="rId16">
                    <a14:imgEffect>
                      <a14:brightnessContrast bright="16000" contrast="-17000"/>
                    </a14:imgEffect>
                  </a14:imgLayer>
                </a14:imgProps>
              </a:ext>
              <a:ext uri="{28A0092B-C50C-407E-A947-70E740481C1C}">
                <a14:useLocalDpi xmlns:a14="http://schemas.microsoft.com/office/drawing/2010/main" val="0"/>
              </a:ext>
            </a:extLst>
          </a:blip>
          <a:srcRect t="40" r="232" b="129"/>
          <a:stretch/>
        </p:blipFill>
        <p:spPr>
          <a:xfrm>
            <a:off x="7964255" y="1428322"/>
            <a:ext cx="1786983" cy="2174645"/>
          </a:xfrm>
          <a:prstGeom prst="rect">
            <a:avLst/>
          </a:prstGeom>
          <a:solidFill>
            <a:srgbClr val="FFFFFF">
              <a:shade val="85000"/>
            </a:srgbClr>
          </a:solidFill>
          <a:ln w="88900" cap="sq">
            <a:solidFill>
              <a:srgbClr val="FFFFFF"/>
            </a:solidFill>
            <a:miter lim="800000"/>
          </a:ln>
          <a:effectLst/>
          <a:scene3d>
            <a:camera prst="orthographicFront"/>
            <a:lightRig rig="twoPt" dir="t">
              <a:rot lat="0" lon="0" rev="7200000"/>
            </a:lightRig>
          </a:scene3d>
          <a:sp3d>
            <a:bevelT w="25400" h="19050"/>
            <a:contourClr>
              <a:srgbClr val="FFFFFF"/>
            </a:contourClr>
          </a:sp3d>
        </p:spPr>
      </p:pic>
      <p:pic>
        <p:nvPicPr>
          <p:cNvPr id="14" name="Picture 13" descr="A person sitting at a desk in a room with glass doors&#10;&#10;AI-generated content may be incorrect.">
            <a:extLst>
              <a:ext uri="{FF2B5EF4-FFF2-40B4-BE49-F238E27FC236}">
                <a16:creationId xmlns:a16="http://schemas.microsoft.com/office/drawing/2014/main" id="{5951D960-4529-A137-E622-6E300928824E}"/>
              </a:ext>
            </a:extLst>
          </p:cNvPr>
          <p:cNvPicPr>
            <a:picLocks noChangeAspect="1"/>
          </p:cNvPicPr>
          <p:nvPr/>
        </p:nvPicPr>
        <p:blipFill>
          <a:blip r:embed="rId17" cstate="print">
            <a:extLst>
              <a:ext uri="{28A0092B-C50C-407E-A947-70E740481C1C}">
                <a14:useLocalDpi xmlns:a14="http://schemas.microsoft.com/office/drawing/2010/main" val="0"/>
              </a:ext>
            </a:extLst>
          </a:blip>
          <a:srcRect t="266" b="121"/>
          <a:stretch/>
        </p:blipFill>
        <p:spPr>
          <a:xfrm>
            <a:off x="9972398" y="1407402"/>
            <a:ext cx="1876538" cy="1553736"/>
          </a:xfrm>
          <a:prstGeom prst="rect">
            <a:avLst/>
          </a:prstGeom>
          <a:solidFill>
            <a:srgbClr val="FFFFFF">
              <a:shade val="85000"/>
            </a:srgbClr>
          </a:solidFill>
          <a:ln w="88900" cap="sq">
            <a:solidFill>
              <a:srgbClr val="FFFFFF"/>
            </a:solidFill>
            <a:miter lim="800000"/>
          </a:ln>
          <a:effectLst>
            <a:outerShdw blurRad="55000" dist="18000" dir="5400000" sx="10000" sy="10000" algn="tl" rotWithShape="0">
              <a:srgbClr val="000000">
                <a:alpha val="40000"/>
              </a:srgbClr>
            </a:outerShdw>
          </a:effectLst>
          <a:scene3d>
            <a:camera prst="orthographicFront"/>
            <a:lightRig rig="twoPt" dir="t">
              <a:rot lat="0" lon="0" rev="7200000"/>
            </a:lightRig>
          </a:scene3d>
          <a:sp3d>
            <a:bevelT w="12700" h="12700"/>
            <a:contourClr>
              <a:srgbClr val="FFFFFF"/>
            </a:contourClr>
          </a:sp3d>
        </p:spPr>
      </p:pic>
      <p:pic>
        <p:nvPicPr>
          <p:cNvPr id="15" name="Picture 14" descr="A group of people sitting in an office&#10;&#10;AI-generated content may be incorrect.">
            <a:extLst>
              <a:ext uri="{FF2B5EF4-FFF2-40B4-BE49-F238E27FC236}">
                <a16:creationId xmlns:a16="http://schemas.microsoft.com/office/drawing/2014/main" id="{CB8EB86B-5EB9-1A73-8728-FA21EA43C115}"/>
              </a:ext>
            </a:extLst>
          </p:cNvPr>
          <p:cNvPicPr>
            <a:picLocks noChangeAspect="1"/>
          </p:cNvPicPr>
          <p:nvPr/>
        </p:nvPicPr>
        <p:blipFill>
          <a:blip r:embed="rId18" cstate="print">
            <a:extLst>
              <a:ext uri="{28A0092B-C50C-407E-A947-70E740481C1C}">
                <a14:useLocalDpi xmlns:a14="http://schemas.microsoft.com/office/drawing/2010/main" val="0"/>
              </a:ext>
            </a:extLst>
          </a:blip>
          <a:srcRect l="74" t="49" r="110" b="86"/>
          <a:stretch/>
        </p:blipFill>
        <p:spPr>
          <a:xfrm>
            <a:off x="7358352" y="4016921"/>
            <a:ext cx="2088998" cy="1553736"/>
          </a:xfrm>
          <a:prstGeom prst="rect">
            <a:avLst/>
          </a:prstGeom>
          <a:solidFill>
            <a:srgbClr val="FFFFFF">
              <a:shade val="85000"/>
            </a:srgbClr>
          </a:solidFill>
          <a:ln w="88900" cap="sq">
            <a:solidFill>
              <a:srgbClr val="FFFFFF"/>
            </a:solidFill>
            <a:miter lim="800000"/>
          </a:ln>
          <a:effectLst/>
          <a:scene3d>
            <a:camera prst="orthographicFront"/>
            <a:lightRig rig="twoPt" dir="t">
              <a:rot lat="0" lon="0" rev="7200000"/>
            </a:lightRig>
          </a:scene3d>
          <a:sp3d>
            <a:bevelT w="12700" h="12700"/>
            <a:contourClr>
              <a:srgbClr val="FFFFFF"/>
            </a:contourClr>
          </a:sp3d>
        </p:spPr>
      </p:pic>
      <p:pic>
        <p:nvPicPr>
          <p:cNvPr id="16" name="Picture 15" descr="People standing in a line in a room with flags&#10;&#10;AI-generated content may be incorrect.">
            <a:extLst>
              <a:ext uri="{FF2B5EF4-FFF2-40B4-BE49-F238E27FC236}">
                <a16:creationId xmlns:a16="http://schemas.microsoft.com/office/drawing/2014/main" id="{8AB5E791-A30E-82D3-CE1E-371F84DA26C1}"/>
              </a:ext>
            </a:extLst>
          </p:cNvPr>
          <p:cNvPicPr>
            <a:picLocks noChangeAspect="1"/>
          </p:cNvPicPr>
          <p:nvPr/>
        </p:nvPicPr>
        <p:blipFill>
          <a:blip r:embed="rId19" cstate="print">
            <a:extLst>
              <a:ext uri="{28A0092B-C50C-407E-A947-70E740481C1C}">
                <a14:useLocalDpi xmlns:a14="http://schemas.microsoft.com/office/drawing/2010/main" val="0"/>
              </a:ext>
            </a:extLst>
          </a:blip>
          <a:srcRect t="165"/>
          <a:stretch/>
        </p:blipFill>
        <p:spPr>
          <a:xfrm>
            <a:off x="995680" y="3844070"/>
            <a:ext cx="3250066" cy="1948491"/>
          </a:xfrm>
          <a:prstGeom prst="rect">
            <a:avLst/>
          </a:prstGeom>
          <a:solidFill>
            <a:srgbClr val="FFFFFF">
              <a:shade val="85000"/>
            </a:srgbClr>
          </a:solidFill>
          <a:ln w="88900" cap="sq">
            <a:solidFill>
              <a:srgbClr val="FFFFFF"/>
            </a:solidFill>
            <a:miter lim="800000"/>
          </a:ln>
          <a:effectLst>
            <a:outerShdw blurRad="55000" dist="18000" dir="5400000" sx="10000" sy="10000" algn="tl" rotWithShape="0">
              <a:srgbClr val="000000">
                <a:alpha val="40000"/>
              </a:srgbClr>
            </a:outerShdw>
          </a:effectLst>
          <a:scene3d>
            <a:camera prst="orthographicFront"/>
            <a:lightRig rig="twoPt" dir="t">
              <a:rot lat="0" lon="0" rev="7200000"/>
            </a:lightRig>
          </a:scene3d>
          <a:sp3d>
            <a:bevelT w="12700" h="12700"/>
            <a:contourClr>
              <a:srgbClr val="FFFFFF"/>
            </a:contourClr>
          </a:sp3d>
        </p:spPr>
      </p:pic>
    </p:spTree>
    <p:extLst>
      <p:ext uri="{BB962C8B-B14F-4D97-AF65-F5344CB8AC3E}">
        <p14:creationId xmlns:p14="http://schemas.microsoft.com/office/powerpoint/2010/main" val="908217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1F903-C750-95B1-6E41-460B221C3C55}"/>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A934614-DA0C-1D8C-CD54-0174E09FAC7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4" name="think-cell data - do not delete" hidden="1">
                        <a:extLst>
                          <a:ext uri="{FF2B5EF4-FFF2-40B4-BE49-F238E27FC236}">
                            <a16:creationId xmlns:a16="http://schemas.microsoft.com/office/drawing/2014/main" id="{44C58109-E1C8-47FD-6401-289241A7507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2" name="Title 7">
            <a:extLst>
              <a:ext uri="{FF2B5EF4-FFF2-40B4-BE49-F238E27FC236}">
                <a16:creationId xmlns:a16="http://schemas.microsoft.com/office/drawing/2014/main" id="{B9F1F65C-A16D-3653-25FB-A043B09032C6}"/>
              </a:ext>
            </a:extLst>
          </p:cNvPr>
          <p:cNvSpPr txBox="1">
            <a:spLocks/>
          </p:cNvSpPr>
          <p:nvPr/>
        </p:nvSpPr>
        <p:spPr>
          <a:xfrm>
            <a:off x="599800" y="316277"/>
            <a:ext cx="11062949" cy="313033"/>
          </a:xfrm>
          <a:prstGeom prst="rect">
            <a:avLst/>
          </a:prstGeom>
        </p:spPr>
        <p:txBody>
          <a:bodyPr vert="horz"/>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r" rtl="1">
              <a:defRPr/>
            </a:pPr>
            <a:r>
              <a:rPr lang="ar-LY" sz="1799" b="1" dirty="0">
                <a:solidFill>
                  <a:srgbClr val="7F3381"/>
                </a:solidFill>
                <a:latin typeface="Tajawal" panose="00000500000000000000" pitchFamily="2" charset="-78"/>
                <a:cs typeface="Tajawal" panose="00000500000000000000" pitchFamily="2" charset="-78"/>
              </a:rPr>
              <a:t>من البيانات إلى الشرائح: بناء أساس يركز على المشتركين</a:t>
            </a:r>
            <a:endParaRPr kumimoji="0" lang="en-US" sz="1799" b="1" i="0" u="none" strike="noStrike" kern="1200" cap="none" spc="0" normalizeH="0" baseline="0" noProof="0" dirty="0">
              <a:ln>
                <a:noFill/>
              </a:ln>
              <a:solidFill>
                <a:srgbClr val="7F3381"/>
              </a:solidFill>
              <a:effectLst/>
              <a:uLnTx/>
              <a:uFillTx/>
              <a:latin typeface="Tajawal" panose="00000500000000000000" pitchFamily="2" charset="-78"/>
              <a:cs typeface="Tajawal" panose="00000500000000000000" pitchFamily="2" charset="-78"/>
            </a:endParaRPr>
          </a:p>
        </p:txBody>
      </p:sp>
      <p:sp>
        <p:nvSpPr>
          <p:cNvPr id="23" name="TextBox 22">
            <a:extLst>
              <a:ext uri="{FF2B5EF4-FFF2-40B4-BE49-F238E27FC236}">
                <a16:creationId xmlns:a16="http://schemas.microsoft.com/office/drawing/2014/main" id="{8C0C3E6D-C843-5D65-25C8-76F1F6483203}"/>
              </a:ext>
            </a:extLst>
          </p:cNvPr>
          <p:cNvSpPr txBox="1"/>
          <p:nvPr/>
        </p:nvSpPr>
        <p:spPr>
          <a:xfrm>
            <a:off x="699182" y="619368"/>
            <a:ext cx="10963567" cy="554112"/>
          </a:xfrm>
          <a:prstGeom prst="rect">
            <a:avLst/>
          </a:prstGeom>
          <a:noFill/>
          <a:ln w="9525" cap="flat" cmpd="sng" algn="ctr">
            <a:noFill/>
            <a:prstDash val="solid"/>
          </a:ln>
          <a:effectLst/>
        </p:spPr>
        <p:txBody>
          <a:bodyPr lIns="45648" rIns="0" rtlCol="0" anchor="t"/>
          <a:lstStyle>
            <a:defPPr>
              <a:defRPr lang="fr-FR"/>
            </a:defPPr>
            <a:lvl1pPr defTabSz="1220470">
              <a:spcAft>
                <a:spcPts val="1199"/>
              </a:spcAft>
              <a:defRPr sz="999">
                <a:solidFill>
                  <a:srgbClr val="000000">
                    <a:lumMod val="65000"/>
                    <a:lumOff val="35000"/>
                  </a:srgbClr>
                </a:solidFill>
                <a:cs typeface="Calibri Light" panose="020F0302020204030204" pitchFamily="34" charset="0"/>
              </a:defRPr>
            </a:lvl1pPr>
          </a:lstStyle>
          <a:p>
            <a:pPr lvl="0" algn="r" rtl="1">
              <a:defRPr/>
            </a:pPr>
            <a:r>
              <a:rPr lang="ar-LY" sz="1400" dirty="0">
                <a:solidFill>
                  <a:srgbClr val="7F3381"/>
                </a:solidFill>
                <a:latin typeface="Tajawal" panose="00000500000000000000" pitchFamily="2" charset="-78"/>
                <a:cs typeface="Tajawal" panose="00000500000000000000" pitchFamily="2" charset="-78"/>
              </a:rPr>
              <a:t>تحول الشخصيات الافتراضية البيانات والرؤى إلى ملفات تعريف يمكن التعامل معها، مما يمكّن شركة ليبيانا من تصميم تجارب المشتركين حول أشخاص حقيقيين، وليس حول شرائح مجردة.</a:t>
            </a:r>
            <a:endParaRPr kumimoji="0" lang="en-US" sz="1400" b="0" i="0" u="none" strike="noStrike" kern="1200" cap="none" spc="0" normalizeH="0" baseline="0" noProof="0" dirty="0">
              <a:ln>
                <a:noFill/>
              </a:ln>
              <a:solidFill>
                <a:srgbClr val="7F3381"/>
              </a:solidFill>
              <a:effectLst/>
              <a:uLnTx/>
              <a:uFillTx/>
              <a:latin typeface="Tajawal" panose="00000500000000000000" pitchFamily="2" charset="-78"/>
              <a:cs typeface="Tajawal" panose="00000500000000000000" pitchFamily="2" charset="-78"/>
            </a:endParaRPr>
          </a:p>
        </p:txBody>
      </p:sp>
      <p:sp>
        <p:nvSpPr>
          <p:cNvPr id="2" name="Rectangle 1">
            <a:extLst>
              <a:ext uri="{FF2B5EF4-FFF2-40B4-BE49-F238E27FC236}">
                <a16:creationId xmlns:a16="http://schemas.microsoft.com/office/drawing/2014/main" id="{7CDD678A-8271-C148-2CC6-972B3690EA80}"/>
              </a:ext>
            </a:extLst>
          </p:cNvPr>
          <p:cNvSpPr/>
          <p:nvPr/>
        </p:nvSpPr>
        <p:spPr>
          <a:xfrm>
            <a:off x="829649" y="1325756"/>
            <a:ext cx="10833100" cy="4872355"/>
          </a:xfrm>
          <a:prstGeom prst="rect">
            <a:avLst/>
          </a:prstGeom>
          <a:gradFill flip="none" rotWithShape="1">
            <a:gsLst>
              <a:gs pos="0">
                <a:srgbClr val="F3D1EF"/>
              </a:gs>
              <a:gs pos="84000">
                <a:srgbClr val="7B4987">
                  <a:lumMod val="100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EYInterstate" panose="02000503020000020004" pitchFamily="2" charset="0"/>
            </a:endParaRPr>
          </a:p>
        </p:txBody>
      </p:sp>
      <p:cxnSp>
        <p:nvCxnSpPr>
          <p:cNvPr id="3" name="Straight Connector 2">
            <a:extLst>
              <a:ext uri="{FF2B5EF4-FFF2-40B4-BE49-F238E27FC236}">
                <a16:creationId xmlns:a16="http://schemas.microsoft.com/office/drawing/2014/main" id="{952C9451-294D-F4AB-0D2B-45CBA2ABF15D}"/>
              </a:ext>
            </a:extLst>
          </p:cNvPr>
          <p:cNvCxnSpPr>
            <a:cxnSpLocks/>
          </p:cNvCxnSpPr>
          <p:nvPr/>
        </p:nvCxnSpPr>
        <p:spPr>
          <a:xfrm>
            <a:off x="8141317" y="2162318"/>
            <a:ext cx="0" cy="381557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9D76EBC-C31C-24D9-AAA2-F521C9A71259}"/>
              </a:ext>
            </a:extLst>
          </p:cNvPr>
          <p:cNvCxnSpPr>
            <a:cxnSpLocks/>
          </p:cNvCxnSpPr>
          <p:nvPr/>
        </p:nvCxnSpPr>
        <p:spPr>
          <a:xfrm>
            <a:off x="4525256" y="2162318"/>
            <a:ext cx="0" cy="381557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3A1A469-9FE4-670E-0DF2-4FE3E6F821E3}"/>
              </a:ext>
            </a:extLst>
          </p:cNvPr>
          <p:cNvCxnSpPr>
            <a:cxnSpLocks/>
          </p:cNvCxnSpPr>
          <p:nvPr/>
        </p:nvCxnSpPr>
        <p:spPr>
          <a:xfrm flipH="1">
            <a:off x="10814210" y="2332470"/>
            <a:ext cx="52605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D642E73-A45B-1AFB-2DFC-661E81250492}"/>
              </a:ext>
            </a:extLst>
          </p:cNvPr>
          <p:cNvSpPr txBox="1"/>
          <p:nvPr/>
        </p:nvSpPr>
        <p:spPr>
          <a:xfrm>
            <a:off x="10678832" y="1743310"/>
            <a:ext cx="890538" cy="584775"/>
          </a:xfrm>
          <a:prstGeom prst="rect">
            <a:avLst/>
          </a:prstGeom>
          <a:noFill/>
        </p:spPr>
        <p:txBody>
          <a:bodyPr wrap="square" rtlCol="0">
            <a:spAutoFit/>
          </a:bodyPr>
          <a:lstStyle/>
          <a:p>
            <a:pPr algn="ctr"/>
            <a:r>
              <a:rPr lang="ar-LY" sz="3200" dirty="0">
                <a:solidFill>
                  <a:schemeClr val="bg1"/>
                </a:solidFill>
              </a:rPr>
              <a:t>01</a:t>
            </a:r>
            <a:endParaRPr lang="en-US" sz="3200" dirty="0">
              <a:solidFill>
                <a:schemeClr val="bg1"/>
              </a:solidFill>
            </a:endParaRPr>
          </a:p>
        </p:txBody>
      </p:sp>
      <p:cxnSp>
        <p:nvCxnSpPr>
          <p:cNvPr id="14" name="Straight Connector 13">
            <a:extLst>
              <a:ext uri="{FF2B5EF4-FFF2-40B4-BE49-F238E27FC236}">
                <a16:creationId xmlns:a16="http://schemas.microsoft.com/office/drawing/2014/main" id="{4ECA0D17-38D3-18A6-075C-497BCD9C0FAE}"/>
              </a:ext>
            </a:extLst>
          </p:cNvPr>
          <p:cNvCxnSpPr>
            <a:cxnSpLocks/>
          </p:cNvCxnSpPr>
          <p:nvPr/>
        </p:nvCxnSpPr>
        <p:spPr>
          <a:xfrm flipH="1">
            <a:off x="7455648" y="2314625"/>
            <a:ext cx="52605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6509642-A36B-4F15-5948-9724A007E53D}"/>
              </a:ext>
            </a:extLst>
          </p:cNvPr>
          <p:cNvSpPr txBox="1"/>
          <p:nvPr/>
        </p:nvSpPr>
        <p:spPr>
          <a:xfrm>
            <a:off x="7320270" y="1725465"/>
            <a:ext cx="890538" cy="584775"/>
          </a:xfrm>
          <a:prstGeom prst="rect">
            <a:avLst/>
          </a:prstGeom>
          <a:noFill/>
        </p:spPr>
        <p:txBody>
          <a:bodyPr wrap="square" rtlCol="0">
            <a:spAutoFit/>
          </a:bodyPr>
          <a:lstStyle/>
          <a:p>
            <a:pPr algn="ctr"/>
            <a:r>
              <a:rPr lang="ar-LY" sz="3200" dirty="0">
                <a:solidFill>
                  <a:schemeClr val="bg1"/>
                </a:solidFill>
              </a:rPr>
              <a:t>02</a:t>
            </a:r>
            <a:endParaRPr lang="en-US" sz="3200" dirty="0">
              <a:solidFill>
                <a:schemeClr val="bg1"/>
              </a:solidFill>
            </a:endParaRPr>
          </a:p>
        </p:txBody>
      </p:sp>
      <p:cxnSp>
        <p:nvCxnSpPr>
          <p:cNvPr id="20" name="Straight Connector 19">
            <a:extLst>
              <a:ext uri="{FF2B5EF4-FFF2-40B4-BE49-F238E27FC236}">
                <a16:creationId xmlns:a16="http://schemas.microsoft.com/office/drawing/2014/main" id="{69883650-781D-846B-F069-26EA6BDE61DD}"/>
              </a:ext>
            </a:extLst>
          </p:cNvPr>
          <p:cNvCxnSpPr>
            <a:cxnSpLocks/>
          </p:cNvCxnSpPr>
          <p:nvPr/>
        </p:nvCxnSpPr>
        <p:spPr>
          <a:xfrm flipH="1">
            <a:off x="3813706" y="2306814"/>
            <a:ext cx="52605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275211C-7252-ABD5-50EE-DB6FD00525B7}"/>
              </a:ext>
            </a:extLst>
          </p:cNvPr>
          <p:cNvSpPr txBox="1"/>
          <p:nvPr/>
        </p:nvSpPr>
        <p:spPr>
          <a:xfrm>
            <a:off x="3678328" y="1717654"/>
            <a:ext cx="890538" cy="584775"/>
          </a:xfrm>
          <a:prstGeom prst="rect">
            <a:avLst/>
          </a:prstGeom>
          <a:noFill/>
        </p:spPr>
        <p:txBody>
          <a:bodyPr wrap="square" rtlCol="0">
            <a:spAutoFit/>
          </a:bodyPr>
          <a:lstStyle/>
          <a:p>
            <a:pPr algn="ctr"/>
            <a:r>
              <a:rPr lang="ar-LY" sz="3200" dirty="0">
                <a:solidFill>
                  <a:schemeClr val="bg1"/>
                </a:solidFill>
              </a:rPr>
              <a:t>03</a:t>
            </a:r>
            <a:endParaRPr lang="en-US" sz="3200" dirty="0">
              <a:solidFill>
                <a:schemeClr val="bg1"/>
              </a:solidFill>
            </a:endParaRPr>
          </a:p>
        </p:txBody>
      </p:sp>
      <p:pic>
        <p:nvPicPr>
          <p:cNvPr id="29" name="Picture 28">
            <a:extLst>
              <a:ext uri="{FF2B5EF4-FFF2-40B4-BE49-F238E27FC236}">
                <a16:creationId xmlns:a16="http://schemas.microsoft.com/office/drawing/2014/main" id="{31DBFCC8-3F78-6677-B774-68E0917367DE}"/>
              </a:ext>
            </a:extLst>
          </p:cNvPr>
          <p:cNvPicPr>
            <a:picLocks noChangeAspect="1"/>
          </p:cNvPicPr>
          <p:nvPr/>
        </p:nvPicPr>
        <p:blipFill>
          <a:blip r:embed="rId6"/>
          <a:stretch>
            <a:fillRect/>
          </a:stretch>
        </p:blipFill>
        <p:spPr>
          <a:xfrm>
            <a:off x="8488897" y="3530011"/>
            <a:ext cx="2695243" cy="1373459"/>
          </a:xfrm>
          <a:prstGeom prst="rect">
            <a:avLst/>
          </a:prstGeom>
        </p:spPr>
      </p:pic>
      <p:sp>
        <p:nvSpPr>
          <p:cNvPr id="32" name="TextBox 31">
            <a:extLst>
              <a:ext uri="{FF2B5EF4-FFF2-40B4-BE49-F238E27FC236}">
                <a16:creationId xmlns:a16="http://schemas.microsoft.com/office/drawing/2014/main" id="{3DAB4351-5A39-D5CC-9E84-ADD826A6FD61}"/>
              </a:ext>
            </a:extLst>
          </p:cNvPr>
          <p:cNvSpPr txBox="1"/>
          <p:nvPr/>
        </p:nvSpPr>
        <p:spPr>
          <a:xfrm>
            <a:off x="8300934" y="2527682"/>
            <a:ext cx="3061418" cy="923330"/>
          </a:xfrm>
          <a:prstGeom prst="rect">
            <a:avLst/>
          </a:prstGeom>
          <a:noFill/>
        </p:spPr>
        <p:txBody>
          <a:bodyPr wrap="square" rtlCol="0">
            <a:spAutoFit/>
          </a:bodyPr>
          <a:lstStyle/>
          <a:p>
            <a:pPr algn="r" rtl="1"/>
            <a:r>
              <a:rPr lang="ar-LY" dirty="0">
                <a:solidFill>
                  <a:schemeClr val="bg1"/>
                </a:solidFill>
                <a:latin typeface="Tajawal" panose="00000500000000000000" pitchFamily="2" charset="-78"/>
                <a:cs typeface="Tajawal" panose="00000500000000000000" pitchFamily="2" charset="-78"/>
              </a:rPr>
              <a:t>6 شخصيات موزعة على نتائج تحليل متوسط الدخل للشرائح المختلفة</a:t>
            </a:r>
            <a:endParaRPr lang="en-US" dirty="0">
              <a:solidFill>
                <a:schemeClr val="bg1"/>
              </a:solidFill>
              <a:latin typeface="Tajawal" panose="00000500000000000000" pitchFamily="2" charset="-78"/>
              <a:cs typeface="Tajawal" panose="00000500000000000000" pitchFamily="2" charset="-78"/>
            </a:endParaRPr>
          </a:p>
        </p:txBody>
      </p:sp>
      <p:pic>
        <p:nvPicPr>
          <p:cNvPr id="34" name="Picture 33">
            <a:extLst>
              <a:ext uri="{FF2B5EF4-FFF2-40B4-BE49-F238E27FC236}">
                <a16:creationId xmlns:a16="http://schemas.microsoft.com/office/drawing/2014/main" id="{7C952BED-DD55-9A47-56FA-1A741933D9ED}"/>
              </a:ext>
            </a:extLst>
          </p:cNvPr>
          <p:cNvPicPr>
            <a:picLocks noChangeAspect="1"/>
          </p:cNvPicPr>
          <p:nvPr/>
        </p:nvPicPr>
        <p:blipFill>
          <a:blip r:embed="rId7"/>
          <a:stretch>
            <a:fillRect/>
          </a:stretch>
        </p:blipFill>
        <p:spPr>
          <a:xfrm>
            <a:off x="4981116" y="3919045"/>
            <a:ext cx="2018672" cy="1086113"/>
          </a:xfrm>
          <a:prstGeom prst="rect">
            <a:avLst/>
          </a:prstGeom>
        </p:spPr>
      </p:pic>
      <p:pic>
        <p:nvPicPr>
          <p:cNvPr id="33" name="Picture 32">
            <a:extLst>
              <a:ext uri="{FF2B5EF4-FFF2-40B4-BE49-F238E27FC236}">
                <a16:creationId xmlns:a16="http://schemas.microsoft.com/office/drawing/2014/main" id="{2839B69A-3FCC-B66B-D1DC-89D6B1937776}"/>
              </a:ext>
            </a:extLst>
          </p:cNvPr>
          <p:cNvPicPr>
            <a:picLocks noChangeAspect="1"/>
          </p:cNvPicPr>
          <p:nvPr/>
        </p:nvPicPr>
        <p:blipFill>
          <a:blip r:embed="rId8"/>
          <a:stretch>
            <a:fillRect/>
          </a:stretch>
        </p:blipFill>
        <p:spPr>
          <a:xfrm>
            <a:off x="5775066" y="4615491"/>
            <a:ext cx="2018672" cy="1147949"/>
          </a:xfrm>
          <a:prstGeom prst="rect">
            <a:avLst/>
          </a:prstGeom>
        </p:spPr>
      </p:pic>
      <p:sp>
        <p:nvSpPr>
          <p:cNvPr id="40" name="TextBox 39">
            <a:extLst>
              <a:ext uri="{FF2B5EF4-FFF2-40B4-BE49-F238E27FC236}">
                <a16:creationId xmlns:a16="http://schemas.microsoft.com/office/drawing/2014/main" id="{BF2D3B4D-EC65-8F1F-4B39-44A3BA1C4B86}"/>
              </a:ext>
            </a:extLst>
          </p:cNvPr>
          <p:cNvSpPr txBox="1"/>
          <p:nvPr/>
        </p:nvSpPr>
        <p:spPr>
          <a:xfrm>
            <a:off x="4525256" y="2594658"/>
            <a:ext cx="3421799" cy="1384995"/>
          </a:xfrm>
          <a:prstGeom prst="rect">
            <a:avLst/>
          </a:prstGeom>
          <a:noFill/>
        </p:spPr>
        <p:txBody>
          <a:bodyPr wrap="square" rtlCol="0">
            <a:spAutoFit/>
          </a:bodyPr>
          <a:lstStyle/>
          <a:p>
            <a:pPr algn="r" rtl="1"/>
            <a:r>
              <a:rPr lang="ar-LY" sz="1400" dirty="0">
                <a:solidFill>
                  <a:schemeClr val="bg1"/>
                </a:solidFill>
                <a:latin typeface="Tajawal" panose="00000500000000000000" pitchFamily="2" charset="-78"/>
                <a:cs typeface="Tajawal" panose="00000500000000000000" pitchFamily="2" charset="-78"/>
              </a:rPr>
              <a:t>تم إنشاء ستة ملفات تعريف بشرية — طلاب، كبار السن، العمال الأجانب، العائلات، عشاق البث، ومتتبعي التقنية — تجمع بين البيانات الديموغرافية والدوافع والسلوكيات لتحويل البيانات إلى أدوات عملية لاتخاذ قرارات تجربة المشتركين.</a:t>
            </a:r>
            <a:endParaRPr lang="en-US" sz="1400" dirty="0">
              <a:solidFill>
                <a:schemeClr val="bg1"/>
              </a:solidFill>
              <a:latin typeface="Tajawal" panose="00000500000000000000" pitchFamily="2" charset="-78"/>
              <a:cs typeface="Tajawal" panose="00000500000000000000" pitchFamily="2" charset="-78"/>
            </a:endParaRPr>
          </a:p>
        </p:txBody>
      </p:sp>
      <p:sp>
        <p:nvSpPr>
          <p:cNvPr id="41" name="TextBox 40">
            <a:extLst>
              <a:ext uri="{FF2B5EF4-FFF2-40B4-BE49-F238E27FC236}">
                <a16:creationId xmlns:a16="http://schemas.microsoft.com/office/drawing/2014/main" id="{9B77F6A9-BD6F-7AAD-09D8-CDE89233FFF1}"/>
              </a:ext>
            </a:extLst>
          </p:cNvPr>
          <p:cNvSpPr txBox="1"/>
          <p:nvPr/>
        </p:nvSpPr>
        <p:spPr>
          <a:xfrm>
            <a:off x="1003825" y="2594658"/>
            <a:ext cx="3421799" cy="954107"/>
          </a:xfrm>
          <a:prstGeom prst="rect">
            <a:avLst/>
          </a:prstGeom>
          <a:noFill/>
        </p:spPr>
        <p:txBody>
          <a:bodyPr wrap="square" rtlCol="0">
            <a:spAutoFit/>
          </a:bodyPr>
          <a:lstStyle/>
          <a:p>
            <a:pPr algn="r" rtl="1"/>
            <a:r>
              <a:rPr lang="ar-LY" sz="1400" dirty="0">
                <a:solidFill>
                  <a:schemeClr val="bg1"/>
                </a:solidFill>
                <a:latin typeface="Tajawal" panose="00000500000000000000" pitchFamily="2" charset="-78"/>
                <a:cs typeface="Tajawal" panose="00000500000000000000" pitchFamily="2" charset="-78"/>
              </a:rPr>
              <a:t>تم تطوير الشخصيات الافتراضية من خلال دمج البيانات الكمية وبيانات مركز الاتصال مع المقابلات وورش العمل، وتم تجميع الرؤى في مجموعات.</a:t>
            </a:r>
            <a:endParaRPr lang="en-US" sz="1400" dirty="0">
              <a:solidFill>
                <a:schemeClr val="bg1"/>
              </a:solidFill>
              <a:latin typeface="Tajawal" panose="00000500000000000000" pitchFamily="2" charset="-78"/>
              <a:cs typeface="Tajawal" panose="00000500000000000000" pitchFamily="2" charset="-78"/>
            </a:endParaRPr>
          </a:p>
        </p:txBody>
      </p:sp>
      <p:pic>
        <p:nvPicPr>
          <p:cNvPr id="48" name="Picture 47">
            <a:extLst>
              <a:ext uri="{FF2B5EF4-FFF2-40B4-BE49-F238E27FC236}">
                <a16:creationId xmlns:a16="http://schemas.microsoft.com/office/drawing/2014/main" id="{172D531E-D70D-8DC1-AB12-B251A50AD485}"/>
              </a:ext>
            </a:extLst>
          </p:cNvPr>
          <p:cNvPicPr>
            <a:picLocks noChangeAspect="1"/>
          </p:cNvPicPr>
          <p:nvPr/>
        </p:nvPicPr>
        <p:blipFill>
          <a:blip r:embed="rId9"/>
          <a:stretch>
            <a:fillRect/>
          </a:stretch>
        </p:blipFill>
        <p:spPr>
          <a:xfrm>
            <a:off x="1439393" y="3886768"/>
            <a:ext cx="2912073" cy="1575432"/>
          </a:xfrm>
          <a:prstGeom prst="rect">
            <a:avLst/>
          </a:prstGeom>
        </p:spPr>
      </p:pic>
    </p:spTree>
    <p:extLst>
      <p:ext uri="{BB962C8B-B14F-4D97-AF65-F5344CB8AC3E}">
        <p14:creationId xmlns:p14="http://schemas.microsoft.com/office/powerpoint/2010/main" val="3037829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56E80-EF3A-FFF4-F1E9-0EB27CE12F30}"/>
            </a:ext>
          </a:extLst>
        </p:cNvPr>
        <p:cNvGrpSpPr/>
        <p:nvPr/>
      </p:nvGrpSpPr>
      <p:grpSpPr>
        <a:xfrm>
          <a:off x="0" y="0"/>
          <a:ext cx="0" cy="0"/>
          <a:chOff x="0" y="0"/>
          <a:chExt cx="0" cy="0"/>
        </a:xfrm>
      </p:grpSpPr>
      <p:graphicFrame>
        <p:nvGraphicFramePr>
          <p:cNvPr id="29" name="think-cell data - do not delete" hidden="1">
            <a:extLst>
              <a:ext uri="{FF2B5EF4-FFF2-40B4-BE49-F238E27FC236}">
                <a16:creationId xmlns:a16="http://schemas.microsoft.com/office/drawing/2014/main" id="{E2DF8AD9-687D-FD2F-79E6-D3A468E94F4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29" name="think-cell data - do not delete" hidden="1">
                        <a:extLst>
                          <a:ext uri="{FF2B5EF4-FFF2-40B4-BE49-F238E27FC236}">
                            <a16:creationId xmlns:a16="http://schemas.microsoft.com/office/drawing/2014/main" id="{E2DF8AD9-687D-FD2F-79E6-D3A468E94F4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 name="Rectangle 30">
            <a:extLst>
              <a:ext uri="{FF2B5EF4-FFF2-40B4-BE49-F238E27FC236}">
                <a16:creationId xmlns:a16="http://schemas.microsoft.com/office/drawing/2014/main" id="{88C3F605-A29A-2296-DD5D-ED2110D52BDA}"/>
              </a:ext>
            </a:extLst>
          </p:cNvPr>
          <p:cNvSpPr/>
          <p:nvPr/>
        </p:nvSpPr>
        <p:spPr>
          <a:xfrm rot="5400000">
            <a:off x="5608721" y="631658"/>
            <a:ext cx="697832" cy="113056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7">
            <a:extLst>
              <a:ext uri="{FF2B5EF4-FFF2-40B4-BE49-F238E27FC236}">
                <a16:creationId xmlns:a16="http://schemas.microsoft.com/office/drawing/2014/main" id="{BA70AA81-5C84-6D07-BC24-9F1B5E8F4F2E}"/>
              </a:ext>
            </a:extLst>
          </p:cNvPr>
          <p:cNvSpPr txBox="1">
            <a:spLocks/>
          </p:cNvSpPr>
          <p:nvPr/>
        </p:nvSpPr>
        <p:spPr>
          <a:xfrm>
            <a:off x="599800" y="316277"/>
            <a:ext cx="11062949" cy="313033"/>
          </a:xfrm>
          <a:prstGeom prst="rect">
            <a:avLst/>
          </a:prstGeom>
        </p:spPr>
        <p:txBody>
          <a:bodyPr vert="horz"/>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rtl="1"/>
            <a:r>
              <a:rPr lang="ar-LY" sz="1799" b="1" dirty="0">
                <a:solidFill>
                  <a:srgbClr val="7F3381"/>
                </a:solidFill>
              </a:rPr>
              <a:t>تقييم مؤشرات الأداء الرئيسية لتجربة المشترك المستهدفة</a:t>
            </a:r>
            <a:endParaRPr lang="en-US" sz="1799" b="1" dirty="0">
              <a:solidFill>
                <a:srgbClr val="7F3381"/>
              </a:solidFill>
            </a:endParaRPr>
          </a:p>
        </p:txBody>
      </p:sp>
      <p:sp>
        <p:nvSpPr>
          <p:cNvPr id="2" name="Isosceles Triangle 1">
            <a:extLst>
              <a:ext uri="{FF2B5EF4-FFF2-40B4-BE49-F238E27FC236}">
                <a16:creationId xmlns:a16="http://schemas.microsoft.com/office/drawing/2014/main" id="{80C9F5A0-5167-0B2E-09E6-1AFD393F1D27}"/>
              </a:ext>
            </a:extLst>
          </p:cNvPr>
          <p:cNvSpPr/>
          <p:nvPr/>
        </p:nvSpPr>
        <p:spPr>
          <a:xfrm>
            <a:off x="1222745" y="1489905"/>
            <a:ext cx="10132827" cy="538871"/>
          </a:xfrm>
          <a:prstGeom prs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F4F5DAB3-BD51-0607-8B65-F46B898E8A5E}"/>
              </a:ext>
            </a:extLst>
          </p:cNvPr>
          <p:cNvSpPr/>
          <p:nvPr/>
        </p:nvSpPr>
        <p:spPr>
          <a:xfrm rot="10800000">
            <a:off x="1029586" y="4194654"/>
            <a:ext cx="10132827" cy="538871"/>
          </a:xfrm>
          <a:prstGeom prs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ajawal" panose="00000500000000000000" pitchFamily="2" charset="-78"/>
              <a:cs typeface="Tajawal" panose="00000500000000000000" pitchFamily="2" charset="-78"/>
            </a:endParaRPr>
          </a:p>
        </p:txBody>
      </p:sp>
      <p:sp>
        <p:nvSpPr>
          <p:cNvPr id="4" name="Rectangle 3">
            <a:extLst>
              <a:ext uri="{FF2B5EF4-FFF2-40B4-BE49-F238E27FC236}">
                <a16:creationId xmlns:a16="http://schemas.microsoft.com/office/drawing/2014/main" id="{D2E19C59-F4C3-ABF5-DD00-1EC2E860D0C7}"/>
              </a:ext>
            </a:extLst>
          </p:cNvPr>
          <p:cNvSpPr/>
          <p:nvPr/>
        </p:nvSpPr>
        <p:spPr>
          <a:xfrm>
            <a:off x="764216" y="1981152"/>
            <a:ext cx="11019796" cy="2284720"/>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4AE66DF-D88E-8893-7AA1-B2E8FB320ABA}"/>
              </a:ext>
            </a:extLst>
          </p:cNvPr>
          <p:cNvSpPr txBox="1"/>
          <p:nvPr/>
        </p:nvSpPr>
        <p:spPr>
          <a:xfrm>
            <a:off x="699182" y="619368"/>
            <a:ext cx="11338905" cy="538871"/>
          </a:xfrm>
          <a:prstGeom prst="rect">
            <a:avLst/>
          </a:prstGeom>
          <a:noFill/>
          <a:ln w="9525" cap="flat" cmpd="sng" algn="ctr">
            <a:noFill/>
            <a:prstDash val="solid"/>
          </a:ln>
          <a:effectLst/>
        </p:spPr>
        <p:txBody>
          <a:bodyPr lIns="45648" rIns="0" rtlCol="0" anchor="t"/>
          <a:lstStyle>
            <a:defPPr>
              <a:defRPr lang="fr-FR"/>
            </a:defPPr>
            <a:lvl1pPr defTabSz="1220470">
              <a:spcAft>
                <a:spcPts val="1199"/>
              </a:spcAft>
              <a:defRPr sz="999">
                <a:solidFill>
                  <a:srgbClr val="000000">
                    <a:lumMod val="65000"/>
                    <a:lumOff val="35000"/>
                  </a:srgbClr>
                </a:solidFill>
                <a:cs typeface="Calibri Light" panose="020F0302020204030204" pitchFamily="34" charset="0"/>
              </a:defRPr>
            </a:lvl1pPr>
          </a:lstStyle>
          <a:p>
            <a:pPr algn="r" rtl="1"/>
            <a:r>
              <a:rPr lang="ar-LY" sz="1400" dirty="0">
                <a:solidFill>
                  <a:srgbClr val="7F3381"/>
                </a:solidFill>
                <a:latin typeface="EYInterstate" panose="02000503020000020004" pitchFamily="2" charset="0"/>
              </a:rPr>
              <a:t>عبر جميع القنوات، أكثر من نصف مؤشرات الأداء الرئيسية مصنفة كـ«ضرورية» أو «مطلوبة»، مما يشير إلى مجموعة واضحة من المقاييس ذات الأولوية لتفعيلها لتحسين تجربة المشترك، مع تركيز أعلى لمؤشرات الأداء الرقمية التي تحمل تأثيرًا كبيرًا.</a:t>
            </a:r>
          </a:p>
        </p:txBody>
      </p:sp>
      <p:sp>
        <p:nvSpPr>
          <p:cNvPr id="6" name="Rectangle 5">
            <a:extLst>
              <a:ext uri="{FF2B5EF4-FFF2-40B4-BE49-F238E27FC236}">
                <a16:creationId xmlns:a16="http://schemas.microsoft.com/office/drawing/2014/main" id="{74D00230-8E8E-0C15-B85E-F3B05428D28B}"/>
              </a:ext>
            </a:extLst>
          </p:cNvPr>
          <p:cNvSpPr/>
          <p:nvPr/>
        </p:nvSpPr>
        <p:spPr>
          <a:xfrm>
            <a:off x="4566415" y="1191894"/>
            <a:ext cx="3604437" cy="424255"/>
          </a:xfrm>
          <a:prstGeom prst="rect">
            <a:avLst/>
          </a:prstGeom>
          <a:solidFill>
            <a:schemeClr val="bg1">
              <a:lumMod val="95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LY" sz="1600" b="1" dirty="0">
                <a:solidFill>
                  <a:schemeClr val="accent5"/>
                </a:solidFill>
                <a:latin typeface="Tajawal" panose="00000500000000000000" pitchFamily="2" charset="-78"/>
                <a:cs typeface="Tajawal" panose="00000500000000000000" pitchFamily="2" charset="-78"/>
              </a:rPr>
              <a:t>ملخص تقييم مؤشرات الأداء الرئيسية</a:t>
            </a:r>
            <a:endParaRPr lang="en-US" sz="1600" b="1" dirty="0">
              <a:solidFill>
                <a:schemeClr val="accent5"/>
              </a:solidFill>
              <a:latin typeface="Tajawal" panose="00000500000000000000" pitchFamily="2" charset="-78"/>
              <a:cs typeface="Tajawal" panose="00000500000000000000" pitchFamily="2" charset="-78"/>
            </a:endParaRPr>
          </a:p>
        </p:txBody>
      </p:sp>
      <p:sp>
        <p:nvSpPr>
          <p:cNvPr id="9" name="Rectangle 8">
            <a:extLst>
              <a:ext uri="{FF2B5EF4-FFF2-40B4-BE49-F238E27FC236}">
                <a16:creationId xmlns:a16="http://schemas.microsoft.com/office/drawing/2014/main" id="{DACACFF9-ABBF-1704-32B5-11765338CDEE}"/>
              </a:ext>
            </a:extLst>
          </p:cNvPr>
          <p:cNvSpPr/>
          <p:nvPr/>
        </p:nvSpPr>
        <p:spPr>
          <a:xfrm>
            <a:off x="716591" y="2162175"/>
            <a:ext cx="11088686" cy="18902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5125CC7-2E4E-4233-33EA-F6D72A66EAB0}"/>
              </a:ext>
            </a:extLst>
          </p:cNvPr>
          <p:cNvSpPr/>
          <p:nvPr/>
        </p:nvSpPr>
        <p:spPr>
          <a:xfrm>
            <a:off x="1208328" y="4223739"/>
            <a:ext cx="2448000" cy="218293"/>
          </a:xfrm>
          <a:prstGeom prst="rect">
            <a:avLst/>
          </a:prstGeom>
          <a:solidFill>
            <a:srgbClr val="5C3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LY" sz="1100" dirty="0">
                <a:latin typeface="Tajawal" panose="00000500000000000000" pitchFamily="2" charset="-78"/>
                <a:cs typeface="Tajawal" panose="00000500000000000000" pitchFamily="2" charset="-78"/>
              </a:rPr>
              <a:t>قنوات رقمية</a:t>
            </a:r>
            <a:endParaRPr lang="en-US" sz="1100" dirty="0">
              <a:latin typeface="Tajawal" panose="00000500000000000000" pitchFamily="2" charset="-78"/>
              <a:cs typeface="Tajawal" panose="00000500000000000000" pitchFamily="2" charset="-78"/>
            </a:endParaRPr>
          </a:p>
        </p:txBody>
      </p:sp>
      <p:sp>
        <p:nvSpPr>
          <p:cNvPr id="11" name="Rectangle 10">
            <a:extLst>
              <a:ext uri="{FF2B5EF4-FFF2-40B4-BE49-F238E27FC236}">
                <a16:creationId xmlns:a16="http://schemas.microsoft.com/office/drawing/2014/main" id="{D21F1357-3BD7-84A6-9994-B32DBA98B429}"/>
              </a:ext>
            </a:extLst>
          </p:cNvPr>
          <p:cNvSpPr/>
          <p:nvPr/>
        </p:nvSpPr>
        <p:spPr>
          <a:xfrm>
            <a:off x="4907274" y="4210814"/>
            <a:ext cx="2448000" cy="219600"/>
          </a:xfrm>
          <a:prstGeom prst="rect">
            <a:avLst/>
          </a:prstGeom>
          <a:solidFill>
            <a:srgbClr val="5C3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LY" sz="1100" dirty="0">
                <a:latin typeface="Tajawal" panose="00000500000000000000" pitchFamily="2" charset="-78"/>
                <a:cs typeface="Tajawal" panose="00000500000000000000" pitchFamily="2" charset="-78"/>
              </a:rPr>
              <a:t>قنوات شخصية</a:t>
            </a:r>
            <a:endParaRPr lang="en-US" sz="1100" dirty="0">
              <a:latin typeface="Tajawal" panose="00000500000000000000" pitchFamily="2" charset="-78"/>
              <a:cs typeface="Tajawal" panose="00000500000000000000" pitchFamily="2" charset="-78"/>
            </a:endParaRPr>
          </a:p>
        </p:txBody>
      </p:sp>
      <p:sp>
        <p:nvSpPr>
          <p:cNvPr id="12" name="Rectangle 11">
            <a:extLst>
              <a:ext uri="{FF2B5EF4-FFF2-40B4-BE49-F238E27FC236}">
                <a16:creationId xmlns:a16="http://schemas.microsoft.com/office/drawing/2014/main" id="{3817420E-F6AB-91AB-97B4-5105EC7319DD}"/>
              </a:ext>
            </a:extLst>
          </p:cNvPr>
          <p:cNvSpPr/>
          <p:nvPr/>
        </p:nvSpPr>
        <p:spPr>
          <a:xfrm>
            <a:off x="8737486" y="4209507"/>
            <a:ext cx="2448000" cy="219600"/>
          </a:xfrm>
          <a:prstGeom prst="rect">
            <a:avLst/>
          </a:prstGeom>
          <a:solidFill>
            <a:srgbClr val="5C3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LY" sz="1100" dirty="0">
                <a:latin typeface="Tajawal" panose="00000500000000000000" pitchFamily="2" charset="-78"/>
                <a:cs typeface="Tajawal" panose="00000500000000000000" pitchFamily="2" charset="-78"/>
              </a:rPr>
              <a:t>هجينة</a:t>
            </a:r>
            <a:endParaRPr lang="en-US" sz="1100" dirty="0">
              <a:latin typeface="Tajawal" panose="00000500000000000000" pitchFamily="2" charset="-78"/>
              <a:cs typeface="Tajawal" panose="00000500000000000000" pitchFamily="2" charset="-78"/>
            </a:endParaRPr>
          </a:p>
        </p:txBody>
      </p:sp>
      <p:cxnSp>
        <p:nvCxnSpPr>
          <p:cNvPr id="13" name="Straight Connector 12">
            <a:extLst>
              <a:ext uri="{FF2B5EF4-FFF2-40B4-BE49-F238E27FC236}">
                <a16:creationId xmlns:a16="http://schemas.microsoft.com/office/drawing/2014/main" id="{A5496BC4-8E22-ECBA-7E41-33A4F2A30174}"/>
              </a:ext>
            </a:extLst>
          </p:cNvPr>
          <p:cNvCxnSpPr>
            <a:cxnSpLocks/>
          </p:cNvCxnSpPr>
          <p:nvPr/>
        </p:nvCxnSpPr>
        <p:spPr>
          <a:xfrm>
            <a:off x="4408069" y="2298231"/>
            <a:ext cx="0" cy="1631025"/>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5A1C052A-C4B4-7E65-A1BF-BE382927E87A}"/>
              </a:ext>
            </a:extLst>
          </p:cNvPr>
          <p:cNvPicPr>
            <a:picLocks noChangeAspect="1"/>
          </p:cNvPicPr>
          <p:nvPr/>
        </p:nvPicPr>
        <p:blipFill>
          <a:blip r:embed="rId6"/>
          <a:stretch>
            <a:fillRect/>
          </a:stretch>
        </p:blipFill>
        <p:spPr>
          <a:xfrm>
            <a:off x="5040625" y="2182752"/>
            <a:ext cx="2369826" cy="1888338"/>
          </a:xfrm>
          <a:prstGeom prst="rect">
            <a:avLst/>
          </a:prstGeom>
        </p:spPr>
      </p:pic>
      <p:pic>
        <p:nvPicPr>
          <p:cNvPr id="15" name="Picture 14">
            <a:extLst>
              <a:ext uri="{FF2B5EF4-FFF2-40B4-BE49-F238E27FC236}">
                <a16:creationId xmlns:a16="http://schemas.microsoft.com/office/drawing/2014/main" id="{3CD9D9ED-B32C-204B-99ED-BEA622E770ED}"/>
              </a:ext>
            </a:extLst>
          </p:cNvPr>
          <p:cNvPicPr>
            <a:picLocks noChangeAspect="1"/>
          </p:cNvPicPr>
          <p:nvPr/>
        </p:nvPicPr>
        <p:blipFill>
          <a:blip r:embed="rId7"/>
          <a:stretch>
            <a:fillRect/>
          </a:stretch>
        </p:blipFill>
        <p:spPr>
          <a:xfrm>
            <a:off x="8697171" y="2145067"/>
            <a:ext cx="2591866" cy="1926023"/>
          </a:xfrm>
          <a:prstGeom prst="rect">
            <a:avLst/>
          </a:prstGeom>
        </p:spPr>
      </p:pic>
      <p:pic>
        <p:nvPicPr>
          <p:cNvPr id="16" name="Picture 15">
            <a:extLst>
              <a:ext uri="{FF2B5EF4-FFF2-40B4-BE49-F238E27FC236}">
                <a16:creationId xmlns:a16="http://schemas.microsoft.com/office/drawing/2014/main" id="{5227C0DA-BEB0-001C-C226-88739AE8ED57}"/>
              </a:ext>
            </a:extLst>
          </p:cNvPr>
          <p:cNvPicPr>
            <a:picLocks noChangeAspect="1"/>
          </p:cNvPicPr>
          <p:nvPr/>
        </p:nvPicPr>
        <p:blipFill>
          <a:blip r:embed="rId8"/>
          <a:stretch>
            <a:fillRect/>
          </a:stretch>
        </p:blipFill>
        <p:spPr>
          <a:xfrm>
            <a:off x="1286502" y="2145067"/>
            <a:ext cx="2489007" cy="1950629"/>
          </a:xfrm>
          <a:prstGeom prst="rect">
            <a:avLst/>
          </a:prstGeom>
        </p:spPr>
      </p:pic>
      <p:sp>
        <p:nvSpPr>
          <p:cNvPr id="17" name="Rectangle 16">
            <a:extLst>
              <a:ext uri="{FF2B5EF4-FFF2-40B4-BE49-F238E27FC236}">
                <a16:creationId xmlns:a16="http://schemas.microsoft.com/office/drawing/2014/main" id="{63C783AE-088B-4954-8FA4-18407F5AAE47}"/>
              </a:ext>
            </a:extLst>
          </p:cNvPr>
          <p:cNvSpPr/>
          <p:nvPr/>
        </p:nvSpPr>
        <p:spPr>
          <a:xfrm>
            <a:off x="1505836" y="4779475"/>
            <a:ext cx="712147" cy="285627"/>
          </a:xfrm>
          <a:prstGeom prst="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a:solidFill>
                  <a:schemeClr val="tx1"/>
                </a:solidFill>
                <a:latin typeface="Tajawal" panose="00000500000000000000" pitchFamily="2" charset="-78"/>
                <a:cs typeface="Tajawal" panose="00000500000000000000" pitchFamily="2" charset="-78"/>
              </a:rPr>
              <a:t>22</a:t>
            </a:r>
          </a:p>
        </p:txBody>
      </p:sp>
      <p:sp>
        <p:nvSpPr>
          <p:cNvPr id="34" name="Rectangle 33">
            <a:extLst>
              <a:ext uri="{FF2B5EF4-FFF2-40B4-BE49-F238E27FC236}">
                <a16:creationId xmlns:a16="http://schemas.microsoft.com/office/drawing/2014/main" id="{1A5EC7FF-8FFB-D681-9DC4-5ED1FFC85584}"/>
              </a:ext>
            </a:extLst>
          </p:cNvPr>
          <p:cNvSpPr/>
          <p:nvPr/>
        </p:nvSpPr>
        <p:spPr>
          <a:xfrm>
            <a:off x="1553461" y="5176794"/>
            <a:ext cx="600881" cy="276999"/>
          </a:xfrm>
          <a:prstGeom prst="rect">
            <a:avLst/>
          </a:prstGeom>
          <a:solidFill>
            <a:schemeClr val="bg1"/>
          </a:solidFill>
          <a:ln>
            <a:solidFill>
              <a:srgbClr val="D29A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a:solidFill>
                  <a:schemeClr val="tx1"/>
                </a:solidFill>
                <a:latin typeface="EYInterstate" panose="02000503020000020004" pitchFamily="2" charset="0"/>
              </a:rPr>
              <a:t>7</a:t>
            </a:r>
          </a:p>
        </p:txBody>
      </p:sp>
      <p:sp>
        <p:nvSpPr>
          <p:cNvPr id="35" name="TextBox 34">
            <a:extLst>
              <a:ext uri="{FF2B5EF4-FFF2-40B4-BE49-F238E27FC236}">
                <a16:creationId xmlns:a16="http://schemas.microsoft.com/office/drawing/2014/main" id="{7DFDC225-42DC-850E-B543-1D617BA2905C}"/>
              </a:ext>
            </a:extLst>
          </p:cNvPr>
          <p:cNvSpPr txBox="1"/>
          <p:nvPr/>
        </p:nvSpPr>
        <p:spPr>
          <a:xfrm>
            <a:off x="2314575" y="4791855"/>
            <a:ext cx="1551303" cy="307777"/>
          </a:xfrm>
          <a:prstGeom prst="rect">
            <a:avLst/>
          </a:prstGeom>
          <a:noFill/>
        </p:spPr>
        <p:txBody>
          <a:bodyPr wrap="square" rtlCol="0">
            <a:spAutoFit/>
          </a:bodyPr>
          <a:lstStyle/>
          <a:p>
            <a:r>
              <a:rPr lang="en-US" sz="1400" b="1">
                <a:latin typeface="Tajawal" panose="00000500000000000000" pitchFamily="2" charset="-78"/>
                <a:cs typeface="Tajawal" panose="00000500000000000000" pitchFamily="2" charset="-78"/>
              </a:rPr>
              <a:t>Total KPIs</a:t>
            </a:r>
          </a:p>
        </p:txBody>
      </p:sp>
      <p:sp>
        <p:nvSpPr>
          <p:cNvPr id="36" name="TextBox 35">
            <a:extLst>
              <a:ext uri="{FF2B5EF4-FFF2-40B4-BE49-F238E27FC236}">
                <a16:creationId xmlns:a16="http://schemas.microsoft.com/office/drawing/2014/main" id="{366F88FC-1E18-C12F-C26D-3B75061CDD7A}"/>
              </a:ext>
            </a:extLst>
          </p:cNvPr>
          <p:cNvSpPr txBox="1"/>
          <p:nvPr/>
        </p:nvSpPr>
        <p:spPr>
          <a:xfrm>
            <a:off x="2314576" y="5187840"/>
            <a:ext cx="1028700" cy="276999"/>
          </a:xfrm>
          <a:prstGeom prst="rect">
            <a:avLst/>
          </a:prstGeom>
          <a:noFill/>
        </p:spPr>
        <p:txBody>
          <a:bodyPr wrap="square" rtlCol="0">
            <a:spAutoFit/>
          </a:bodyPr>
          <a:lstStyle/>
          <a:p>
            <a:r>
              <a:rPr lang="en-US" sz="1200" i="1">
                <a:latin typeface="EYInterstate" panose="02000503020000020004" pitchFamily="2" charset="0"/>
              </a:rPr>
              <a:t>Must have</a:t>
            </a:r>
          </a:p>
        </p:txBody>
      </p:sp>
      <p:sp>
        <p:nvSpPr>
          <p:cNvPr id="37" name="TextBox 36">
            <a:extLst>
              <a:ext uri="{FF2B5EF4-FFF2-40B4-BE49-F238E27FC236}">
                <a16:creationId xmlns:a16="http://schemas.microsoft.com/office/drawing/2014/main" id="{B6347CEC-4556-1299-FC34-0859381903E0}"/>
              </a:ext>
            </a:extLst>
          </p:cNvPr>
          <p:cNvSpPr txBox="1"/>
          <p:nvPr/>
        </p:nvSpPr>
        <p:spPr>
          <a:xfrm>
            <a:off x="2314575" y="5547879"/>
            <a:ext cx="1551303" cy="276999"/>
          </a:xfrm>
          <a:prstGeom prst="rect">
            <a:avLst/>
          </a:prstGeom>
          <a:noFill/>
        </p:spPr>
        <p:txBody>
          <a:bodyPr wrap="square" rtlCol="0">
            <a:spAutoFit/>
          </a:bodyPr>
          <a:lstStyle/>
          <a:p>
            <a:r>
              <a:rPr lang="en-US" sz="1200" i="1">
                <a:latin typeface="EYInterstate" panose="02000503020000020004" pitchFamily="2" charset="0"/>
              </a:rPr>
              <a:t>Need to have</a:t>
            </a:r>
          </a:p>
        </p:txBody>
      </p:sp>
      <p:sp>
        <p:nvSpPr>
          <p:cNvPr id="38" name="Rectangle 37">
            <a:extLst>
              <a:ext uri="{FF2B5EF4-FFF2-40B4-BE49-F238E27FC236}">
                <a16:creationId xmlns:a16="http://schemas.microsoft.com/office/drawing/2014/main" id="{33968B7B-8B17-7693-AA8E-76B7925F32C0}"/>
              </a:ext>
            </a:extLst>
          </p:cNvPr>
          <p:cNvSpPr/>
          <p:nvPr/>
        </p:nvSpPr>
        <p:spPr>
          <a:xfrm>
            <a:off x="1553461" y="5547879"/>
            <a:ext cx="600881" cy="276999"/>
          </a:xfrm>
          <a:prstGeom prst="rect">
            <a:avLst/>
          </a:prstGeom>
          <a:solidFill>
            <a:schemeClr val="bg1"/>
          </a:solidFill>
          <a:ln>
            <a:solidFill>
              <a:srgbClr val="D29A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a:solidFill>
                  <a:schemeClr val="tx1"/>
                </a:solidFill>
                <a:latin typeface="EYInterstate" panose="02000503020000020004" pitchFamily="2" charset="0"/>
              </a:rPr>
              <a:t>6</a:t>
            </a:r>
          </a:p>
        </p:txBody>
      </p:sp>
      <p:sp>
        <p:nvSpPr>
          <p:cNvPr id="39" name="Rectangle 38">
            <a:extLst>
              <a:ext uri="{FF2B5EF4-FFF2-40B4-BE49-F238E27FC236}">
                <a16:creationId xmlns:a16="http://schemas.microsoft.com/office/drawing/2014/main" id="{89DA3654-A3C0-CA0C-E1C6-7B1546F82681}"/>
              </a:ext>
            </a:extLst>
          </p:cNvPr>
          <p:cNvSpPr/>
          <p:nvPr/>
        </p:nvSpPr>
        <p:spPr>
          <a:xfrm>
            <a:off x="1553461" y="5924829"/>
            <a:ext cx="600881" cy="276999"/>
          </a:xfrm>
          <a:prstGeom prst="rect">
            <a:avLst/>
          </a:prstGeom>
          <a:solidFill>
            <a:schemeClr val="bg1"/>
          </a:solidFill>
          <a:ln>
            <a:solidFill>
              <a:srgbClr val="D29A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a:solidFill>
                  <a:schemeClr val="tx1"/>
                </a:solidFill>
                <a:latin typeface="EYInterstate" panose="02000503020000020004" pitchFamily="2" charset="0"/>
              </a:rPr>
              <a:t>9</a:t>
            </a:r>
          </a:p>
        </p:txBody>
      </p:sp>
      <p:sp>
        <p:nvSpPr>
          <p:cNvPr id="40" name="TextBox 39">
            <a:extLst>
              <a:ext uri="{FF2B5EF4-FFF2-40B4-BE49-F238E27FC236}">
                <a16:creationId xmlns:a16="http://schemas.microsoft.com/office/drawing/2014/main" id="{B9B1DAE5-928B-187C-1DCA-56E0AA8722B6}"/>
              </a:ext>
            </a:extLst>
          </p:cNvPr>
          <p:cNvSpPr txBox="1"/>
          <p:nvPr/>
        </p:nvSpPr>
        <p:spPr>
          <a:xfrm>
            <a:off x="2314574" y="5939782"/>
            <a:ext cx="1551303" cy="276999"/>
          </a:xfrm>
          <a:prstGeom prst="rect">
            <a:avLst/>
          </a:prstGeom>
          <a:noFill/>
        </p:spPr>
        <p:txBody>
          <a:bodyPr wrap="square" rtlCol="0">
            <a:spAutoFit/>
          </a:bodyPr>
          <a:lstStyle/>
          <a:p>
            <a:r>
              <a:rPr lang="en-US" sz="1200" i="1">
                <a:latin typeface="EYInterstate" panose="02000503020000020004" pitchFamily="2" charset="0"/>
              </a:rPr>
              <a:t>Good to have</a:t>
            </a:r>
          </a:p>
        </p:txBody>
      </p:sp>
      <p:sp>
        <p:nvSpPr>
          <p:cNvPr id="41" name="Rectangle 40">
            <a:extLst>
              <a:ext uri="{FF2B5EF4-FFF2-40B4-BE49-F238E27FC236}">
                <a16:creationId xmlns:a16="http://schemas.microsoft.com/office/drawing/2014/main" id="{65710A47-D3FF-88F2-2C36-3CA6AF46541C}"/>
              </a:ext>
            </a:extLst>
          </p:cNvPr>
          <p:cNvSpPr/>
          <p:nvPr/>
        </p:nvSpPr>
        <p:spPr>
          <a:xfrm>
            <a:off x="5250749" y="4779475"/>
            <a:ext cx="712147" cy="285627"/>
          </a:xfrm>
          <a:prstGeom prst="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a:solidFill>
                  <a:schemeClr val="tx1"/>
                </a:solidFill>
                <a:latin typeface="Tajawal" panose="00000500000000000000" pitchFamily="2" charset="-78"/>
                <a:cs typeface="Tajawal" panose="00000500000000000000" pitchFamily="2" charset="-78"/>
              </a:rPr>
              <a:t>12</a:t>
            </a:r>
          </a:p>
        </p:txBody>
      </p:sp>
      <p:sp>
        <p:nvSpPr>
          <p:cNvPr id="42" name="Rectangle 41">
            <a:extLst>
              <a:ext uri="{FF2B5EF4-FFF2-40B4-BE49-F238E27FC236}">
                <a16:creationId xmlns:a16="http://schemas.microsoft.com/office/drawing/2014/main" id="{CB55E62F-1F68-F939-2C22-AEA51C42334E}"/>
              </a:ext>
            </a:extLst>
          </p:cNvPr>
          <p:cNvSpPr/>
          <p:nvPr/>
        </p:nvSpPr>
        <p:spPr>
          <a:xfrm>
            <a:off x="5298374" y="5176794"/>
            <a:ext cx="600881" cy="276999"/>
          </a:xfrm>
          <a:prstGeom prst="rect">
            <a:avLst/>
          </a:prstGeom>
          <a:solidFill>
            <a:schemeClr val="bg1"/>
          </a:solidFill>
          <a:ln>
            <a:solidFill>
              <a:srgbClr val="D29A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a:solidFill>
                  <a:schemeClr val="tx1"/>
                </a:solidFill>
                <a:latin typeface="EYInterstate" panose="02000503020000020004" pitchFamily="2" charset="0"/>
              </a:rPr>
              <a:t>5</a:t>
            </a:r>
          </a:p>
        </p:txBody>
      </p:sp>
      <p:sp>
        <p:nvSpPr>
          <p:cNvPr id="43" name="TextBox 42">
            <a:extLst>
              <a:ext uri="{FF2B5EF4-FFF2-40B4-BE49-F238E27FC236}">
                <a16:creationId xmlns:a16="http://schemas.microsoft.com/office/drawing/2014/main" id="{FAAC1A4D-355D-63C3-A995-C4D084ED151A}"/>
              </a:ext>
            </a:extLst>
          </p:cNvPr>
          <p:cNvSpPr txBox="1"/>
          <p:nvPr/>
        </p:nvSpPr>
        <p:spPr>
          <a:xfrm>
            <a:off x="6059488" y="4791855"/>
            <a:ext cx="1551303" cy="307777"/>
          </a:xfrm>
          <a:prstGeom prst="rect">
            <a:avLst/>
          </a:prstGeom>
          <a:noFill/>
        </p:spPr>
        <p:txBody>
          <a:bodyPr wrap="square" rtlCol="0">
            <a:spAutoFit/>
          </a:bodyPr>
          <a:lstStyle/>
          <a:p>
            <a:r>
              <a:rPr lang="en-US" sz="1400" b="1">
                <a:latin typeface="Tajawal" panose="00000500000000000000" pitchFamily="2" charset="-78"/>
                <a:cs typeface="Tajawal" panose="00000500000000000000" pitchFamily="2" charset="-78"/>
              </a:rPr>
              <a:t>Total KPIs</a:t>
            </a:r>
          </a:p>
        </p:txBody>
      </p:sp>
      <p:sp>
        <p:nvSpPr>
          <p:cNvPr id="44" name="TextBox 43">
            <a:extLst>
              <a:ext uri="{FF2B5EF4-FFF2-40B4-BE49-F238E27FC236}">
                <a16:creationId xmlns:a16="http://schemas.microsoft.com/office/drawing/2014/main" id="{ECE66C53-DC9C-EF1B-E18E-484C9813E004}"/>
              </a:ext>
            </a:extLst>
          </p:cNvPr>
          <p:cNvSpPr txBox="1"/>
          <p:nvPr/>
        </p:nvSpPr>
        <p:spPr>
          <a:xfrm>
            <a:off x="6059489" y="5187840"/>
            <a:ext cx="1028700" cy="276999"/>
          </a:xfrm>
          <a:prstGeom prst="rect">
            <a:avLst/>
          </a:prstGeom>
          <a:noFill/>
        </p:spPr>
        <p:txBody>
          <a:bodyPr wrap="square" rtlCol="0">
            <a:spAutoFit/>
          </a:bodyPr>
          <a:lstStyle/>
          <a:p>
            <a:r>
              <a:rPr lang="en-US" sz="1200" i="1">
                <a:latin typeface="EYInterstate" panose="02000503020000020004" pitchFamily="2" charset="0"/>
              </a:rPr>
              <a:t>Must have</a:t>
            </a:r>
          </a:p>
        </p:txBody>
      </p:sp>
      <p:sp>
        <p:nvSpPr>
          <p:cNvPr id="45" name="TextBox 44">
            <a:extLst>
              <a:ext uri="{FF2B5EF4-FFF2-40B4-BE49-F238E27FC236}">
                <a16:creationId xmlns:a16="http://schemas.microsoft.com/office/drawing/2014/main" id="{346C85F7-E726-7CB0-3D52-2AD2B73BB837}"/>
              </a:ext>
            </a:extLst>
          </p:cNvPr>
          <p:cNvSpPr txBox="1"/>
          <p:nvPr/>
        </p:nvSpPr>
        <p:spPr>
          <a:xfrm>
            <a:off x="6059488" y="5547879"/>
            <a:ext cx="1551303" cy="276999"/>
          </a:xfrm>
          <a:prstGeom prst="rect">
            <a:avLst/>
          </a:prstGeom>
          <a:noFill/>
        </p:spPr>
        <p:txBody>
          <a:bodyPr wrap="square" rtlCol="0">
            <a:spAutoFit/>
          </a:bodyPr>
          <a:lstStyle/>
          <a:p>
            <a:r>
              <a:rPr lang="en-US" sz="1200" i="1">
                <a:latin typeface="EYInterstate" panose="02000503020000020004" pitchFamily="2" charset="0"/>
              </a:rPr>
              <a:t>Need to have</a:t>
            </a:r>
          </a:p>
        </p:txBody>
      </p:sp>
      <p:sp>
        <p:nvSpPr>
          <p:cNvPr id="46" name="Rectangle 45">
            <a:extLst>
              <a:ext uri="{FF2B5EF4-FFF2-40B4-BE49-F238E27FC236}">
                <a16:creationId xmlns:a16="http://schemas.microsoft.com/office/drawing/2014/main" id="{FF30382A-EE4B-8EA8-03D5-945112A758B3}"/>
              </a:ext>
            </a:extLst>
          </p:cNvPr>
          <p:cNvSpPr/>
          <p:nvPr/>
        </p:nvSpPr>
        <p:spPr>
          <a:xfrm>
            <a:off x="5298374" y="5547879"/>
            <a:ext cx="600881" cy="276999"/>
          </a:xfrm>
          <a:prstGeom prst="rect">
            <a:avLst/>
          </a:prstGeom>
          <a:solidFill>
            <a:schemeClr val="bg1"/>
          </a:solidFill>
          <a:ln>
            <a:solidFill>
              <a:srgbClr val="D29A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a:solidFill>
                  <a:schemeClr val="tx1"/>
                </a:solidFill>
                <a:latin typeface="EYInterstate" panose="02000503020000020004" pitchFamily="2" charset="0"/>
              </a:rPr>
              <a:t>2</a:t>
            </a:r>
          </a:p>
        </p:txBody>
      </p:sp>
      <p:sp>
        <p:nvSpPr>
          <p:cNvPr id="47" name="Rectangle 46">
            <a:extLst>
              <a:ext uri="{FF2B5EF4-FFF2-40B4-BE49-F238E27FC236}">
                <a16:creationId xmlns:a16="http://schemas.microsoft.com/office/drawing/2014/main" id="{9D8E9BAC-54FB-0B0A-895F-22AD17C92189}"/>
              </a:ext>
            </a:extLst>
          </p:cNvPr>
          <p:cNvSpPr/>
          <p:nvPr/>
        </p:nvSpPr>
        <p:spPr>
          <a:xfrm>
            <a:off x="5298374" y="5924829"/>
            <a:ext cx="600881" cy="276999"/>
          </a:xfrm>
          <a:prstGeom prst="rect">
            <a:avLst/>
          </a:prstGeom>
          <a:solidFill>
            <a:schemeClr val="bg1"/>
          </a:solidFill>
          <a:ln>
            <a:solidFill>
              <a:srgbClr val="D29A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a:solidFill>
                  <a:schemeClr val="tx1"/>
                </a:solidFill>
                <a:latin typeface="EYInterstate" panose="02000503020000020004" pitchFamily="2" charset="0"/>
              </a:rPr>
              <a:t>5</a:t>
            </a:r>
          </a:p>
        </p:txBody>
      </p:sp>
      <p:sp>
        <p:nvSpPr>
          <p:cNvPr id="48" name="TextBox 47">
            <a:extLst>
              <a:ext uri="{FF2B5EF4-FFF2-40B4-BE49-F238E27FC236}">
                <a16:creationId xmlns:a16="http://schemas.microsoft.com/office/drawing/2014/main" id="{53615134-E829-7142-8577-555B2AF61CCC}"/>
              </a:ext>
            </a:extLst>
          </p:cNvPr>
          <p:cNvSpPr txBox="1"/>
          <p:nvPr/>
        </p:nvSpPr>
        <p:spPr>
          <a:xfrm>
            <a:off x="6059487" y="5939782"/>
            <a:ext cx="1551303" cy="276999"/>
          </a:xfrm>
          <a:prstGeom prst="rect">
            <a:avLst/>
          </a:prstGeom>
          <a:noFill/>
        </p:spPr>
        <p:txBody>
          <a:bodyPr wrap="square" rtlCol="0">
            <a:spAutoFit/>
          </a:bodyPr>
          <a:lstStyle/>
          <a:p>
            <a:r>
              <a:rPr lang="en-US" sz="1200" i="1">
                <a:latin typeface="EYInterstate" panose="02000503020000020004" pitchFamily="2" charset="0"/>
              </a:rPr>
              <a:t>Good to have</a:t>
            </a:r>
          </a:p>
        </p:txBody>
      </p:sp>
      <p:sp>
        <p:nvSpPr>
          <p:cNvPr id="49" name="Rectangle 48">
            <a:extLst>
              <a:ext uri="{FF2B5EF4-FFF2-40B4-BE49-F238E27FC236}">
                <a16:creationId xmlns:a16="http://schemas.microsoft.com/office/drawing/2014/main" id="{4312BD6B-A4A8-08B4-FB83-11074CBCECDB}"/>
              </a:ext>
            </a:extLst>
          </p:cNvPr>
          <p:cNvSpPr/>
          <p:nvPr/>
        </p:nvSpPr>
        <p:spPr>
          <a:xfrm>
            <a:off x="8928995" y="4754869"/>
            <a:ext cx="712147" cy="285627"/>
          </a:xfrm>
          <a:prstGeom prst="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a:solidFill>
                  <a:schemeClr val="tx1"/>
                </a:solidFill>
                <a:latin typeface="Tajawal" panose="00000500000000000000" pitchFamily="2" charset="-78"/>
                <a:cs typeface="Tajawal" panose="00000500000000000000" pitchFamily="2" charset="-78"/>
              </a:rPr>
              <a:t>14</a:t>
            </a:r>
          </a:p>
        </p:txBody>
      </p:sp>
      <p:sp>
        <p:nvSpPr>
          <p:cNvPr id="50" name="Rectangle 49">
            <a:extLst>
              <a:ext uri="{FF2B5EF4-FFF2-40B4-BE49-F238E27FC236}">
                <a16:creationId xmlns:a16="http://schemas.microsoft.com/office/drawing/2014/main" id="{4C77DBDB-41D7-EADB-650A-D58F4E2D5074}"/>
              </a:ext>
            </a:extLst>
          </p:cNvPr>
          <p:cNvSpPr/>
          <p:nvPr/>
        </p:nvSpPr>
        <p:spPr>
          <a:xfrm>
            <a:off x="8976620" y="5152188"/>
            <a:ext cx="600881" cy="276999"/>
          </a:xfrm>
          <a:prstGeom prst="rect">
            <a:avLst/>
          </a:prstGeom>
          <a:solidFill>
            <a:schemeClr val="bg1"/>
          </a:solidFill>
          <a:ln>
            <a:solidFill>
              <a:srgbClr val="D29A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a:solidFill>
                  <a:schemeClr val="tx1"/>
                </a:solidFill>
                <a:latin typeface="EYInterstate" panose="02000503020000020004" pitchFamily="2" charset="0"/>
              </a:rPr>
              <a:t>3</a:t>
            </a:r>
          </a:p>
        </p:txBody>
      </p:sp>
      <p:sp>
        <p:nvSpPr>
          <p:cNvPr id="51" name="TextBox 50">
            <a:extLst>
              <a:ext uri="{FF2B5EF4-FFF2-40B4-BE49-F238E27FC236}">
                <a16:creationId xmlns:a16="http://schemas.microsoft.com/office/drawing/2014/main" id="{0BC34E91-B90B-6C76-6DBE-C172B8C6A18B}"/>
              </a:ext>
            </a:extLst>
          </p:cNvPr>
          <p:cNvSpPr txBox="1"/>
          <p:nvPr/>
        </p:nvSpPr>
        <p:spPr>
          <a:xfrm>
            <a:off x="9737734" y="4767249"/>
            <a:ext cx="1551303" cy="307777"/>
          </a:xfrm>
          <a:prstGeom prst="rect">
            <a:avLst/>
          </a:prstGeom>
          <a:noFill/>
        </p:spPr>
        <p:txBody>
          <a:bodyPr wrap="square" rtlCol="0">
            <a:spAutoFit/>
          </a:bodyPr>
          <a:lstStyle/>
          <a:p>
            <a:r>
              <a:rPr lang="en-US" sz="1400" b="1">
                <a:latin typeface="Tajawal" panose="00000500000000000000" pitchFamily="2" charset="-78"/>
                <a:cs typeface="Tajawal" panose="00000500000000000000" pitchFamily="2" charset="-78"/>
              </a:rPr>
              <a:t>Total KPIs</a:t>
            </a:r>
          </a:p>
        </p:txBody>
      </p:sp>
      <p:sp>
        <p:nvSpPr>
          <p:cNvPr id="52" name="TextBox 51">
            <a:extLst>
              <a:ext uri="{FF2B5EF4-FFF2-40B4-BE49-F238E27FC236}">
                <a16:creationId xmlns:a16="http://schemas.microsoft.com/office/drawing/2014/main" id="{65CC8F80-EF6C-DCBB-0924-0E7004865907}"/>
              </a:ext>
            </a:extLst>
          </p:cNvPr>
          <p:cNvSpPr txBox="1"/>
          <p:nvPr/>
        </p:nvSpPr>
        <p:spPr>
          <a:xfrm>
            <a:off x="9737735" y="5163234"/>
            <a:ext cx="1028700" cy="276999"/>
          </a:xfrm>
          <a:prstGeom prst="rect">
            <a:avLst/>
          </a:prstGeom>
          <a:noFill/>
        </p:spPr>
        <p:txBody>
          <a:bodyPr wrap="square" rtlCol="0">
            <a:spAutoFit/>
          </a:bodyPr>
          <a:lstStyle/>
          <a:p>
            <a:r>
              <a:rPr lang="en-US" sz="1200" i="1">
                <a:latin typeface="EYInterstate" panose="02000503020000020004" pitchFamily="2" charset="0"/>
              </a:rPr>
              <a:t>Must have</a:t>
            </a:r>
          </a:p>
        </p:txBody>
      </p:sp>
      <p:sp>
        <p:nvSpPr>
          <p:cNvPr id="53" name="TextBox 52">
            <a:extLst>
              <a:ext uri="{FF2B5EF4-FFF2-40B4-BE49-F238E27FC236}">
                <a16:creationId xmlns:a16="http://schemas.microsoft.com/office/drawing/2014/main" id="{8780AC1E-5009-276E-98BC-AFE8D17234A4}"/>
              </a:ext>
            </a:extLst>
          </p:cNvPr>
          <p:cNvSpPr txBox="1"/>
          <p:nvPr/>
        </p:nvSpPr>
        <p:spPr>
          <a:xfrm>
            <a:off x="9737734" y="5523273"/>
            <a:ext cx="1551303" cy="276999"/>
          </a:xfrm>
          <a:prstGeom prst="rect">
            <a:avLst/>
          </a:prstGeom>
          <a:noFill/>
        </p:spPr>
        <p:txBody>
          <a:bodyPr wrap="square" rtlCol="0">
            <a:spAutoFit/>
          </a:bodyPr>
          <a:lstStyle/>
          <a:p>
            <a:r>
              <a:rPr lang="en-US" sz="1200" i="1">
                <a:latin typeface="EYInterstate" panose="02000503020000020004" pitchFamily="2" charset="0"/>
              </a:rPr>
              <a:t>Need to have</a:t>
            </a:r>
          </a:p>
        </p:txBody>
      </p:sp>
      <p:sp>
        <p:nvSpPr>
          <p:cNvPr id="54" name="Rectangle 53">
            <a:extLst>
              <a:ext uri="{FF2B5EF4-FFF2-40B4-BE49-F238E27FC236}">
                <a16:creationId xmlns:a16="http://schemas.microsoft.com/office/drawing/2014/main" id="{6C52129C-924B-70F2-5443-08E2BBE1F4A1}"/>
              </a:ext>
            </a:extLst>
          </p:cNvPr>
          <p:cNvSpPr/>
          <p:nvPr/>
        </p:nvSpPr>
        <p:spPr>
          <a:xfrm>
            <a:off x="8976620" y="5523273"/>
            <a:ext cx="600881" cy="276999"/>
          </a:xfrm>
          <a:prstGeom prst="rect">
            <a:avLst/>
          </a:prstGeom>
          <a:solidFill>
            <a:schemeClr val="bg1"/>
          </a:solidFill>
          <a:ln>
            <a:solidFill>
              <a:srgbClr val="D29A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a:solidFill>
                  <a:schemeClr val="tx1"/>
                </a:solidFill>
                <a:latin typeface="EYInterstate" panose="02000503020000020004" pitchFamily="2" charset="0"/>
              </a:rPr>
              <a:t>4</a:t>
            </a:r>
          </a:p>
        </p:txBody>
      </p:sp>
      <p:sp>
        <p:nvSpPr>
          <p:cNvPr id="55" name="Rectangle 54">
            <a:extLst>
              <a:ext uri="{FF2B5EF4-FFF2-40B4-BE49-F238E27FC236}">
                <a16:creationId xmlns:a16="http://schemas.microsoft.com/office/drawing/2014/main" id="{E5B84028-EBA2-49D3-9037-9BFC81361FC8}"/>
              </a:ext>
            </a:extLst>
          </p:cNvPr>
          <p:cNvSpPr/>
          <p:nvPr/>
        </p:nvSpPr>
        <p:spPr>
          <a:xfrm>
            <a:off x="8976620" y="5900223"/>
            <a:ext cx="600881" cy="276999"/>
          </a:xfrm>
          <a:prstGeom prst="rect">
            <a:avLst/>
          </a:prstGeom>
          <a:solidFill>
            <a:schemeClr val="bg1"/>
          </a:solidFill>
          <a:ln>
            <a:solidFill>
              <a:srgbClr val="D29A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a:solidFill>
                  <a:schemeClr val="tx1"/>
                </a:solidFill>
                <a:latin typeface="EYInterstate" panose="02000503020000020004" pitchFamily="2" charset="0"/>
              </a:rPr>
              <a:t>7</a:t>
            </a:r>
          </a:p>
        </p:txBody>
      </p:sp>
      <p:sp>
        <p:nvSpPr>
          <p:cNvPr id="56" name="TextBox 55">
            <a:extLst>
              <a:ext uri="{FF2B5EF4-FFF2-40B4-BE49-F238E27FC236}">
                <a16:creationId xmlns:a16="http://schemas.microsoft.com/office/drawing/2014/main" id="{FDBC7121-E18F-4B71-97CF-D8B233B8A329}"/>
              </a:ext>
            </a:extLst>
          </p:cNvPr>
          <p:cNvSpPr txBox="1"/>
          <p:nvPr/>
        </p:nvSpPr>
        <p:spPr>
          <a:xfrm>
            <a:off x="9737733" y="5915176"/>
            <a:ext cx="1551303" cy="276999"/>
          </a:xfrm>
          <a:prstGeom prst="rect">
            <a:avLst/>
          </a:prstGeom>
          <a:noFill/>
        </p:spPr>
        <p:txBody>
          <a:bodyPr wrap="square" rtlCol="0">
            <a:spAutoFit/>
          </a:bodyPr>
          <a:lstStyle/>
          <a:p>
            <a:r>
              <a:rPr lang="en-US" sz="1200" i="1">
                <a:latin typeface="EYInterstate" panose="02000503020000020004" pitchFamily="2" charset="0"/>
              </a:rPr>
              <a:t>Good to have</a:t>
            </a:r>
          </a:p>
        </p:txBody>
      </p:sp>
      <p:pic>
        <p:nvPicPr>
          <p:cNvPr id="57" name="Picture 2" descr="Trophy - Free icons">
            <a:extLst>
              <a:ext uri="{FF2B5EF4-FFF2-40B4-BE49-F238E27FC236}">
                <a16:creationId xmlns:a16="http://schemas.microsoft.com/office/drawing/2014/main" id="{2526AAB8-9A84-EC96-9749-77306F7BEEDC}"/>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160794" y="5183456"/>
            <a:ext cx="276999" cy="276999"/>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8" descr="Need - Free commerce and shopping icons">
            <a:extLst>
              <a:ext uri="{FF2B5EF4-FFF2-40B4-BE49-F238E27FC236}">
                <a16:creationId xmlns:a16="http://schemas.microsoft.com/office/drawing/2014/main" id="{ACEF0F42-A05D-EAC4-654C-55B3D9C4CA1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188844" y="5557404"/>
            <a:ext cx="220897" cy="220897"/>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6" descr="Check - Free interface icons">
            <a:extLst>
              <a:ext uri="{FF2B5EF4-FFF2-40B4-BE49-F238E27FC236}">
                <a16:creationId xmlns:a16="http://schemas.microsoft.com/office/drawing/2014/main" id="{695BE6EB-93E9-A543-1F12-65D0255FE1A7}"/>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61543" y="5920732"/>
            <a:ext cx="276999" cy="276999"/>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Trophy - Free icons">
            <a:extLst>
              <a:ext uri="{FF2B5EF4-FFF2-40B4-BE49-F238E27FC236}">
                <a16:creationId xmlns:a16="http://schemas.microsoft.com/office/drawing/2014/main" id="{A3B3C5F6-A48A-5F39-AC66-C5F9D79B854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76257" y="5177900"/>
            <a:ext cx="276999" cy="276999"/>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8" descr="Need - Free commerce and shopping icons">
            <a:extLst>
              <a:ext uri="{FF2B5EF4-FFF2-40B4-BE49-F238E27FC236}">
                <a16:creationId xmlns:a16="http://schemas.microsoft.com/office/drawing/2014/main" id="{8595822D-48A2-D6C7-5026-16CDC4EAC76A}"/>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904307" y="5551848"/>
            <a:ext cx="220897" cy="220897"/>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 descr="Check - Free interface icons">
            <a:extLst>
              <a:ext uri="{FF2B5EF4-FFF2-40B4-BE49-F238E27FC236}">
                <a16:creationId xmlns:a16="http://schemas.microsoft.com/office/drawing/2014/main" id="{B86DB79E-280C-D1A5-878E-C3024996E63A}"/>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877006" y="5915176"/>
            <a:ext cx="276999" cy="27699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Trophy - Free icons">
            <a:extLst>
              <a:ext uri="{FF2B5EF4-FFF2-40B4-BE49-F238E27FC236}">
                <a16:creationId xmlns:a16="http://schemas.microsoft.com/office/drawing/2014/main" id="{4355C1D5-8CC0-EF8B-D32D-F2139238080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539936" y="5152188"/>
            <a:ext cx="276999" cy="276999"/>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8" descr="Need - Free commerce and shopping icons">
            <a:extLst>
              <a:ext uri="{FF2B5EF4-FFF2-40B4-BE49-F238E27FC236}">
                <a16:creationId xmlns:a16="http://schemas.microsoft.com/office/drawing/2014/main" id="{30715371-22E6-5DA2-8902-ECC06848B06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567986" y="5526136"/>
            <a:ext cx="220897" cy="220897"/>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 descr="Check - Free interface icons">
            <a:extLst>
              <a:ext uri="{FF2B5EF4-FFF2-40B4-BE49-F238E27FC236}">
                <a16:creationId xmlns:a16="http://schemas.microsoft.com/office/drawing/2014/main" id="{77566DC6-1628-C391-9590-43DCEDEA06F9}"/>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540685" y="5889464"/>
            <a:ext cx="276999" cy="276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061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63A90-CCE5-CC2F-18BC-55B09440FAA6}"/>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2B727475-61F9-0677-1362-7E1235AED54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18" name="think-cell data - do not delete" hidden="1">
                        <a:extLst>
                          <a:ext uri="{FF2B5EF4-FFF2-40B4-BE49-F238E27FC236}">
                            <a16:creationId xmlns:a16="http://schemas.microsoft.com/office/drawing/2014/main" id="{2B727475-61F9-0677-1362-7E1235AED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Title 7">
            <a:extLst>
              <a:ext uri="{FF2B5EF4-FFF2-40B4-BE49-F238E27FC236}">
                <a16:creationId xmlns:a16="http://schemas.microsoft.com/office/drawing/2014/main" id="{A53DEFE7-B7AA-0A8C-18D5-B495BCF9D3A4}"/>
              </a:ext>
            </a:extLst>
          </p:cNvPr>
          <p:cNvSpPr txBox="1">
            <a:spLocks/>
          </p:cNvSpPr>
          <p:nvPr/>
        </p:nvSpPr>
        <p:spPr>
          <a:xfrm>
            <a:off x="599800" y="316277"/>
            <a:ext cx="11062949" cy="313033"/>
          </a:xfrm>
          <a:prstGeom prst="rect">
            <a:avLst/>
          </a:prstGeom>
        </p:spPr>
        <p:txBody>
          <a:bodyPr vert="horz"/>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799" b="1">
                <a:solidFill>
                  <a:srgbClr val="7F3381"/>
                </a:solidFill>
                <a:latin typeface="EYInterstate Regular" panose="02000503020000020004" pitchFamily="2" charset="0"/>
              </a:rPr>
              <a:t>Enablement Session – Day 1</a:t>
            </a:r>
            <a:endParaRPr kumimoji="0" lang="en-US" sz="1799" b="1" i="0" u="none" strike="noStrike" kern="1200" cap="none" spc="0" normalizeH="0" baseline="0" noProof="0">
              <a:ln>
                <a:noFill/>
              </a:ln>
              <a:solidFill>
                <a:srgbClr val="7F3381"/>
              </a:solidFill>
              <a:effectLst/>
              <a:uLnTx/>
              <a:uFillTx/>
              <a:latin typeface="EYInterstate Regular" panose="02000503020000020004" pitchFamily="2" charset="0"/>
              <a:ea typeface="+mj-ea"/>
              <a:cs typeface="+mj-cs"/>
            </a:endParaRPr>
          </a:p>
        </p:txBody>
      </p:sp>
      <p:sp>
        <p:nvSpPr>
          <p:cNvPr id="31" name="TextBox 30">
            <a:extLst>
              <a:ext uri="{FF2B5EF4-FFF2-40B4-BE49-F238E27FC236}">
                <a16:creationId xmlns:a16="http://schemas.microsoft.com/office/drawing/2014/main" id="{27A93F63-CDD2-88C4-0A62-CAB4F54BC6D3}"/>
              </a:ext>
            </a:extLst>
          </p:cNvPr>
          <p:cNvSpPr txBox="1"/>
          <p:nvPr/>
        </p:nvSpPr>
        <p:spPr>
          <a:xfrm>
            <a:off x="652882" y="619368"/>
            <a:ext cx="11338887" cy="554112"/>
          </a:xfrm>
          <a:prstGeom prst="rect">
            <a:avLst/>
          </a:prstGeom>
          <a:noFill/>
          <a:ln w="9525" cap="flat" cmpd="sng" algn="ctr">
            <a:noFill/>
            <a:prstDash val="solid"/>
          </a:ln>
          <a:effectLst/>
        </p:spPr>
        <p:txBody>
          <a:bodyPr lIns="45648" rIns="0" rtlCol="0" anchor="t"/>
          <a:lstStyle>
            <a:defPPr>
              <a:defRPr lang="fr-FR"/>
            </a:defPPr>
            <a:lvl1pPr defTabSz="1220470">
              <a:spcAft>
                <a:spcPts val="1199"/>
              </a:spcAft>
              <a:defRPr sz="999">
                <a:solidFill>
                  <a:srgbClr val="000000">
                    <a:lumMod val="65000"/>
                    <a:lumOff val="35000"/>
                  </a:srgbClr>
                </a:solidFill>
                <a:cs typeface="Calibri Light" panose="020F0302020204030204" pitchFamily="34" charset="0"/>
              </a:defRPr>
            </a:lvl1pPr>
          </a:lstStyle>
          <a:p>
            <a:pPr lvl="0">
              <a:defRPr/>
            </a:pPr>
            <a:r>
              <a:rPr lang="en-US" sz="1400">
                <a:solidFill>
                  <a:srgbClr val="7F3381"/>
                </a:solidFill>
                <a:latin typeface="EYInterstate Regular" panose="02000503020000020004" pitchFamily="2" charset="0"/>
              </a:rPr>
              <a:t>Key moments captured</a:t>
            </a:r>
          </a:p>
        </p:txBody>
      </p:sp>
      <p:pic>
        <p:nvPicPr>
          <p:cNvPr id="4" name="Picture 3">
            <a:extLst>
              <a:ext uri="{FF2B5EF4-FFF2-40B4-BE49-F238E27FC236}">
                <a16:creationId xmlns:a16="http://schemas.microsoft.com/office/drawing/2014/main" id="{7CD43215-9D8D-9513-76EE-7250F90FDA1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36848" y="3636449"/>
            <a:ext cx="2031582" cy="1523687"/>
          </a:xfrm>
          <a:prstGeom prst="rect">
            <a:avLst/>
          </a:prstGeom>
        </p:spPr>
      </p:pic>
      <p:pic>
        <p:nvPicPr>
          <p:cNvPr id="8" name="Picture 7">
            <a:extLst>
              <a:ext uri="{FF2B5EF4-FFF2-40B4-BE49-F238E27FC236}">
                <a16:creationId xmlns:a16="http://schemas.microsoft.com/office/drawing/2014/main" id="{E664DF3A-7068-9393-161E-D7DD8E59CEB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782006" y="3690975"/>
            <a:ext cx="2031582" cy="1523687"/>
          </a:xfrm>
          <a:prstGeom prst="rect">
            <a:avLst/>
          </a:prstGeom>
        </p:spPr>
      </p:pic>
      <p:pic>
        <p:nvPicPr>
          <p:cNvPr id="10" name="Picture 9">
            <a:extLst>
              <a:ext uri="{FF2B5EF4-FFF2-40B4-BE49-F238E27FC236}">
                <a16:creationId xmlns:a16="http://schemas.microsoft.com/office/drawing/2014/main" id="{EA736433-592B-A40F-EB58-7DAA1569F3A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136848" y="1830100"/>
            <a:ext cx="2031582" cy="1523687"/>
          </a:xfrm>
          <a:prstGeom prst="rect">
            <a:avLst/>
          </a:prstGeom>
        </p:spPr>
      </p:pic>
      <p:pic>
        <p:nvPicPr>
          <p:cNvPr id="12" name="Picture 11">
            <a:extLst>
              <a:ext uri="{FF2B5EF4-FFF2-40B4-BE49-F238E27FC236}">
                <a16:creationId xmlns:a16="http://schemas.microsoft.com/office/drawing/2014/main" id="{BF467D5C-5434-7666-4538-58E55A81897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27328" y="1822294"/>
            <a:ext cx="2031582" cy="1523687"/>
          </a:xfrm>
          <a:prstGeom prst="rect">
            <a:avLst/>
          </a:prstGeom>
        </p:spPr>
      </p:pic>
      <p:pic>
        <p:nvPicPr>
          <p:cNvPr id="14" name="Picture 13">
            <a:extLst>
              <a:ext uri="{FF2B5EF4-FFF2-40B4-BE49-F238E27FC236}">
                <a16:creationId xmlns:a16="http://schemas.microsoft.com/office/drawing/2014/main" id="{ABB066E4-7236-E94D-7845-9596CD3E4A8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357750" y="3690975"/>
            <a:ext cx="2031582" cy="1523687"/>
          </a:xfrm>
          <a:prstGeom prst="rect">
            <a:avLst/>
          </a:prstGeom>
        </p:spPr>
      </p:pic>
      <p:pic>
        <p:nvPicPr>
          <p:cNvPr id="16" name="Picture 15">
            <a:extLst>
              <a:ext uri="{FF2B5EF4-FFF2-40B4-BE49-F238E27FC236}">
                <a16:creationId xmlns:a16="http://schemas.microsoft.com/office/drawing/2014/main" id="{6B351B75-D7BA-684B-5FA1-7472D83095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539456" y="1822293"/>
            <a:ext cx="2031582" cy="1523687"/>
          </a:xfrm>
          <a:prstGeom prst="rect">
            <a:avLst/>
          </a:prstGeom>
        </p:spPr>
      </p:pic>
      <p:pic>
        <p:nvPicPr>
          <p:cNvPr id="19" name="Picture 18">
            <a:extLst>
              <a:ext uri="{FF2B5EF4-FFF2-40B4-BE49-F238E27FC236}">
                <a16:creationId xmlns:a16="http://schemas.microsoft.com/office/drawing/2014/main" id="{10701455-2C1E-9DBC-3478-D200E95EBB29}"/>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569878" y="3690975"/>
            <a:ext cx="2031582" cy="1523687"/>
          </a:xfrm>
          <a:prstGeom prst="rect">
            <a:avLst/>
          </a:prstGeom>
        </p:spPr>
      </p:pic>
      <p:pic>
        <p:nvPicPr>
          <p:cNvPr id="21" name="Picture 20">
            <a:extLst>
              <a:ext uri="{FF2B5EF4-FFF2-40B4-BE49-F238E27FC236}">
                <a16:creationId xmlns:a16="http://schemas.microsoft.com/office/drawing/2014/main" id="{5517C64C-C6C3-F5CF-192B-CD0A7B5B1BD2}"/>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729936" y="1822292"/>
            <a:ext cx="2031582" cy="1523687"/>
          </a:xfrm>
          <a:prstGeom prst="rect">
            <a:avLst/>
          </a:prstGeom>
        </p:spPr>
      </p:pic>
      <p:pic>
        <p:nvPicPr>
          <p:cNvPr id="23" name="Picture 22">
            <a:extLst>
              <a:ext uri="{FF2B5EF4-FFF2-40B4-BE49-F238E27FC236}">
                <a16:creationId xmlns:a16="http://schemas.microsoft.com/office/drawing/2014/main" id="{4C6B51F5-EC49-00DF-1CD6-65BBD37563D2}"/>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24720" y="3636450"/>
            <a:ext cx="2031582" cy="1523687"/>
          </a:xfrm>
          <a:prstGeom prst="rect">
            <a:avLst/>
          </a:prstGeom>
        </p:spPr>
      </p:pic>
      <p:pic>
        <p:nvPicPr>
          <p:cNvPr id="25" name="Picture 24">
            <a:extLst>
              <a:ext uri="{FF2B5EF4-FFF2-40B4-BE49-F238E27FC236}">
                <a16:creationId xmlns:a16="http://schemas.microsoft.com/office/drawing/2014/main" id="{1556C9B6-1729-3E2C-4F04-C1467E52C1A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24720" y="1830100"/>
            <a:ext cx="2031582" cy="1523687"/>
          </a:xfrm>
          <a:prstGeom prst="rect">
            <a:avLst/>
          </a:prstGeom>
        </p:spPr>
      </p:pic>
    </p:spTree>
    <p:extLst>
      <p:ext uri="{BB962C8B-B14F-4D97-AF65-F5344CB8AC3E}">
        <p14:creationId xmlns:p14="http://schemas.microsoft.com/office/powerpoint/2010/main" val="973319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7F927-09F0-591A-A61D-C7F1246E527F}"/>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6AEAE43-A4C6-57E0-CE73-21FD0DEF3DC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18" name="think-cell data - do not delete" hidden="1">
                        <a:extLst>
                          <a:ext uri="{FF2B5EF4-FFF2-40B4-BE49-F238E27FC236}">
                            <a16:creationId xmlns:a16="http://schemas.microsoft.com/office/drawing/2014/main" id="{F6AEAE43-A4C6-57E0-CE73-21FD0DEF3DC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27" name="Picture 26" descr="A group of men sitting around a table&#10;&#10;AI-generated content may be incorrect.">
            <a:extLst>
              <a:ext uri="{FF2B5EF4-FFF2-40B4-BE49-F238E27FC236}">
                <a16:creationId xmlns:a16="http://schemas.microsoft.com/office/drawing/2014/main" id="{CB1193AF-3A46-6A82-C278-5A5E71624FB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82975" y="1664047"/>
            <a:ext cx="2031582" cy="1523687"/>
          </a:xfrm>
          <a:prstGeom prst="rect">
            <a:avLst/>
          </a:prstGeom>
        </p:spPr>
      </p:pic>
      <p:pic>
        <p:nvPicPr>
          <p:cNvPr id="29" name="Picture 28" descr="A person standing next to a person standing next to a large screen&#10;&#10;AI-generated content may be incorrect.">
            <a:extLst>
              <a:ext uri="{FF2B5EF4-FFF2-40B4-BE49-F238E27FC236}">
                <a16:creationId xmlns:a16="http://schemas.microsoft.com/office/drawing/2014/main" id="{697F0B15-8B17-B181-012B-31C02B7F66D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82975" y="3429000"/>
            <a:ext cx="2031582" cy="1523687"/>
          </a:xfrm>
          <a:prstGeom prst="rect">
            <a:avLst/>
          </a:prstGeom>
        </p:spPr>
      </p:pic>
      <p:pic>
        <p:nvPicPr>
          <p:cNvPr id="33" name="Picture 32" descr="A group of people sitting in chairs&#10;&#10;AI-generated content may be incorrect.">
            <a:extLst>
              <a:ext uri="{FF2B5EF4-FFF2-40B4-BE49-F238E27FC236}">
                <a16:creationId xmlns:a16="http://schemas.microsoft.com/office/drawing/2014/main" id="{7EF76EAE-E058-BECD-B777-B2935F0B8FE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771173" y="1664047"/>
            <a:ext cx="2031582" cy="1523687"/>
          </a:xfrm>
          <a:prstGeom prst="rect">
            <a:avLst/>
          </a:prstGeom>
        </p:spPr>
      </p:pic>
      <p:pic>
        <p:nvPicPr>
          <p:cNvPr id="35" name="Picture 34" descr="A group of people sitting around a table&#10;&#10;AI-generated content may be incorrect.">
            <a:extLst>
              <a:ext uri="{FF2B5EF4-FFF2-40B4-BE49-F238E27FC236}">
                <a16:creationId xmlns:a16="http://schemas.microsoft.com/office/drawing/2014/main" id="{5A54CB48-628B-4040-1CA2-4137F865091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575107" y="3428998"/>
            <a:ext cx="2031582" cy="1523687"/>
          </a:xfrm>
          <a:prstGeom prst="rect">
            <a:avLst/>
          </a:prstGeom>
        </p:spPr>
      </p:pic>
      <p:pic>
        <p:nvPicPr>
          <p:cNvPr id="39" name="Picture 38" descr="A group of people sitting around a table with papers&#10;&#10;AI-generated content may be incorrect.">
            <a:extLst>
              <a:ext uri="{FF2B5EF4-FFF2-40B4-BE49-F238E27FC236}">
                <a16:creationId xmlns:a16="http://schemas.microsoft.com/office/drawing/2014/main" id="{EB4BDC49-B55F-B0F7-8DB1-731152D798A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771173" y="3428997"/>
            <a:ext cx="2031582" cy="1523687"/>
          </a:xfrm>
          <a:prstGeom prst="rect">
            <a:avLst/>
          </a:prstGeom>
        </p:spPr>
      </p:pic>
      <p:pic>
        <p:nvPicPr>
          <p:cNvPr id="47" name="Picture 46" descr="A group of men standing in a room&#10;&#10;AI-generated content may be incorrect.">
            <a:extLst>
              <a:ext uri="{FF2B5EF4-FFF2-40B4-BE49-F238E27FC236}">
                <a16:creationId xmlns:a16="http://schemas.microsoft.com/office/drawing/2014/main" id="{15665A69-7869-8308-D872-4879DAE473E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379041" y="3428999"/>
            <a:ext cx="2031582" cy="1523687"/>
          </a:xfrm>
          <a:prstGeom prst="rect">
            <a:avLst/>
          </a:prstGeom>
        </p:spPr>
      </p:pic>
      <p:pic>
        <p:nvPicPr>
          <p:cNvPr id="49" name="Picture 48" descr="A group of men sitting in a circle&#10;&#10;AI-generated content may be incorrect.">
            <a:extLst>
              <a:ext uri="{FF2B5EF4-FFF2-40B4-BE49-F238E27FC236}">
                <a16:creationId xmlns:a16="http://schemas.microsoft.com/office/drawing/2014/main" id="{A783B3AF-4464-EE92-4CB4-A7675F4FB90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379041" y="1664047"/>
            <a:ext cx="2031582" cy="1523687"/>
          </a:xfrm>
          <a:prstGeom prst="rect">
            <a:avLst/>
          </a:prstGeom>
        </p:spPr>
      </p:pic>
      <p:pic>
        <p:nvPicPr>
          <p:cNvPr id="51" name="Picture 50" descr="A group of men sitting in a circle&#10;&#10;AI-generated content may be incorrect.">
            <a:extLst>
              <a:ext uri="{FF2B5EF4-FFF2-40B4-BE49-F238E27FC236}">
                <a16:creationId xmlns:a16="http://schemas.microsoft.com/office/drawing/2014/main" id="{228E3D04-0CA7-9FD5-9D73-ACABE1B65CBB}"/>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575107" y="1664047"/>
            <a:ext cx="2031582" cy="1523687"/>
          </a:xfrm>
          <a:prstGeom prst="rect">
            <a:avLst/>
          </a:prstGeom>
        </p:spPr>
      </p:pic>
      <p:pic>
        <p:nvPicPr>
          <p:cNvPr id="53" name="Picture 52" descr="A group of men sitting around a table looking at a piece of paper&#10;&#10;AI-generated content may be incorrect.">
            <a:extLst>
              <a:ext uri="{FF2B5EF4-FFF2-40B4-BE49-F238E27FC236}">
                <a16:creationId xmlns:a16="http://schemas.microsoft.com/office/drawing/2014/main" id="{2730E5AD-0A3A-5D6E-BCB4-78E255DB2BAD}"/>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877350" y="3428996"/>
            <a:ext cx="2031582" cy="1523687"/>
          </a:xfrm>
          <a:prstGeom prst="rect">
            <a:avLst/>
          </a:prstGeom>
        </p:spPr>
      </p:pic>
      <p:pic>
        <p:nvPicPr>
          <p:cNvPr id="55" name="Picture 54" descr="A group of men sitting in a circle&#10;&#10;AI-generated content may be incorrect.">
            <a:extLst>
              <a:ext uri="{FF2B5EF4-FFF2-40B4-BE49-F238E27FC236}">
                <a16:creationId xmlns:a16="http://schemas.microsoft.com/office/drawing/2014/main" id="{C8E22150-525B-A5BD-0579-99EE61B0EB73}"/>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877350" y="1664046"/>
            <a:ext cx="2031582" cy="1523687"/>
          </a:xfrm>
          <a:prstGeom prst="rect">
            <a:avLst/>
          </a:prstGeom>
        </p:spPr>
      </p:pic>
      <p:sp>
        <p:nvSpPr>
          <p:cNvPr id="3" name="Title 7">
            <a:extLst>
              <a:ext uri="{FF2B5EF4-FFF2-40B4-BE49-F238E27FC236}">
                <a16:creationId xmlns:a16="http://schemas.microsoft.com/office/drawing/2014/main" id="{FC0487DE-EE9E-0C2E-6468-41C31F014558}"/>
              </a:ext>
            </a:extLst>
          </p:cNvPr>
          <p:cNvSpPr txBox="1">
            <a:spLocks/>
          </p:cNvSpPr>
          <p:nvPr/>
        </p:nvSpPr>
        <p:spPr>
          <a:xfrm>
            <a:off x="599800" y="316277"/>
            <a:ext cx="11062949" cy="313033"/>
          </a:xfrm>
          <a:prstGeom prst="rect">
            <a:avLst/>
          </a:prstGeom>
        </p:spPr>
        <p:txBody>
          <a:bodyPr vert="horz"/>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799" b="1">
                <a:solidFill>
                  <a:srgbClr val="7F3381"/>
                </a:solidFill>
                <a:latin typeface="EYInterstate Regular" panose="02000503020000020004" pitchFamily="2" charset="0"/>
              </a:rPr>
              <a:t>Enablement Session – Day 2</a:t>
            </a:r>
            <a:endParaRPr kumimoji="0" lang="en-US" sz="1799" b="1" i="0" u="none" strike="noStrike" kern="1200" cap="none" spc="0" normalizeH="0" baseline="0" noProof="0">
              <a:ln>
                <a:noFill/>
              </a:ln>
              <a:solidFill>
                <a:srgbClr val="7F3381"/>
              </a:solidFill>
              <a:effectLst/>
              <a:uLnTx/>
              <a:uFillTx/>
              <a:latin typeface="EYInterstate Regular" panose="02000503020000020004" pitchFamily="2" charset="0"/>
              <a:ea typeface="+mj-ea"/>
              <a:cs typeface="+mj-cs"/>
            </a:endParaRPr>
          </a:p>
        </p:txBody>
      </p:sp>
      <p:sp>
        <p:nvSpPr>
          <p:cNvPr id="4" name="TextBox 3">
            <a:extLst>
              <a:ext uri="{FF2B5EF4-FFF2-40B4-BE49-F238E27FC236}">
                <a16:creationId xmlns:a16="http://schemas.microsoft.com/office/drawing/2014/main" id="{E89A4AF7-06C3-9583-D78B-ED7B5864F0D9}"/>
              </a:ext>
            </a:extLst>
          </p:cNvPr>
          <p:cNvSpPr txBox="1"/>
          <p:nvPr/>
        </p:nvSpPr>
        <p:spPr>
          <a:xfrm>
            <a:off x="652882" y="619368"/>
            <a:ext cx="11338887" cy="554112"/>
          </a:xfrm>
          <a:prstGeom prst="rect">
            <a:avLst/>
          </a:prstGeom>
          <a:noFill/>
          <a:ln w="9525" cap="flat" cmpd="sng" algn="ctr">
            <a:noFill/>
            <a:prstDash val="solid"/>
          </a:ln>
          <a:effectLst/>
        </p:spPr>
        <p:txBody>
          <a:bodyPr lIns="45648" rIns="0" rtlCol="0" anchor="t"/>
          <a:lstStyle>
            <a:defPPr>
              <a:defRPr lang="fr-FR"/>
            </a:defPPr>
            <a:lvl1pPr defTabSz="1220470">
              <a:spcAft>
                <a:spcPts val="1199"/>
              </a:spcAft>
              <a:defRPr sz="999">
                <a:solidFill>
                  <a:srgbClr val="000000">
                    <a:lumMod val="65000"/>
                    <a:lumOff val="35000"/>
                  </a:srgbClr>
                </a:solidFill>
                <a:cs typeface="Calibri Light" panose="020F0302020204030204" pitchFamily="34" charset="0"/>
              </a:defRPr>
            </a:lvl1pPr>
          </a:lstStyle>
          <a:p>
            <a:pPr lvl="0">
              <a:defRPr/>
            </a:pPr>
            <a:r>
              <a:rPr lang="en-US" sz="1400">
                <a:solidFill>
                  <a:srgbClr val="7F3381"/>
                </a:solidFill>
                <a:latin typeface="EYInterstate Regular" panose="02000503020000020004" pitchFamily="2" charset="0"/>
              </a:rPr>
              <a:t>Key moments captured</a:t>
            </a:r>
          </a:p>
        </p:txBody>
      </p:sp>
    </p:spTree>
    <p:extLst>
      <p:ext uri="{BB962C8B-B14F-4D97-AF65-F5344CB8AC3E}">
        <p14:creationId xmlns:p14="http://schemas.microsoft.com/office/powerpoint/2010/main" val="1968011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FFCE0-CA15-02F8-BDEC-5BAFABCFBEB8}"/>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5038D807-B8B4-23F4-E698-16084A11E6E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18" name="think-cell data - do not delete" hidden="1">
                        <a:extLst>
                          <a:ext uri="{FF2B5EF4-FFF2-40B4-BE49-F238E27FC236}">
                            <a16:creationId xmlns:a16="http://schemas.microsoft.com/office/drawing/2014/main" id="{5038D807-B8B4-23F4-E698-16084A11E6E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Picture 3" descr="A person pointing at a screen&#10;&#10;AI-generated content may be incorrect.">
            <a:extLst>
              <a:ext uri="{FF2B5EF4-FFF2-40B4-BE49-F238E27FC236}">
                <a16:creationId xmlns:a16="http://schemas.microsoft.com/office/drawing/2014/main" id="{6234CAD7-51A8-91E1-489E-E93E0BEAB93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45600" y="1656112"/>
            <a:ext cx="2030400" cy="1522800"/>
          </a:xfrm>
          <a:prstGeom prst="rect">
            <a:avLst/>
          </a:prstGeom>
        </p:spPr>
      </p:pic>
      <p:pic>
        <p:nvPicPr>
          <p:cNvPr id="6" name="Picture 5" descr="A person standing in front of a large screen&#10;&#10;AI-generated content may be incorrect.">
            <a:extLst>
              <a:ext uri="{FF2B5EF4-FFF2-40B4-BE49-F238E27FC236}">
                <a16:creationId xmlns:a16="http://schemas.microsoft.com/office/drawing/2014/main" id="{D4C3F3F9-988B-2E24-B4A8-4180485F70D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595000" y="1656112"/>
            <a:ext cx="2030400" cy="1522800"/>
          </a:xfrm>
          <a:prstGeom prst="rect">
            <a:avLst/>
          </a:prstGeom>
        </p:spPr>
      </p:pic>
      <p:pic>
        <p:nvPicPr>
          <p:cNvPr id="8" name="Picture 7" descr="A person writing on paper&#10;&#10;AI-generated content may be incorrect.">
            <a:extLst>
              <a:ext uri="{FF2B5EF4-FFF2-40B4-BE49-F238E27FC236}">
                <a16:creationId xmlns:a16="http://schemas.microsoft.com/office/drawing/2014/main" id="{EC146D27-74BC-06DC-63F5-8F112407424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96200" y="1657335"/>
            <a:ext cx="2030400" cy="1522800"/>
          </a:xfrm>
          <a:prstGeom prst="rect">
            <a:avLst/>
          </a:prstGeom>
        </p:spPr>
      </p:pic>
      <p:pic>
        <p:nvPicPr>
          <p:cNvPr id="14" name="Picture 13" descr="A group of people sitting in chairs&#10;&#10;AI-generated content may be incorrect.">
            <a:extLst>
              <a:ext uri="{FF2B5EF4-FFF2-40B4-BE49-F238E27FC236}">
                <a16:creationId xmlns:a16="http://schemas.microsoft.com/office/drawing/2014/main" id="{153AE1D0-A850-94C0-FD6E-1FBB53C30AA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844400" y="1656112"/>
            <a:ext cx="2030400" cy="1522800"/>
          </a:xfrm>
          <a:prstGeom prst="rect">
            <a:avLst/>
          </a:prstGeom>
        </p:spPr>
      </p:pic>
      <p:pic>
        <p:nvPicPr>
          <p:cNvPr id="16" name="Picture 15">
            <a:extLst>
              <a:ext uri="{FF2B5EF4-FFF2-40B4-BE49-F238E27FC236}">
                <a16:creationId xmlns:a16="http://schemas.microsoft.com/office/drawing/2014/main" id="{7E9B4B27-889B-8B8E-22F0-4886FE5AA35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844400" y="3312224"/>
            <a:ext cx="2030400" cy="1522800"/>
          </a:xfrm>
          <a:prstGeom prst="rect">
            <a:avLst/>
          </a:prstGeom>
        </p:spPr>
      </p:pic>
      <p:pic>
        <p:nvPicPr>
          <p:cNvPr id="19" name="Picture 18" descr="A group of people in a room&#10;&#10;AI-generated content may be incorrect.">
            <a:extLst>
              <a:ext uri="{FF2B5EF4-FFF2-40B4-BE49-F238E27FC236}">
                <a16:creationId xmlns:a16="http://schemas.microsoft.com/office/drawing/2014/main" id="{ACB75D60-E1DA-0E14-47C7-D654A0FE12F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595000" y="3312224"/>
            <a:ext cx="2030400" cy="1522800"/>
          </a:xfrm>
          <a:prstGeom prst="rect">
            <a:avLst/>
          </a:prstGeom>
        </p:spPr>
      </p:pic>
      <p:pic>
        <p:nvPicPr>
          <p:cNvPr id="21" name="Picture 20" descr="A group of people sitting in chairs&#10;&#10;AI-generated content may be incorrect.">
            <a:extLst>
              <a:ext uri="{FF2B5EF4-FFF2-40B4-BE49-F238E27FC236}">
                <a16:creationId xmlns:a16="http://schemas.microsoft.com/office/drawing/2014/main" id="{EE007B2F-9BB8-9077-CDD9-3B90E90E6D5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345600" y="3312224"/>
            <a:ext cx="2030400" cy="1522800"/>
          </a:xfrm>
          <a:prstGeom prst="rect">
            <a:avLst/>
          </a:prstGeom>
        </p:spPr>
      </p:pic>
      <p:pic>
        <p:nvPicPr>
          <p:cNvPr id="23" name="Picture 22" descr="A group of people in a room&#10;&#10;AI-generated content may be incorrect.">
            <a:extLst>
              <a:ext uri="{FF2B5EF4-FFF2-40B4-BE49-F238E27FC236}">
                <a16:creationId xmlns:a16="http://schemas.microsoft.com/office/drawing/2014/main" id="{DF46EBB9-341F-1052-1E88-58502F40619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96200" y="3312225"/>
            <a:ext cx="2030400" cy="1522800"/>
          </a:xfrm>
          <a:prstGeom prst="rect">
            <a:avLst/>
          </a:prstGeom>
        </p:spPr>
      </p:pic>
      <p:pic>
        <p:nvPicPr>
          <p:cNvPr id="25" name="Picture 24" descr="A person standing in front of a large screen&#10;&#10;AI-generated content may be incorrect.">
            <a:extLst>
              <a:ext uri="{FF2B5EF4-FFF2-40B4-BE49-F238E27FC236}">
                <a16:creationId xmlns:a16="http://schemas.microsoft.com/office/drawing/2014/main" id="{380F2F4F-A6E3-1A6B-8F1C-9D84C706857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979800" y="3312224"/>
            <a:ext cx="2030400" cy="1522800"/>
          </a:xfrm>
          <a:prstGeom prst="rect">
            <a:avLst/>
          </a:prstGeom>
        </p:spPr>
      </p:pic>
      <p:pic>
        <p:nvPicPr>
          <p:cNvPr id="27" name="Picture 26" descr="A group of people in a room&#10;&#10;AI-generated content may be incorrect.">
            <a:extLst>
              <a:ext uri="{FF2B5EF4-FFF2-40B4-BE49-F238E27FC236}">
                <a16:creationId xmlns:a16="http://schemas.microsoft.com/office/drawing/2014/main" id="{5F564606-14D8-72DD-8769-196F3EA02D9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979800" y="1656112"/>
            <a:ext cx="2030400" cy="1522800"/>
          </a:xfrm>
          <a:prstGeom prst="rect">
            <a:avLst/>
          </a:prstGeom>
        </p:spPr>
      </p:pic>
      <p:sp>
        <p:nvSpPr>
          <p:cNvPr id="3" name="Title 7">
            <a:extLst>
              <a:ext uri="{FF2B5EF4-FFF2-40B4-BE49-F238E27FC236}">
                <a16:creationId xmlns:a16="http://schemas.microsoft.com/office/drawing/2014/main" id="{57EB2991-1749-9EE5-F17D-E18151F9FC42}"/>
              </a:ext>
            </a:extLst>
          </p:cNvPr>
          <p:cNvSpPr txBox="1">
            <a:spLocks/>
          </p:cNvSpPr>
          <p:nvPr/>
        </p:nvSpPr>
        <p:spPr>
          <a:xfrm>
            <a:off x="599800" y="316277"/>
            <a:ext cx="11062949" cy="313033"/>
          </a:xfrm>
          <a:prstGeom prst="rect">
            <a:avLst/>
          </a:prstGeom>
        </p:spPr>
        <p:txBody>
          <a:bodyPr vert="horz"/>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799" b="1">
                <a:solidFill>
                  <a:srgbClr val="7F3381"/>
                </a:solidFill>
                <a:latin typeface="EYInterstate Regular" panose="02000503020000020004" pitchFamily="2" charset="0"/>
              </a:rPr>
              <a:t>Enablement Session – Day 3</a:t>
            </a:r>
            <a:endParaRPr kumimoji="0" lang="en-US" sz="1799" b="1" i="0" u="none" strike="noStrike" kern="1200" cap="none" spc="0" normalizeH="0" baseline="0" noProof="0">
              <a:ln>
                <a:noFill/>
              </a:ln>
              <a:solidFill>
                <a:srgbClr val="7F3381"/>
              </a:solidFill>
              <a:effectLst/>
              <a:uLnTx/>
              <a:uFillTx/>
              <a:latin typeface="EYInterstate Regular" panose="02000503020000020004" pitchFamily="2" charset="0"/>
              <a:ea typeface="+mj-ea"/>
              <a:cs typeface="+mj-cs"/>
            </a:endParaRPr>
          </a:p>
        </p:txBody>
      </p:sp>
      <p:sp>
        <p:nvSpPr>
          <p:cNvPr id="5" name="TextBox 4">
            <a:extLst>
              <a:ext uri="{FF2B5EF4-FFF2-40B4-BE49-F238E27FC236}">
                <a16:creationId xmlns:a16="http://schemas.microsoft.com/office/drawing/2014/main" id="{7A94360C-072D-0B92-A2EB-E50E7D34544C}"/>
              </a:ext>
            </a:extLst>
          </p:cNvPr>
          <p:cNvSpPr txBox="1"/>
          <p:nvPr/>
        </p:nvSpPr>
        <p:spPr>
          <a:xfrm>
            <a:off x="652882" y="619368"/>
            <a:ext cx="11338887" cy="554112"/>
          </a:xfrm>
          <a:prstGeom prst="rect">
            <a:avLst/>
          </a:prstGeom>
          <a:noFill/>
          <a:ln w="9525" cap="flat" cmpd="sng" algn="ctr">
            <a:noFill/>
            <a:prstDash val="solid"/>
          </a:ln>
          <a:effectLst/>
        </p:spPr>
        <p:txBody>
          <a:bodyPr lIns="45648" rIns="0" rtlCol="0" anchor="t"/>
          <a:lstStyle>
            <a:defPPr>
              <a:defRPr lang="fr-FR"/>
            </a:defPPr>
            <a:lvl1pPr defTabSz="1220470">
              <a:spcAft>
                <a:spcPts val="1199"/>
              </a:spcAft>
              <a:defRPr sz="999">
                <a:solidFill>
                  <a:srgbClr val="000000">
                    <a:lumMod val="65000"/>
                    <a:lumOff val="35000"/>
                  </a:srgbClr>
                </a:solidFill>
                <a:cs typeface="Calibri Light" panose="020F0302020204030204" pitchFamily="34" charset="0"/>
              </a:defRPr>
            </a:lvl1pPr>
          </a:lstStyle>
          <a:p>
            <a:pPr lvl="0">
              <a:defRPr/>
            </a:pPr>
            <a:r>
              <a:rPr lang="en-US" sz="1400">
                <a:solidFill>
                  <a:srgbClr val="7F3381"/>
                </a:solidFill>
                <a:latin typeface="EYInterstate Regular" panose="02000503020000020004" pitchFamily="2" charset="0"/>
              </a:rPr>
              <a:t>Key moments captured</a:t>
            </a:r>
          </a:p>
        </p:txBody>
      </p:sp>
    </p:spTree>
    <p:extLst>
      <p:ext uri="{BB962C8B-B14F-4D97-AF65-F5344CB8AC3E}">
        <p14:creationId xmlns:p14="http://schemas.microsoft.com/office/powerpoint/2010/main" val="4249298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DD7BF-6D13-CC40-67D1-95896CBE9686}"/>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72FC2C42-B43B-B1E2-FBAE-E506357C8F6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18" name="think-cell data - do not delete" hidden="1">
                        <a:extLst>
                          <a:ext uri="{FF2B5EF4-FFF2-40B4-BE49-F238E27FC236}">
                            <a16:creationId xmlns:a16="http://schemas.microsoft.com/office/drawing/2014/main" id="{72FC2C42-B43B-B1E2-FBAE-E506357C8F6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7">
            <a:extLst>
              <a:ext uri="{FF2B5EF4-FFF2-40B4-BE49-F238E27FC236}">
                <a16:creationId xmlns:a16="http://schemas.microsoft.com/office/drawing/2014/main" id="{B6CCF4C8-046B-3A5A-D2E0-3AA9EDC291DC}"/>
              </a:ext>
            </a:extLst>
          </p:cNvPr>
          <p:cNvSpPr txBox="1">
            <a:spLocks/>
          </p:cNvSpPr>
          <p:nvPr/>
        </p:nvSpPr>
        <p:spPr>
          <a:xfrm>
            <a:off x="599800" y="316277"/>
            <a:ext cx="11062949" cy="313033"/>
          </a:xfrm>
          <a:prstGeom prst="rect">
            <a:avLst/>
          </a:prstGeom>
        </p:spPr>
        <p:txBody>
          <a:bodyPr vert="horz"/>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799" b="1">
                <a:solidFill>
                  <a:srgbClr val="7F3381"/>
                </a:solidFill>
                <a:latin typeface="EYInterstate Regular" panose="02000503020000020004" pitchFamily="2" charset="0"/>
              </a:rPr>
              <a:t>Enablement Session – Day 4</a:t>
            </a:r>
            <a:endParaRPr kumimoji="0" lang="en-US" sz="1799" b="1" i="0" u="none" strike="noStrike" kern="1200" cap="none" spc="0" normalizeH="0" baseline="0" noProof="0">
              <a:ln>
                <a:noFill/>
              </a:ln>
              <a:solidFill>
                <a:srgbClr val="7F3381"/>
              </a:solidFill>
              <a:effectLst/>
              <a:uLnTx/>
              <a:uFillTx/>
              <a:latin typeface="EYInterstate Regular" panose="02000503020000020004" pitchFamily="2" charset="0"/>
              <a:ea typeface="+mj-ea"/>
              <a:cs typeface="+mj-cs"/>
            </a:endParaRPr>
          </a:p>
        </p:txBody>
      </p:sp>
      <p:sp>
        <p:nvSpPr>
          <p:cNvPr id="4" name="TextBox 3">
            <a:extLst>
              <a:ext uri="{FF2B5EF4-FFF2-40B4-BE49-F238E27FC236}">
                <a16:creationId xmlns:a16="http://schemas.microsoft.com/office/drawing/2014/main" id="{60C9317D-CC99-FBF3-47A8-97B4695EEBC7}"/>
              </a:ext>
            </a:extLst>
          </p:cNvPr>
          <p:cNvSpPr txBox="1"/>
          <p:nvPr/>
        </p:nvSpPr>
        <p:spPr>
          <a:xfrm>
            <a:off x="652882" y="619368"/>
            <a:ext cx="11338887" cy="554112"/>
          </a:xfrm>
          <a:prstGeom prst="rect">
            <a:avLst/>
          </a:prstGeom>
          <a:noFill/>
          <a:ln w="9525" cap="flat" cmpd="sng" algn="ctr">
            <a:noFill/>
            <a:prstDash val="solid"/>
          </a:ln>
          <a:effectLst/>
        </p:spPr>
        <p:txBody>
          <a:bodyPr lIns="45648" rIns="0" rtlCol="0" anchor="t"/>
          <a:lstStyle>
            <a:defPPr>
              <a:defRPr lang="fr-FR"/>
            </a:defPPr>
            <a:lvl1pPr defTabSz="1220470">
              <a:spcAft>
                <a:spcPts val="1199"/>
              </a:spcAft>
              <a:defRPr sz="999">
                <a:solidFill>
                  <a:srgbClr val="000000">
                    <a:lumMod val="65000"/>
                    <a:lumOff val="35000"/>
                  </a:srgbClr>
                </a:solidFill>
                <a:cs typeface="Calibri Light" panose="020F0302020204030204" pitchFamily="34" charset="0"/>
              </a:defRPr>
            </a:lvl1pPr>
          </a:lstStyle>
          <a:p>
            <a:pPr lvl="0">
              <a:defRPr/>
            </a:pPr>
            <a:r>
              <a:rPr lang="en-US" sz="1400">
                <a:solidFill>
                  <a:srgbClr val="7F3381"/>
                </a:solidFill>
                <a:latin typeface="EYInterstate Regular" panose="02000503020000020004" pitchFamily="2" charset="0"/>
              </a:rPr>
              <a:t>Key moments captured</a:t>
            </a:r>
          </a:p>
        </p:txBody>
      </p:sp>
      <p:pic>
        <p:nvPicPr>
          <p:cNvPr id="23" name="Picture 22" descr="Two men holding a check&#10;&#10;AI-generated content may be incorrect.">
            <a:extLst>
              <a:ext uri="{FF2B5EF4-FFF2-40B4-BE49-F238E27FC236}">
                <a16:creationId xmlns:a16="http://schemas.microsoft.com/office/drawing/2014/main" id="{0C32515D-1A5D-080B-4166-B840FCE8D5F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51955" y="1847411"/>
            <a:ext cx="2030400" cy="1522800"/>
          </a:xfrm>
          <a:prstGeom prst="rect">
            <a:avLst/>
          </a:prstGeom>
        </p:spPr>
      </p:pic>
      <p:pic>
        <p:nvPicPr>
          <p:cNvPr id="29" name="Picture 28" descr="Two men standing in front of a large screen&#10;&#10;AI-generated content may be incorrect.">
            <a:extLst>
              <a:ext uri="{FF2B5EF4-FFF2-40B4-BE49-F238E27FC236}">
                <a16:creationId xmlns:a16="http://schemas.microsoft.com/office/drawing/2014/main" id="{D944B743-CDF7-15BC-2B20-5F971FA088A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84515" y="3603120"/>
            <a:ext cx="2030400" cy="1522800"/>
          </a:xfrm>
          <a:prstGeom prst="rect">
            <a:avLst/>
          </a:prstGeom>
        </p:spPr>
      </p:pic>
      <p:pic>
        <p:nvPicPr>
          <p:cNvPr id="33" name="Picture 32" descr="Two men standing in front of a large screen&#10;&#10;AI-generated content may be incorrect.">
            <a:extLst>
              <a:ext uri="{FF2B5EF4-FFF2-40B4-BE49-F238E27FC236}">
                <a16:creationId xmlns:a16="http://schemas.microsoft.com/office/drawing/2014/main" id="{70E23E12-724D-3F57-D9F7-6BF55417184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689224" y="1847411"/>
            <a:ext cx="2030400" cy="1522800"/>
          </a:xfrm>
          <a:prstGeom prst="rect">
            <a:avLst/>
          </a:prstGeom>
        </p:spPr>
      </p:pic>
      <p:pic>
        <p:nvPicPr>
          <p:cNvPr id="35" name="Picture 34" descr="A person standing in front of a whiteboard&#10;&#10;AI-generated content may be incorrect.">
            <a:extLst>
              <a:ext uri="{FF2B5EF4-FFF2-40B4-BE49-F238E27FC236}">
                <a16:creationId xmlns:a16="http://schemas.microsoft.com/office/drawing/2014/main" id="{DF40D810-D565-F9FA-345E-6DEFFFD66DA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06755" y="1847411"/>
            <a:ext cx="2030400" cy="1522800"/>
          </a:xfrm>
          <a:prstGeom prst="rect">
            <a:avLst/>
          </a:prstGeom>
        </p:spPr>
      </p:pic>
      <p:pic>
        <p:nvPicPr>
          <p:cNvPr id="39" name="Picture 38" descr="A group of people sitting in a circle&#10;&#10;AI-generated content may be incorrect.">
            <a:extLst>
              <a:ext uri="{FF2B5EF4-FFF2-40B4-BE49-F238E27FC236}">
                <a16:creationId xmlns:a16="http://schemas.microsoft.com/office/drawing/2014/main" id="{384543DA-E5A5-8731-8D77-7CFDBBA0C5EC}"/>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337378" y="1847411"/>
            <a:ext cx="2030400" cy="1522800"/>
          </a:xfrm>
          <a:prstGeom prst="rect">
            <a:avLst/>
          </a:prstGeom>
        </p:spPr>
      </p:pic>
      <p:pic>
        <p:nvPicPr>
          <p:cNvPr id="53" name="Picture 52" descr="Two men holding a certificate&#10;&#10;AI-generated content may be incorrect.">
            <a:extLst>
              <a:ext uri="{FF2B5EF4-FFF2-40B4-BE49-F238E27FC236}">
                <a16:creationId xmlns:a16="http://schemas.microsoft.com/office/drawing/2014/main" id="{6728D235-8EB0-5B89-CB61-65B411DA67B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151955" y="3603120"/>
            <a:ext cx="2030400" cy="1522800"/>
          </a:xfrm>
          <a:prstGeom prst="rect">
            <a:avLst/>
          </a:prstGeom>
        </p:spPr>
      </p:pic>
      <p:pic>
        <p:nvPicPr>
          <p:cNvPr id="67" name="Picture 66" descr="A group of people sitting in a room&#10;&#10;AI-generated content may be incorrect.">
            <a:extLst>
              <a:ext uri="{FF2B5EF4-FFF2-40B4-BE49-F238E27FC236}">
                <a16:creationId xmlns:a16="http://schemas.microsoft.com/office/drawing/2014/main" id="{D7DE8D49-D273-052D-3FDC-3671F5B4723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522801" y="1847411"/>
            <a:ext cx="2030400" cy="1522800"/>
          </a:xfrm>
          <a:prstGeom prst="rect">
            <a:avLst/>
          </a:prstGeom>
        </p:spPr>
      </p:pic>
      <p:pic>
        <p:nvPicPr>
          <p:cNvPr id="69" name="Picture 68" descr="A group of people sitting in a circle&#10;&#10;AI-generated content may be incorrect.">
            <a:extLst>
              <a:ext uri="{FF2B5EF4-FFF2-40B4-BE49-F238E27FC236}">
                <a16:creationId xmlns:a16="http://schemas.microsoft.com/office/drawing/2014/main" id="{C8D9E0C0-B336-820B-637E-2B17356BA1FF}"/>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689224" y="3603120"/>
            <a:ext cx="2030400" cy="1522800"/>
          </a:xfrm>
          <a:prstGeom prst="rect">
            <a:avLst/>
          </a:prstGeom>
        </p:spPr>
      </p:pic>
      <p:pic>
        <p:nvPicPr>
          <p:cNvPr id="71" name="Picture 70" descr="A group of people sitting in a circle&#10;&#10;AI-generated content may be incorrect.">
            <a:extLst>
              <a:ext uri="{FF2B5EF4-FFF2-40B4-BE49-F238E27FC236}">
                <a16:creationId xmlns:a16="http://schemas.microsoft.com/office/drawing/2014/main" id="{993B3A2A-433E-E22C-4066-8AA37DC71B8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567441" y="3603120"/>
            <a:ext cx="2030400" cy="1522800"/>
          </a:xfrm>
          <a:prstGeom prst="rect">
            <a:avLst/>
          </a:prstGeom>
        </p:spPr>
      </p:pic>
      <p:pic>
        <p:nvPicPr>
          <p:cNvPr id="73" name="Picture 72" descr="A person pointing at a large screen&#10;&#10;AI-generated content may be incorrect.">
            <a:extLst>
              <a:ext uri="{FF2B5EF4-FFF2-40B4-BE49-F238E27FC236}">
                <a16:creationId xmlns:a16="http://schemas.microsoft.com/office/drawing/2014/main" id="{1FDFA43E-CB3F-824C-748E-CFEBF98A8874}"/>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06755" y="3603120"/>
            <a:ext cx="2030400" cy="1522800"/>
          </a:xfrm>
          <a:prstGeom prst="rect">
            <a:avLst/>
          </a:prstGeom>
        </p:spPr>
      </p:pic>
    </p:spTree>
    <p:extLst>
      <p:ext uri="{BB962C8B-B14F-4D97-AF65-F5344CB8AC3E}">
        <p14:creationId xmlns:p14="http://schemas.microsoft.com/office/powerpoint/2010/main" val="41444388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USTOMLAYOUT" val="F"/>
  <p:tag name="EYLAYOUT" val="n_"/>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E5E46E8-744B-4CC8-AF80-CEA513A805DE}">
  <we:reference id="c3b3159f-c9fe-4860-a4cb-a5d5f254c545" version="9.5.6.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5C5287C31B8842B90E3419BF81AC81" ma:contentTypeVersion="20" ma:contentTypeDescription="Create a new document." ma:contentTypeScope="" ma:versionID="6fff0541920bbd34c347a985a19d0105">
  <xsd:schema xmlns:xsd="http://www.w3.org/2001/XMLSchema" xmlns:xs="http://www.w3.org/2001/XMLSchema" xmlns:p="http://schemas.microsoft.com/office/2006/metadata/properties" xmlns:ns2="7663b0f0-a2eb-4527-b7f3-e1b0158e36cc" xmlns:ns3="b7f03d27-5054-447e-a193-40ba44541e2c" xmlns:ns4="50c908b1-f277-4340-90a9-4611d0b0f078" targetNamespace="http://schemas.microsoft.com/office/2006/metadata/properties" ma:root="true" ma:fieldsID="54a77d2fa727da236884fb2411384493" ns2:_="" ns3:_="" ns4:_="">
    <xsd:import namespace="7663b0f0-a2eb-4527-b7f3-e1b0158e36cc"/>
    <xsd:import namespace="b7f03d27-5054-447e-a193-40ba44541e2c"/>
    <xsd:import namespace="50c908b1-f277-4340-90a9-4611d0b0f078"/>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4:TaxCatchAll" minOccurs="0"/>
                <xsd:element ref="ns2:Createdd"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63b0f0-a2eb-4527-b7f3-e1b0158e36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Tags" ma:hidden="true" ma:internalName="MediaServiceAutoTags" ma:readOnly="true">
      <xsd:simpleType>
        <xsd:restriction base="dms:Text"/>
      </xsd:simpleType>
    </xsd:element>
    <xsd:element name="MediaServiceOCR" ma:index="14" nillable="true" ma:displayName="Extracted Text" ma:hidden="true" ma:internalName="MediaServiceOCR"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hidden="true" ma:internalName="MediaServiceKeyPoints" ma:readOnly="true">
      <xsd:simpleType>
        <xsd:restriction base="dms:Note"/>
      </xsd:simpleType>
    </xsd:element>
    <xsd:element name="MediaLengthInSeconds" ma:index="19" nillable="true" ma:displayName="Length (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3ef62f9-2e07-484b-bd79-00aec90129fe" ma:termSetId="09814cd3-568e-fe90-9814-8d621ff8fb84" ma:anchorId="fba54fb3-c3e1-fe81-a776-ca4b69148c4d" ma:open="true" ma:isKeyword="false">
      <xsd:complexType>
        <xsd:sequence>
          <xsd:element ref="pc:Terms" minOccurs="0" maxOccurs="1"/>
        </xsd:sequence>
      </xsd:complexType>
    </xsd:element>
    <xsd:element name="Createdd" ma:index="23" nillable="true" ma:displayName="Createdd" ma:format="DateTime" ma:internalName="Createdd">
      <xsd:simpleType>
        <xsd:restriction base="dms:DateTim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7f03d27-5054-447e-a193-40ba44541e2c" elementFormDefault="qualified">
    <xsd:import namespace="http://schemas.microsoft.com/office/2006/documentManagement/types"/>
    <xsd:import namespace="http://schemas.microsoft.com/office/infopath/2007/PartnerControls"/>
    <xsd:element name="SharedWithUsers" ma:index="11"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0c908b1-f277-4340-90a9-4611d0b0f07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3bcd12d1-e98c-467c-b593-9bba825b6b66}" ma:internalName="TaxCatchAll" ma:showField="CatchAllData" ma:web="b7f03d27-5054-447e-a193-40ba44541e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663b0f0-a2eb-4527-b7f3-e1b0158e36cc">
      <Terms xmlns="http://schemas.microsoft.com/office/infopath/2007/PartnerControls"/>
    </lcf76f155ced4ddcb4097134ff3c332f>
    <Createdd xmlns="7663b0f0-a2eb-4527-b7f3-e1b0158e36cc" xsi:nil="true"/>
    <TaxCatchAll xmlns="50c908b1-f277-4340-90a9-4611d0b0f07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795913-6899-4650-83BC-FD2FF0F9CB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63b0f0-a2eb-4527-b7f3-e1b0158e36cc"/>
    <ds:schemaRef ds:uri="b7f03d27-5054-447e-a193-40ba44541e2c"/>
    <ds:schemaRef ds:uri="50c908b1-f277-4340-90a9-4611d0b0f0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2139A78-2C39-426E-A210-87A07651D819}">
  <ds:schemaRefs>
    <ds:schemaRef ds:uri="http://schemas.openxmlformats.org/package/2006/metadata/core-properties"/>
    <ds:schemaRef ds:uri="http://schemas.microsoft.com/office/2006/documentManagement/types"/>
    <ds:schemaRef ds:uri="http://purl.org/dc/terms/"/>
    <ds:schemaRef ds:uri="http://www.w3.org/XML/1998/namespace"/>
    <ds:schemaRef ds:uri="b7f03d27-5054-447e-a193-40ba44541e2c"/>
    <ds:schemaRef ds:uri="http://schemas.microsoft.com/office/infopath/2007/PartnerControls"/>
    <ds:schemaRef ds:uri="http://purl.org/dc/elements/1.1/"/>
    <ds:schemaRef ds:uri="7663b0f0-a2eb-4527-b7f3-e1b0158e36cc"/>
    <ds:schemaRef ds:uri="50c908b1-f277-4340-90a9-4611d0b0f078"/>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7F92B632-1622-4315-B2E2-0D52581EEB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91</TotalTime>
  <Words>613</Words>
  <Application>Microsoft Office PowerPoint</Application>
  <PresentationFormat>Widescreen</PresentationFormat>
  <Paragraphs>112</Paragraphs>
  <Slides>10</Slides>
  <Notes>10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8" baseType="lpstr">
      <vt:lpstr>Aptos</vt:lpstr>
      <vt:lpstr>Arial</vt:lpstr>
      <vt:lpstr>EYInterstate Regular</vt:lpstr>
      <vt:lpstr>EYInterstate Light</vt:lpstr>
      <vt:lpstr>EYInterstate</vt:lpstr>
      <vt:lpstr>Tajawal</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Emad Furjani</dc:creator>
  <cp:lastModifiedBy>Emad M. Furjani</cp:lastModifiedBy>
  <cp:revision>4</cp:revision>
  <dcterms:created xsi:type="dcterms:W3CDTF">2025-07-21T11:07:07Z</dcterms:created>
  <dcterms:modified xsi:type="dcterms:W3CDTF">2026-01-12T10:58:11Z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0x010100425C5287C31B8842B90E3419BF81AC81</vt:lpwstr>
  </property>
  <property fmtid="{D5CDD505-2E9C-101B-9397-08002B2CF9AE}" pid="3" name="MediaServiceImageTags">
    <vt:lpwstr/>
  </property>
  <property fmtid="{D5CDD505-2E9C-101B-9397-08002B2CF9AE}" pid="4" name="NXPowerLiteLastOptimized">
    <vt:lpwstr>7455296</vt:lpwstr>
  </property>
  <property fmtid="{D5CDD505-2E9C-101B-9397-08002B2CF9AE}" pid="5" name="NXPowerLiteSettings">
    <vt:lpwstr>F7000400038000</vt:lpwstr>
  </property>
  <property fmtid="{D5CDD505-2E9C-101B-9397-08002B2CF9AE}" pid="6" name="NXPowerLiteVersion">
    <vt:lpwstr>S10.9.4</vt:lpwstr>
  </property>
</Properties>
</file>